
<file path=[Content_Types].xml><?xml version="1.0" encoding="utf-8"?>
<Types xmlns="http://schemas.openxmlformats.org/package/2006/content-types">
  <Default Extension="emf" ContentType="image/x-emf"/>
  <Default Extension="gif" ContentType="image/gif"/>
  <Default Extension="jfif"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 id="2147483661" r:id="rId3"/>
  </p:sldMasterIdLst>
  <p:notesMasterIdLst>
    <p:notesMasterId r:id="rId17"/>
  </p:notesMasterIdLst>
  <p:sldIdLst>
    <p:sldId id="256" r:id="rId4"/>
    <p:sldId id="270" r:id="rId5"/>
    <p:sldId id="259" r:id="rId6"/>
    <p:sldId id="271" r:id="rId7"/>
    <p:sldId id="258" r:id="rId8"/>
    <p:sldId id="262" r:id="rId9"/>
    <p:sldId id="263" r:id="rId10"/>
    <p:sldId id="269" r:id="rId11"/>
    <p:sldId id="264" r:id="rId12"/>
    <p:sldId id="268" r:id="rId13"/>
    <p:sldId id="266" r:id="rId14"/>
    <p:sldId id="267" r:id="rId15"/>
    <p:sldId id="265"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344" userDrawn="1">
          <p15:clr>
            <a:srgbClr val="A4A3A4"/>
          </p15:clr>
        </p15:guide>
        <p15:guide id="2" orient="horz" pos="1584" userDrawn="1">
          <p15:clr>
            <a:srgbClr val="A4A3A4"/>
          </p15:clr>
        </p15:guide>
        <p15:guide id="3"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F87"/>
    <a:srgbClr val="0284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673"/>
    <p:restoredTop sz="94707"/>
  </p:normalViewPr>
  <p:slideViewPr>
    <p:cSldViewPr snapToGrid="0" snapToObjects="1">
      <p:cViewPr varScale="1">
        <p:scale>
          <a:sx n="77" d="100"/>
          <a:sy n="77" d="100"/>
        </p:scale>
        <p:origin x="941" y="58"/>
      </p:cViewPr>
      <p:guideLst>
        <p:guide orient="horz" pos="1344"/>
        <p:guide orient="horz" pos="1584"/>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diagrams/_rels/data1.xml.rels><?xml version="1.0" encoding="UTF-8" standalone="yes"?>
<Relationships xmlns="http://schemas.openxmlformats.org/package/2006/relationships"><Relationship Id="rId1" Type="http://schemas.openxmlformats.org/officeDocument/2006/relationships/image" Target="../media/image2.png"/></Relationships>
</file>

<file path=ppt/diagrams/_rels/data2.xml.rels><?xml version="1.0" encoding="UTF-8" standalone="yes"?>
<Relationships xmlns="http://schemas.openxmlformats.org/package/2006/relationships"><Relationship Id="rId1" Type="http://schemas.openxmlformats.org/officeDocument/2006/relationships/image" Target="../media/image6.png"/></Relationships>
</file>

<file path=ppt/diagrams/_rels/drawing1.xml.rels><?xml version="1.0" encoding="UTF-8" standalone="yes"?>
<Relationships xmlns="http://schemas.openxmlformats.org/package/2006/relationships"><Relationship Id="rId1" Type="http://schemas.openxmlformats.org/officeDocument/2006/relationships/image" Target="../media/image2.png"/></Relationships>
</file>

<file path=ppt/diagrams/_rels/drawing2.xml.rels><?xml version="1.0" encoding="UTF-8" standalone="yes"?>
<Relationships xmlns="http://schemas.openxmlformats.org/package/2006/relationships"><Relationship Id="rId1" Type="http://schemas.openxmlformats.org/officeDocument/2006/relationships/image" Target="../media/image6.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7528579-3782-42B8-9EB6-DA6EF2ADF769}" type="doc">
      <dgm:prSet loTypeId="urn:microsoft.com/office/officeart/2005/8/layout/radial2" loCatId="relationship" qsTypeId="urn:microsoft.com/office/officeart/2005/8/quickstyle/simple1" qsCatId="simple" csTypeId="urn:microsoft.com/office/officeart/2005/8/colors/accent1_2" csCatId="accent1" phldr="1"/>
      <dgm:spPr/>
      <dgm:t>
        <a:bodyPr/>
        <a:lstStyle/>
        <a:p>
          <a:endParaRPr lang="en-US"/>
        </a:p>
      </dgm:t>
    </dgm:pt>
    <dgm:pt modelId="{91B35EA5-F0A4-402B-A27E-99392B682212}">
      <dgm:prSet custT="1"/>
      <dgm:spPr/>
      <dgm:t>
        <a:bodyPr/>
        <a:lstStyle/>
        <a:p>
          <a:r>
            <a:rPr lang="en-US" sz="1000" b="0" i="0" dirty="0"/>
            <a:t>Understand and predict our changing environment, from the </a:t>
          </a:r>
          <a:r>
            <a:rPr lang="en-US" sz="1000" b="1" i="0" dirty="0"/>
            <a:t>deep sea to outer space</a:t>
          </a:r>
          <a:endParaRPr lang="en-US" sz="1000" dirty="0"/>
        </a:p>
      </dgm:t>
    </dgm:pt>
    <dgm:pt modelId="{0BA98D0B-A1CD-4F2F-B8AB-7F3D16477403}" type="parTrans" cxnId="{A8265390-B2EF-493B-A964-7CEC3BE6C59E}">
      <dgm:prSet/>
      <dgm:spPr/>
      <dgm:t>
        <a:bodyPr/>
        <a:lstStyle/>
        <a:p>
          <a:endParaRPr lang="en-US"/>
        </a:p>
      </dgm:t>
    </dgm:pt>
    <dgm:pt modelId="{A39C7134-DA15-41B1-8390-70994F15EE90}" type="sibTrans" cxnId="{A8265390-B2EF-493B-A964-7CEC3BE6C59E}">
      <dgm:prSet/>
      <dgm:spPr/>
      <dgm:t>
        <a:bodyPr/>
        <a:lstStyle/>
        <a:p>
          <a:endParaRPr lang="en-US"/>
        </a:p>
      </dgm:t>
    </dgm:pt>
    <dgm:pt modelId="{37E140BC-223F-4EE2-9B53-050852B45BFD}">
      <dgm:prSet custT="1"/>
      <dgm:spPr/>
      <dgm:t>
        <a:bodyPr/>
        <a:lstStyle/>
        <a:p>
          <a:r>
            <a:rPr lang="en-US" sz="900" dirty="0"/>
            <a:t>Ensure citizens, planners, emergency managers and other decision makers have reliable information they need when they need it</a:t>
          </a:r>
        </a:p>
      </dgm:t>
    </dgm:pt>
    <dgm:pt modelId="{D6B52718-09DE-4B91-A761-2B8A19EDFBDD}" type="parTrans" cxnId="{F904B56E-C8BD-488F-85F1-9007BC01C6D3}">
      <dgm:prSet/>
      <dgm:spPr/>
      <dgm:t>
        <a:bodyPr/>
        <a:lstStyle/>
        <a:p>
          <a:endParaRPr lang="en-US"/>
        </a:p>
      </dgm:t>
    </dgm:pt>
    <dgm:pt modelId="{108049CA-FAF0-4BB5-AFA7-DF03D5D0A8F5}" type="sibTrans" cxnId="{F904B56E-C8BD-488F-85F1-9007BC01C6D3}">
      <dgm:prSet/>
      <dgm:spPr/>
      <dgm:t>
        <a:bodyPr/>
        <a:lstStyle/>
        <a:p>
          <a:endParaRPr lang="en-US"/>
        </a:p>
      </dgm:t>
    </dgm:pt>
    <dgm:pt modelId="{1A1D1D76-1FAF-489E-89E5-0E60770B360D}">
      <dgm:prSet/>
      <dgm:spPr/>
      <dgm:t>
        <a:bodyPr/>
        <a:lstStyle/>
        <a:p>
          <a:r>
            <a:rPr lang="en-US" b="0" i="0" dirty="0"/>
            <a:t>Conserve and manage coastal and marine ecosystems and resources</a:t>
          </a:r>
          <a:endParaRPr lang="en-US" b="0" dirty="0"/>
        </a:p>
      </dgm:t>
    </dgm:pt>
    <dgm:pt modelId="{E93BF0E3-EA5B-4CC0-9B9F-AE7E29AEA491}" type="parTrans" cxnId="{0EFD88C0-5B2E-48DB-BBED-C50845E1300A}">
      <dgm:prSet/>
      <dgm:spPr/>
      <dgm:t>
        <a:bodyPr/>
        <a:lstStyle/>
        <a:p>
          <a:endParaRPr lang="en-US"/>
        </a:p>
      </dgm:t>
    </dgm:pt>
    <dgm:pt modelId="{9043D3BB-F553-46D3-8846-072F4F0F1A6C}" type="sibTrans" cxnId="{0EFD88C0-5B2E-48DB-BBED-C50845E1300A}">
      <dgm:prSet/>
      <dgm:spPr/>
      <dgm:t>
        <a:bodyPr/>
        <a:lstStyle/>
        <a:p>
          <a:endParaRPr lang="en-US"/>
        </a:p>
      </dgm:t>
    </dgm:pt>
    <dgm:pt modelId="{D9EE3616-D7DA-4425-98A4-41EA421D382C}" type="pres">
      <dgm:prSet presAssocID="{A7528579-3782-42B8-9EB6-DA6EF2ADF769}" presName="composite" presStyleCnt="0">
        <dgm:presLayoutVars>
          <dgm:chMax val="5"/>
          <dgm:dir val="rev"/>
          <dgm:animLvl val="ctr"/>
          <dgm:resizeHandles val="exact"/>
        </dgm:presLayoutVars>
      </dgm:prSet>
      <dgm:spPr/>
    </dgm:pt>
    <dgm:pt modelId="{FEFDE5B7-307F-46E1-94D0-792EA04D38F9}" type="pres">
      <dgm:prSet presAssocID="{A7528579-3782-42B8-9EB6-DA6EF2ADF769}" presName="cycle" presStyleCnt="0"/>
      <dgm:spPr/>
    </dgm:pt>
    <dgm:pt modelId="{8E38F531-72EF-4DFE-83AD-42BCEF731314}" type="pres">
      <dgm:prSet presAssocID="{A7528579-3782-42B8-9EB6-DA6EF2ADF769}" presName="centerShape" presStyleCnt="0"/>
      <dgm:spPr/>
    </dgm:pt>
    <dgm:pt modelId="{3B30D488-6052-4579-AED1-A58ABC76D415}" type="pres">
      <dgm:prSet presAssocID="{A7528579-3782-42B8-9EB6-DA6EF2ADF769}" presName="connSite" presStyleLbl="node1" presStyleIdx="0" presStyleCnt="4"/>
      <dgm:spPr/>
    </dgm:pt>
    <dgm:pt modelId="{367E613E-2B36-407C-ADF1-E70C029FD8A4}" type="pres">
      <dgm:prSet presAssocID="{A7528579-3782-42B8-9EB6-DA6EF2ADF769}" presName="visible" presStyleLbl="node1" presStyleIdx="0" presStyleCnt="4" custScaleX="90830" custScaleY="92718"/>
      <dgm:spPr>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2841E299-6450-4A5E-9253-33E2B0A0ED3C}" type="pres">
      <dgm:prSet presAssocID="{0BA98D0B-A1CD-4F2F-B8AB-7F3D16477403}" presName="Name25" presStyleLbl="parChTrans1D1" presStyleIdx="0" presStyleCnt="3"/>
      <dgm:spPr/>
    </dgm:pt>
    <dgm:pt modelId="{AB1445C4-1090-441B-A08C-681EB37036D0}" type="pres">
      <dgm:prSet presAssocID="{91B35EA5-F0A4-402B-A27E-99392B682212}" presName="node" presStyleCnt="0"/>
      <dgm:spPr/>
    </dgm:pt>
    <dgm:pt modelId="{11FA1A92-62CC-41D8-B3D4-07A76519C4C3}" type="pres">
      <dgm:prSet presAssocID="{91B35EA5-F0A4-402B-A27E-99392B682212}" presName="parentNode" presStyleLbl="node1" presStyleIdx="1" presStyleCnt="4">
        <dgm:presLayoutVars>
          <dgm:chMax val="1"/>
          <dgm:bulletEnabled val="1"/>
        </dgm:presLayoutVars>
      </dgm:prSet>
      <dgm:spPr/>
    </dgm:pt>
    <dgm:pt modelId="{71197188-FE71-43FE-AA41-038E1A909173}" type="pres">
      <dgm:prSet presAssocID="{91B35EA5-F0A4-402B-A27E-99392B682212}" presName="childNode" presStyleLbl="revTx" presStyleIdx="0" presStyleCnt="0">
        <dgm:presLayoutVars>
          <dgm:bulletEnabled val="1"/>
        </dgm:presLayoutVars>
      </dgm:prSet>
      <dgm:spPr/>
    </dgm:pt>
    <dgm:pt modelId="{4F5661D8-73CE-44C7-80D1-694F4AAB0E6B}" type="pres">
      <dgm:prSet presAssocID="{D6B52718-09DE-4B91-A761-2B8A19EDFBDD}" presName="Name25" presStyleLbl="parChTrans1D1" presStyleIdx="1" presStyleCnt="3"/>
      <dgm:spPr/>
    </dgm:pt>
    <dgm:pt modelId="{0458A82D-F4D0-48AB-9A4C-AC8D7407CD6D}" type="pres">
      <dgm:prSet presAssocID="{37E140BC-223F-4EE2-9B53-050852B45BFD}" presName="node" presStyleCnt="0"/>
      <dgm:spPr/>
    </dgm:pt>
    <dgm:pt modelId="{6C4D9428-6A31-4568-80E0-2B297A89DD8A}" type="pres">
      <dgm:prSet presAssocID="{37E140BC-223F-4EE2-9B53-050852B45BFD}" presName="parentNode" presStyleLbl="node1" presStyleIdx="2" presStyleCnt="4" custLinFactNeighborX="-35249" custLinFactNeighborY="721">
        <dgm:presLayoutVars>
          <dgm:chMax val="1"/>
          <dgm:bulletEnabled val="1"/>
        </dgm:presLayoutVars>
      </dgm:prSet>
      <dgm:spPr/>
    </dgm:pt>
    <dgm:pt modelId="{AC9DB0BC-92AF-40D9-AB85-412F8088425C}" type="pres">
      <dgm:prSet presAssocID="{37E140BC-223F-4EE2-9B53-050852B45BFD}" presName="childNode" presStyleLbl="revTx" presStyleIdx="0" presStyleCnt="0">
        <dgm:presLayoutVars>
          <dgm:bulletEnabled val="1"/>
        </dgm:presLayoutVars>
      </dgm:prSet>
      <dgm:spPr/>
    </dgm:pt>
    <dgm:pt modelId="{928ACAF4-7EA9-4BA3-980D-AFC496359107}" type="pres">
      <dgm:prSet presAssocID="{E93BF0E3-EA5B-4CC0-9B9F-AE7E29AEA491}" presName="Name25" presStyleLbl="parChTrans1D1" presStyleIdx="2" presStyleCnt="3"/>
      <dgm:spPr/>
    </dgm:pt>
    <dgm:pt modelId="{F2BA54F6-0AA1-4BD2-A953-658F370A2295}" type="pres">
      <dgm:prSet presAssocID="{1A1D1D76-1FAF-489E-89E5-0E60770B360D}" presName="node" presStyleCnt="0"/>
      <dgm:spPr/>
    </dgm:pt>
    <dgm:pt modelId="{06D8A4F2-2D3F-491D-857B-ED55434336D6}" type="pres">
      <dgm:prSet presAssocID="{1A1D1D76-1FAF-489E-89E5-0E60770B360D}" presName="parentNode" presStyleLbl="node1" presStyleIdx="3" presStyleCnt="4">
        <dgm:presLayoutVars>
          <dgm:chMax val="1"/>
          <dgm:bulletEnabled val="1"/>
        </dgm:presLayoutVars>
      </dgm:prSet>
      <dgm:spPr/>
    </dgm:pt>
    <dgm:pt modelId="{2EF7DEF3-5F6E-468C-AD14-600A1769C367}" type="pres">
      <dgm:prSet presAssocID="{1A1D1D76-1FAF-489E-89E5-0E60770B360D}" presName="childNode" presStyleLbl="revTx" presStyleIdx="0" presStyleCnt="0">
        <dgm:presLayoutVars>
          <dgm:bulletEnabled val="1"/>
        </dgm:presLayoutVars>
      </dgm:prSet>
      <dgm:spPr/>
    </dgm:pt>
  </dgm:ptLst>
  <dgm:cxnLst>
    <dgm:cxn modelId="{D9428113-C80C-4EB7-8BB9-7A657E698A8B}" type="presOf" srcId="{E93BF0E3-EA5B-4CC0-9B9F-AE7E29AEA491}" destId="{928ACAF4-7EA9-4BA3-980D-AFC496359107}" srcOrd="0" destOrd="0" presId="urn:microsoft.com/office/officeart/2005/8/layout/radial2"/>
    <dgm:cxn modelId="{F904B56E-C8BD-488F-85F1-9007BC01C6D3}" srcId="{A7528579-3782-42B8-9EB6-DA6EF2ADF769}" destId="{37E140BC-223F-4EE2-9B53-050852B45BFD}" srcOrd="1" destOrd="0" parTransId="{D6B52718-09DE-4B91-A761-2B8A19EDFBDD}" sibTransId="{108049CA-FAF0-4BB5-AFA7-DF03D5D0A8F5}"/>
    <dgm:cxn modelId="{A8265390-B2EF-493B-A964-7CEC3BE6C59E}" srcId="{A7528579-3782-42B8-9EB6-DA6EF2ADF769}" destId="{91B35EA5-F0A4-402B-A27E-99392B682212}" srcOrd="0" destOrd="0" parTransId="{0BA98D0B-A1CD-4F2F-B8AB-7F3D16477403}" sibTransId="{A39C7134-DA15-41B1-8390-70994F15EE90}"/>
    <dgm:cxn modelId="{5A244B91-3513-44F0-BB31-5D1E428E223F}" type="presOf" srcId="{1A1D1D76-1FAF-489E-89E5-0E60770B360D}" destId="{06D8A4F2-2D3F-491D-857B-ED55434336D6}" srcOrd="0" destOrd="0" presId="urn:microsoft.com/office/officeart/2005/8/layout/radial2"/>
    <dgm:cxn modelId="{FC10D7AA-DEE2-4F13-9AEF-80BA91198837}" type="presOf" srcId="{91B35EA5-F0A4-402B-A27E-99392B682212}" destId="{11FA1A92-62CC-41D8-B3D4-07A76519C4C3}" srcOrd="0" destOrd="0" presId="urn:microsoft.com/office/officeart/2005/8/layout/radial2"/>
    <dgm:cxn modelId="{7F46ECBF-D1DA-4E1C-9322-6A036BDDC80D}" type="presOf" srcId="{37E140BC-223F-4EE2-9B53-050852B45BFD}" destId="{6C4D9428-6A31-4568-80E0-2B297A89DD8A}" srcOrd="0" destOrd="0" presId="urn:microsoft.com/office/officeart/2005/8/layout/radial2"/>
    <dgm:cxn modelId="{0EFD88C0-5B2E-48DB-BBED-C50845E1300A}" srcId="{A7528579-3782-42B8-9EB6-DA6EF2ADF769}" destId="{1A1D1D76-1FAF-489E-89E5-0E60770B360D}" srcOrd="2" destOrd="0" parTransId="{E93BF0E3-EA5B-4CC0-9B9F-AE7E29AEA491}" sibTransId="{9043D3BB-F553-46D3-8846-072F4F0F1A6C}"/>
    <dgm:cxn modelId="{178949C7-068D-40BC-8BBA-E42681ACF5F7}" type="presOf" srcId="{D6B52718-09DE-4B91-A761-2B8A19EDFBDD}" destId="{4F5661D8-73CE-44C7-80D1-694F4AAB0E6B}" srcOrd="0" destOrd="0" presId="urn:microsoft.com/office/officeart/2005/8/layout/radial2"/>
    <dgm:cxn modelId="{019219D3-A4AB-49EA-A694-3FD85C141E5B}" type="presOf" srcId="{0BA98D0B-A1CD-4F2F-B8AB-7F3D16477403}" destId="{2841E299-6450-4A5E-9253-33E2B0A0ED3C}" srcOrd="0" destOrd="0" presId="urn:microsoft.com/office/officeart/2005/8/layout/radial2"/>
    <dgm:cxn modelId="{D35C3DFB-927F-4776-A31B-AA259EABDBFC}" type="presOf" srcId="{A7528579-3782-42B8-9EB6-DA6EF2ADF769}" destId="{D9EE3616-D7DA-4425-98A4-41EA421D382C}" srcOrd="0" destOrd="0" presId="urn:microsoft.com/office/officeart/2005/8/layout/radial2"/>
    <dgm:cxn modelId="{DFD2CC97-B73F-4F90-9527-39AD37ED58FF}" type="presParOf" srcId="{D9EE3616-D7DA-4425-98A4-41EA421D382C}" destId="{FEFDE5B7-307F-46E1-94D0-792EA04D38F9}" srcOrd="0" destOrd="0" presId="urn:microsoft.com/office/officeart/2005/8/layout/radial2"/>
    <dgm:cxn modelId="{B990214B-B32F-4E71-8997-B11D96046389}" type="presParOf" srcId="{FEFDE5B7-307F-46E1-94D0-792EA04D38F9}" destId="{8E38F531-72EF-4DFE-83AD-42BCEF731314}" srcOrd="0" destOrd="0" presId="urn:microsoft.com/office/officeart/2005/8/layout/radial2"/>
    <dgm:cxn modelId="{D46672D1-8352-4C03-B2A2-D8DF8C26800D}" type="presParOf" srcId="{8E38F531-72EF-4DFE-83AD-42BCEF731314}" destId="{3B30D488-6052-4579-AED1-A58ABC76D415}" srcOrd="0" destOrd="0" presId="urn:microsoft.com/office/officeart/2005/8/layout/radial2"/>
    <dgm:cxn modelId="{B0EA9ED5-C120-4464-848F-D2FC8F1674A3}" type="presParOf" srcId="{8E38F531-72EF-4DFE-83AD-42BCEF731314}" destId="{367E613E-2B36-407C-ADF1-E70C029FD8A4}" srcOrd="1" destOrd="0" presId="urn:microsoft.com/office/officeart/2005/8/layout/radial2"/>
    <dgm:cxn modelId="{419A3CD5-03EA-4B24-9B76-D980D5584B1C}" type="presParOf" srcId="{FEFDE5B7-307F-46E1-94D0-792EA04D38F9}" destId="{2841E299-6450-4A5E-9253-33E2B0A0ED3C}" srcOrd="1" destOrd="0" presId="urn:microsoft.com/office/officeart/2005/8/layout/radial2"/>
    <dgm:cxn modelId="{17682A2F-C91D-422F-BACC-AD79947BDCA0}" type="presParOf" srcId="{FEFDE5B7-307F-46E1-94D0-792EA04D38F9}" destId="{AB1445C4-1090-441B-A08C-681EB37036D0}" srcOrd="2" destOrd="0" presId="urn:microsoft.com/office/officeart/2005/8/layout/radial2"/>
    <dgm:cxn modelId="{A070E823-A8CB-45CD-BAB6-5BF13050512E}" type="presParOf" srcId="{AB1445C4-1090-441B-A08C-681EB37036D0}" destId="{11FA1A92-62CC-41D8-B3D4-07A76519C4C3}" srcOrd="0" destOrd="0" presId="urn:microsoft.com/office/officeart/2005/8/layout/radial2"/>
    <dgm:cxn modelId="{35CDA776-3B66-45ED-B07D-60B4EBF70E37}" type="presParOf" srcId="{AB1445C4-1090-441B-A08C-681EB37036D0}" destId="{71197188-FE71-43FE-AA41-038E1A909173}" srcOrd="1" destOrd="0" presId="urn:microsoft.com/office/officeart/2005/8/layout/radial2"/>
    <dgm:cxn modelId="{6C1F515C-63C8-4E7C-83FA-44E12042FC42}" type="presParOf" srcId="{FEFDE5B7-307F-46E1-94D0-792EA04D38F9}" destId="{4F5661D8-73CE-44C7-80D1-694F4AAB0E6B}" srcOrd="3" destOrd="0" presId="urn:microsoft.com/office/officeart/2005/8/layout/radial2"/>
    <dgm:cxn modelId="{92027B33-7FBD-488E-82CB-FD19C9969AB6}" type="presParOf" srcId="{FEFDE5B7-307F-46E1-94D0-792EA04D38F9}" destId="{0458A82D-F4D0-48AB-9A4C-AC8D7407CD6D}" srcOrd="4" destOrd="0" presId="urn:microsoft.com/office/officeart/2005/8/layout/radial2"/>
    <dgm:cxn modelId="{984B4C78-D676-499A-98C4-A8683FDC3507}" type="presParOf" srcId="{0458A82D-F4D0-48AB-9A4C-AC8D7407CD6D}" destId="{6C4D9428-6A31-4568-80E0-2B297A89DD8A}" srcOrd="0" destOrd="0" presId="urn:microsoft.com/office/officeart/2005/8/layout/radial2"/>
    <dgm:cxn modelId="{88236641-1583-488E-8D70-8CE46FFA71CA}" type="presParOf" srcId="{0458A82D-F4D0-48AB-9A4C-AC8D7407CD6D}" destId="{AC9DB0BC-92AF-40D9-AB85-412F8088425C}" srcOrd="1" destOrd="0" presId="urn:microsoft.com/office/officeart/2005/8/layout/radial2"/>
    <dgm:cxn modelId="{A6F19A79-A060-47B8-83FE-10B66731C23C}" type="presParOf" srcId="{FEFDE5B7-307F-46E1-94D0-792EA04D38F9}" destId="{928ACAF4-7EA9-4BA3-980D-AFC496359107}" srcOrd="5" destOrd="0" presId="urn:microsoft.com/office/officeart/2005/8/layout/radial2"/>
    <dgm:cxn modelId="{370FFC0B-5F7D-4A9D-AAE8-B8BAC5572EF1}" type="presParOf" srcId="{FEFDE5B7-307F-46E1-94D0-792EA04D38F9}" destId="{F2BA54F6-0AA1-4BD2-A953-658F370A2295}" srcOrd="6" destOrd="0" presId="urn:microsoft.com/office/officeart/2005/8/layout/radial2"/>
    <dgm:cxn modelId="{DCE4E7DB-C182-4B1B-A8EA-133BE995F912}" type="presParOf" srcId="{F2BA54F6-0AA1-4BD2-A953-658F370A2295}" destId="{06D8A4F2-2D3F-491D-857B-ED55434336D6}" srcOrd="0" destOrd="0" presId="urn:microsoft.com/office/officeart/2005/8/layout/radial2"/>
    <dgm:cxn modelId="{BF253754-7E12-454A-9CE2-30B18D5E3543}" type="presParOf" srcId="{F2BA54F6-0AA1-4BD2-A953-658F370A2295}" destId="{2EF7DEF3-5F6E-468C-AD14-600A1769C367}" srcOrd="1" destOrd="0" presId="urn:microsoft.com/office/officeart/2005/8/layout/radial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CA898A7-C794-4607-9CAD-E308C6B424BF}" type="doc">
      <dgm:prSet loTypeId="urn:microsoft.com/office/officeart/2005/8/layout/radial2" loCatId="relationship" qsTypeId="urn:microsoft.com/office/officeart/2005/8/quickstyle/simple1" qsCatId="simple" csTypeId="urn:microsoft.com/office/officeart/2005/8/colors/accent1_2" csCatId="accent1" phldr="1"/>
      <dgm:spPr/>
      <dgm:t>
        <a:bodyPr/>
        <a:lstStyle/>
        <a:p>
          <a:endParaRPr lang="en-US"/>
        </a:p>
      </dgm:t>
    </dgm:pt>
    <dgm:pt modelId="{D8F08143-0FC8-4949-AC8B-640BF8B5951D}">
      <dgm:prSet custT="1"/>
      <dgm:spPr/>
      <dgm:t>
        <a:bodyPr/>
        <a:lstStyle/>
        <a:p>
          <a:r>
            <a:rPr lang="en-US" sz="1000" b="0" i="0" dirty="0"/>
            <a:t>Define the physical environment from the </a:t>
          </a:r>
          <a:r>
            <a:rPr lang="en-US" sz="1000" b="1" i="0" dirty="0"/>
            <a:t>bottom of the ocean to the stars</a:t>
          </a:r>
          <a:endParaRPr lang="en-US" sz="1000" dirty="0"/>
        </a:p>
      </dgm:t>
    </dgm:pt>
    <dgm:pt modelId="{0FE59A45-5230-4390-AD2D-54E7266A7A92}" type="parTrans" cxnId="{0492E8BD-5651-4D64-A89F-7EA11E439D12}">
      <dgm:prSet/>
      <dgm:spPr/>
      <dgm:t>
        <a:bodyPr/>
        <a:lstStyle/>
        <a:p>
          <a:endParaRPr lang="en-US"/>
        </a:p>
      </dgm:t>
    </dgm:pt>
    <dgm:pt modelId="{FCC009AA-E8DB-4F4A-A9E7-7C656126926A}" type="sibTrans" cxnId="{0492E8BD-5651-4D64-A89F-7EA11E439D12}">
      <dgm:prSet/>
      <dgm:spPr/>
      <dgm:t>
        <a:bodyPr/>
        <a:lstStyle/>
        <a:p>
          <a:endParaRPr lang="en-US"/>
        </a:p>
      </dgm:t>
    </dgm:pt>
    <dgm:pt modelId="{27DA2004-C3F3-47E3-8952-C6C130A9B395}">
      <dgm:prSet custT="1"/>
      <dgm:spPr/>
      <dgm:t>
        <a:bodyPr/>
        <a:lstStyle/>
        <a:p>
          <a:r>
            <a:rPr lang="en-US" sz="1000" b="0" i="0" dirty="0"/>
            <a:t>Decades of pioneering development and use of uncrewed systems</a:t>
          </a:r>
          <a:endParaRPr lang="en-US" sz="1000" dirty="0"/>
        </a:p>
      </dgm:t>
    </dgm:pt>
    <dgm:pt modelId="{A838201F-C2B4-4657-8013-5CA63131B8DD}" type="parTrans" cxnId="{308EBC27-C0AE-49DD-B7FA-8C51E49EE49A}">
      <dgm:prSet/>
      <dgm:spPr/>
      <dgm:t>
        <a:bodyPr/>
        <a:lstStyle/>
        <a:p>
          <a:endParaRPr lang="en-US"/>
        </a:p>
      </dgm:t>
    </dgm:pt>
    <dgm:pt modelId="{7C9FCF5B-4EFA-4656-BBCE-6B8F2494F599}" type="sibTrans" cxnId="{308EBC27-C0AE-49DD-B7FA-8C51E49EE49A}">
      <dgm:prSet/>
      <dgm:spPr/>
      <dgm:t>
        <a:bodyPr/>
        <a:lstStyle/>
        <a:p>
          <a:endParaRPr lang="en-US"/>
        </a:p>
      </dgm:t>
    </dgm:pt>
    <dgm:pt modelId="{43D221CE-C705-402E-A809-B360AF918C76}">
      <dgm:prSet/>
      <dgm:spPr/>
      <dgm:t>
        <a:bodyPr/>
        <a:lstStyle/>
        <a:p>
          <a:r>
            <a:rPr lang="en-US" b="0" i="0" dirty="0"/>
            <a:t>Ensure the U.S. Navy has freedom of action to deter aggression, maintain freedom of the seas and win wars</a:t>
          </a:r>
          <a:endParaRPr lang="en-US" dirty="0"/>
        </a:p>
      </dgm:t>
    </dgm:pt>
    <dgm:pt modelId="{144C9B5F-6457-41DD-A14C-3BB097D1EE81}" type="parTrans" cxnId="{53698AD0-E75B-4809-B4AB-5EF48F7BDB07}">
      <dgm:prSet/>
      <dgm:spPr/>
      <dgm:t>
        <a:bodyPr/>
        <a:lstStyle/>
        <a:p>
          <a:endParaRPr lang="en-US"/>
        </a:p>
      </dgm:t>
    </dgm:pt>
    <dgm:pt modelId="{32BD2FE8-D6FE-4609-8AB1-D339020D9C3B}" type="sibTrans" cxnId="{53698AD0-E75B-4809-B4AB-5EF48F7BDB07}">
      <dgm:prSet/>
      <dgm:spPr/>
      <dgm:t>
        <a:bodyPr/>
        <a:lstStyle/>
        <a:p>
          <a:endParaRPr lang="en-US"/>
        </a:p>
      </dgm:t>
    </dgm:pt>
    <dgm:pt modelId="{8E9D418D-B29D-4018-BA08-CFD65E7FABAF}" type="pres">
      <dgm:prSet presAssocID="{FCA898A7-C794-4607-9CAD-E308C6B424BF}" presName="composite" presStyleCnt="0">
        <dgm:presLayoutVars>
          <dgm:chMax val="5"/>
          <dgm:dir/>
          <dgm:animLvl val="ctr"/>
          <dgm:resizeHandles val="exact"/>
        </dgm:presLayoutVars>
      </dgm:prSet>
      <dgm:spPr/>
    </dgm:pt>
    <dgm:pt modelId="{C141B0E8-EFA4-4DD6-B518-37E65E702427}" type="pres">
      <dgm:prSet presAssocID="{FCA898A7-C794-4607-9CAD-E308C6B424BF}" presName="cycle" presStyleCnt="0"/>
      <dgm:spPr/>
    </dgm:pt>
    <dgm:pt modelId="{8D75F72E-06D1-4770-9EAF-00AFA8B7A29C}" type="pres">
      <dgm:prSet presAssocID="{FCA898A7-C794-4607-9CAD-E308C6B424BF}" presName="centerShape" presStyleCnt="0"/>
      <dgm:spPr/>
    </dgm:pt>
    <dgm:pt modelId="{B82E3DD8-FD31-4088-A9D5-0C24973D802F}" type="pres">
      <dgm:prSet presAssocID="{FCA898A7-C794-4607-9CAD-E308C6B424BF}" presName="connSite" presStyleLbl="node1" presStyleIdx="0" presStyleCnt="4"/>
      <dgm:spPr/>
    </dgm:pt>
    <dgm:pt modelId="{CFF1FB25-D631-450B-A4C0-B375D7DB4C82}" type="pres">
      <dgm:prSet presAssocID="{FCA898A7-C794-4607-9CAD-E308C6B424BF}" presName="visible" presStyleLbl="node1" presStyleIdx="0" presStyleCnt="4" custScaleX="140182" custScaleY="126679"/>
      <dgm:spPr>
        <a:blipFill>
          <a:blip xmlns:r="http://schemas.openxmlformats.org/officeDocument/2006/relationships" r:embed="rId1">
            <a:extLst>
              <a:ext uri="{28A0092B-C50C-407E-A947-70E740481C1C}">
                <a14:useLocalDpi xmlns:a14="http://schemas.microsoft.com/office/drawing/2010/main" val="0"/>
              </a:ext>
            </a:extLst>
          </a:blip>
          <a:srcRect/>
          <a:stretch>
            <a:fillRect t="-5000" b="-5000"/>
          </a:stretch>
        </a:blipFill>
      </dgm:spPr>
    </dgm:pt>
    <dgm:pt modelId="{5D3AE625-67DE-4A25-8CFB-F5A1CD673CDE}" type="pres">
      <dgm:prSet presAssocID="{0FE59A45-5230-4390-AD2D-54E7266A7A92}" presName="Name25" presStyleLbl="parChTrans1D1" presStyleIdx="0" presStyleCnt="3"/>
      <dgm:spPr/>
    </dgm:pt>
    <dgm:pt modelId="{809B9B83-181E-48E0-928E-3C9E36888537}" type="pres">
      <dgm:prSet presAssocID="{D8F08143-0FC8-4949-AC8B-640BF8B5951D}" presName="node" presStyleCnt="0"/>
      <dgm:spPr/>
    </dgm:pt>
    <dgm:pt modelId="{048D0C34-1077-45A4-9B39-5801A5174EF7}" type="pres">
      <dgm:prSet presAssocID="{D8F08143-0FC8-4949-AC8B-640BF8B5951D}" presName="parentNode" presStyleLbl="node1" presStyleIdx="1" presStyleCnt="4" custLinFactNeighborX="14004" custLinFactNeighborY="-24674">
        <dgm:presLayoutVars>
          <dgm:chMax val="1"/>
          <dgm:bulletEnabled val="1"/>
        </dgm:presLayoutVars>
      </dgm:prSet>
      <dgm:spPr/>
    </dgm:pt>
    <dgm:pt modelId="{9A62D483-FACC-43DF-8C33-68A6369D89B2}" type="pres">
      <dgm:prSet presAssocID="{D8F08143-0FC8-4949-AC8B-640BF8B5951D}" presName="childNode" presStyleLbl="revTx" presStyleIdx="0" presStyleCnt="0">
        <dgm:presLayoutVars>
          <dgm:bulletEnabled val="1"/>
        </dgm:presLayoutVars>
      </dgm:prSet>
      <dgm:spPr/>
    </dgm:pt>
    <dgm:pt modelId="{3AD6A7E7-5AFC-4EA1-B983-76AECD671102}" type="pres">
      <dgm:prSet presAssocID="{144C9B5F-6457-41DD-A14C-3BB097D1EE81}" presName="Name25" presStyleLbl="parChTrans1D1" presStyleIdx="1" presStyleCnt="3"/>
      <dgm:spPr/>
    </dgm:pt>
    <dgm:pt modelId="{7CF0847C-C9B2-4435-B134-ECF3FF28E4E9}" type="pres">
      <dgm:prSet presAssocID="{43D221CE-C705-402E-A809-B360AF918C76}" presName="node" presStyleCnt="0"/>
      <dgm:spPr/>
    </dgm:pt>
    <dgm:pt modelId="{1B3450A0-99F9-41B8-BA1E-6E4979541ADE}" type="pres">
      <dgm:prSet presAssocID="{43D221CE-C705-402E-A809-B360AF918C76}" presName="parentNode" presStyleLbl="node1" presStyleIdx="2" presStyleCnt="4" custLinFactNeighborX="37914" custLinFactNeighborY="-728">
        <dgm:presLayoutVars>
          <dgm:chMax val="1"/>
          <dgm:bulletEnabled val="1"/>
        </dgm:presLayoutVars>
      </dgm:prSet>
      <dgm:spPr/>
    </dgm:pt>
    <dgm:pt modelId="{33910E39-CFCA-4D1A-8E09-5C8A5F4C31BE}" type="pres">
      <dgm:prSet presAssocID="{43D221CE-C705-402E-A809-B360AF918C76}" presName="childNode" presStyleLbl="revTx" presStyleIdx="0" presStyleCnt="0">
        <dgm:presLayoutVars>
          <dgm:bulletEnabled val="1"/>
        </dgm:presLayoutVars>
      </dgm:prSet>
      <dgm:spPr/>
    </dgm:pt>
    <dgm:pt modelId="{6167A2E9-AAC7-4DE0-88F4-59A0F33732DA}" type="pres">
      <dgm:prSet presAssocID="{A838201F-C2B4-4657-8013-5CA63131B8DD}" presName="Name25" presStyleLbl="parChTrans1D1" presStyleIdx="2" presStyleCnt="3"/>
      <dgm:spPr/>
    </dgm:pt>
    <dgm:pt modelId="{2564E976-395B-406E-9EC1-CBBCB661A4F3}" type="pres">
      <dgm:prSet presAssocID="{27DA2004-C3F3-47E3-8952-C6C130A9B395}" presName="node" presStyleCnt="0"/>
      <dgm:spPr/>
    </dgm:pt>
    <dgm:pt modelId="{CD6C7CAA-D9DE-4D53-AC44-9CBABC471C18}" type="pres">
      <dgm:prSet presAssocID="{27DA2004-C3F3-47E3-8952-C6C130A9B395}" presName="parentNode" presStyleLbl="node1" presStyleIdx="3" presStyleCnt="4" custLinFactNeighborX="24674" custLinFactNeighborY="21340">
        <dgm:presLayoutVars>
          <dgm:chMax val="1"/>
          <dgm:bulletEnabled val="1"/>
        </dgm:presLayoutVars>
      </dgm:prSet>
      <dgm:spPr/>
    </dgm:pt>
    <dgm:pt modelId="{A50AAA73-4963-46E0-AE79-5649C2B9AD02}" type="pres">
      <dgm:prSet presAssocID="{27DA2004-C3F3-47E3-8952-C6C130A9B395}" presName="childNode" presStyleLbl="revTx" presStyleIdx="0" presStyleCnt="0">
        <dgm:presLayoutVars>
          <dgm:bulletEnabled val="1"/>
        </dgm:presLayoutVars>
      </dgm:prSet>
      <dgm:spPr/>
    </dgm:pt>
  </dgm:ptLst>
  <dgm:cxnLst>
    <dgm:cxn modelId="{308EBC27-C0AE-49DD-B7FA-8C51E49EE49A}" srcId="{FCA898A7-C794-4607-9CAD-E308C6B424BF}" destId="{27DA2004-C3F3-47E3-8952-C6C130A9B395}" srcOrd="2" destOrd="0" parTransId="{A838201F-C2B4-4657-8013-5CA63131B8DD}" sibTransId="{7C9FCF5B-4EFA-4656-BBCE-6B8F2494F599}"/>
    <dgm:cxn modelId="{23EFFB64-2A93-4DAD-917C-3319EC52F657}" type="presOf" srcId="{144C9B5F-6457-41DD-A14C-3BB097D1EE81}" destId="{3AD6A7E7-5AFC-4EA1-B983-76AECD671102}" srcOrd="0" destOrd="0" presId="urn:microsoft.com/office/officeart/2005/8/layout/radial2"/>
    <dgm:cxn modelId="{D72B3B91-3F42-40E2-BE1B-7FBDF6DEB519}" type="presOf" srcId="{D8F08143-0FC8-4949-AC8B-640BF8B5951D}" destId="{048D0C34-1077-45A4-9B39-5801A5174EF7}" srcOrd="0" destOrd="0" presId="urn:microsoft.com/office/officeart/2005/8/layout/radial2"/>
    <dgm:cxn modelId="{2360AFA4-938E-4D1D-B06F-0C8062F80F4F}" type="presOf" srcId="{A838201F-C2B4-4657-8013-5CA63131B8DD}" destId="{6167A2E9-AAC7-4DE0-88F4-59A0F33732DA}" srcOrd="0" destOrd="0" presId="urn:microsoft.com/office/officeart/2005/8/layout/radial2"/>
    <dgm:cxn modelId="{A740C1B4-DDCB-48B7-A27A-BF7F63062A43}" type="presOf" srcId="{27DA2004-C3F3-47E3-8952-C6C130A9B395}" destId="{CD6C7CAA-D9DE-4D53-AC44-9CBABC471C18}" srcOrd="0" destOrd="0" presId="urn:microsoft.com/office/officeart/2005/8/layout/radial2"/>
    <dgm:cxn modelId="{0492E8BD-5651-4D64-A89F-7EA11E439D12}" srcId="{FCA898A7-C794-4607-9CAD-E308C6B424BF}" destId="{D8F08143-0FC8-4949-AC8B-640BF8B5951D}" srcOrd="0" destOrd="0" parTransId="{0FE59A45-5230-4390-AD2D-54E7266A7A92}" sibTransId="{FCC009AA-E8DB-4F4A-A9E7-7C656126926A}"/>
    <dgm:cxn modelId="{53698AD0-E75B-4809-B4AB-5EF48F7BDB07}" srcId="{FCA898A7-C794-4607-9CAD-E308C6B424BF}" destId="{43D221CE-C705-402E-A809-B360AF918C76}" srcOrd="1" destOrd="0" parTransId="{144C9B5F-6457-41DD-A14C-3BB097D1EE81}" sibTransId="{32BD2FE8-D6FE-4609-8AB1-D339020D9C3B}"/>
    <dgm:cxn modelId="{83C2A2D4-CA17-46D8-AC2D-E4ADD5B42C80}" type="presOf" srcId="{FCA898A7-C794-4607-9CAD-E308C6B424BF}" destId="{8E9D418D-B29D-4018-BA08-CFD65E7FABAF}" srcOrd="0" destOrd="0" presId="urn:microsoft.com/office/officeart/2005/8/layout/radial2"/>
    <dgm:cxn modelId="{CBD22AD6-48D0-4837-BDE3-ADFC2539C4ED}" type="presOf" srcId="{43D221CE-C705-402E-A809-B360AF918C76}" destId="{1B3450A0-99F9-41B8-BA1E-6E4979541ADE}" srcOrd="0" destOrd="0" presId="urn:microsoft.com/office/officeart/2005/8/layout/radial2"/>
    <dgm:cxn modelId="{E15F6FEF-A603-4ADD-87E3-C4D4C697FD5B}" type="presOf" srcId="{0FE59A45-5230-4390-AD2D-54E7266A7A92}" destId="{5D3AE625-67DE-4A25-8CFB-F5A1CD673CDE}" srcOrd="0" destOrd="0" presId="urn:microsoft.com/office/officeart/2005/8/layout/radial2"/>
    <dgm:cxn modelId="{16648037-A989-42CF-82C9-5FAD3AC4DF9A}" type="presParOf" srcId="{8E9D418D-B29D-4018-BA08-CFD65E7FABAF}" destId="{C141B0E8-EFA4-4DD6-B518-37E65E702427}" srcOrd="0" destOrd="0" presId="urn:microsoft.com/office/officeart/2005/8/layout/radial2"/>
    <dgm:cxn modelId="{A6536E81-2D65-4497-BEAE-025A81AEED91}" type="presParOf" srcId="{C141B0E8-EFA4-4DD6-B518-37E65E702427}" destId="{8D75F72E-06D1-4770-9EAF-00AFA8B7A29C}" srcOrd="0" destOrd="0" presId="urn:microsoft.com/office/officeart/2005/8/layout/radial2"/>
    <dgm:cxn modelId="{8669F1FA-956B-4DCC-AE63-F34D753D8962}" type="presParOf" srcId="{8D75F72E-06D1-4770-9EAF-00AFA8B7A29C}" destId="{B82E3DD8-FD31-4088-A9D5-0C24973D802F}" srcOrd="0" destOrd="0" presId="urn:microsoft.com/office/officeart/2005/8/layout/radial2"/>
    <dgm:cxn modelId="{15040ECE-3CCD-4AD4-88DF-3C26F4FFA385}" type="presParOf" srcId="{8D75F72E-06D1-4770-9EAF-00AFA8B7A29C}" destId="{CFF1FB25-D631-450B-A4C0-B375D7DB4C82}" srcOrd="1" destOrd="0" presId="urn:microsoft.com/office/officeart/2005/8/layout/radial2"/>
    <dgm:cxn modelId="{F18BD016-13C0-4596-B2D4-0C6DCA0E40DE}" type="presParOf" srcId="{C141B0E8-EFA4-4DD6-B518-37E65E702427}" destId="{5D3AE625-67DE-4A25-8CFB-F5A1CD673CDE}" srcOrd="1" destOrd="0" presId="urn:microsoft.com/office/officeart/2005/8/layout/radial2"/>
    <dgm:cxn modelId="{3FD6DD9A-E493-4123-909D-287F78E210B1}" type="presParOf" srcId="{C141B0E8-EFA4-4DD6-B518-37E65E702427}" destId="{809B9B83-181E-48E0-928E-3C9E36888537}" srcOrd="2" destOrd="0" presId="urn:microsoft.com/office/officeart/2005/8/layout/radial2"/>
    <dgm:cxn modelId="{7FAAFA28-7EDF-49B0-95E3-AD561266627A}" type="presParOf" srcId="{809B9B83-181E-48E0-928E-3C9E36888537}" destId="{048D0C34-1077-45A4-9B39-5801A5174EF7}" srcOrd="0" destOrd="0" presId="urn:microsoft.com/office/officeart/2005/8/layout/radial2"/>
    <dgm:cxn modelId="{3A3A510C-C710-401E-9F07-01C0F805AB8B}" type="presParOf" srcId="{809B9B83-181E-48E0-928E-3C9E36888537}" destId="{9A62D483-FACC-43DF-8C33-68A6369D89B2}" srcOrd="1" destOrd="0" presId="urn:microsoft.com/office/officeart/2005/8/layout/radial2"/>
    <dgm:cxn modelId="{8554C1FD-DB15-4036-A2B7-78B4AD68E961}" type="presParOf" srcId="{C141B0E8-EFA4-4DD6-B518-37E65E702427}" destId="{3AD6A7E7-5AFC-4EA1-B983-76AECD671102}" srcOrd="3" destOrd="0" presId="urn:microsoft.com/office/officeart/2005/8/layout/radial2"/>
    <dgm:cxn modelId="{FC5C5598-4D4C-4E4D-B45D-D744423A5337}" type="presParOf" srcId="{C141B0E8-EFA4-4DD6-B518-37E65E702427}" destId="{7CF0847C-C9B2-4435-B134-ECF3FF28E4E9}" srcOrd="4" destOrd="0" presId="urn:microsoft.com/office/officeart/2005/8/layout/radial2"/>
    <dgm:cxn modelId="{C2F3E49B-19C3-4D25-A965-4287BB32BF88}" type="presParOf" srcId="{7CF0847C-C9B2-4435-B134-ECF3FF28E4E9}" destId="{1B3450A0-99F9-41B8-BA1E-6E4979541ADE}" srcOrd="0" destOrd="0" presId="urn:microsoft.com/office/officeart/2005/8/layout/radial2"/>
    <dgm:cxn modelId="{E282EF89-19A8-4530-A5B7-C4BD807A418C}" type="presParOf" srcId="{7CF0847C-C9B2-4435-B134-ECF3FF28E4E9}" destId="{33910E39-CFCA-4D1A-8E09-5C8A5F4C31BE}" srcOrd="1" destOrd="0" presId="urn:microsoft.com/office/officeart/2005/8/layout/radial2"/>
    <dgm:cxn modelId="{3811F815-BBA0-4218-8975-E258488D12FE}" type="presParOf" srcId="{C141B0E8-EFA4-4DD6-B518-37E65E702427}" destId="{6167A2E9-AAC7-4DE0-88F4-59A0F33732DA}" srcOrd="5" destOrd="0" presId="urn:microsoft.com/office/officeart/2005/8/layout/radial2"/>
    <dgm:cxn modelId="{FB634FDB-C1F8-4C0A-8173-66B0EF7EFCFD}" type="presParOf" srcId="{C141B0E8-EFA4-4DD6-B518-37E65E702427}" destId="{2564E976-395B-406E-9EC1-CBBCB661A4F3}" srcOrd="6" destOrd="0" presId="urn:microsoft.com/office/officeart/2005/8/layout/radial2"/>
    <dgm:cxn modelId="{D4BE636F-6CA6-4005-B4E3-D48681951944}" type="presParOf" srcId="{2564E976-395B-406E-9EC1-CBBCB661A4F3}" destId="{CD6C7CAA-D9DE-4D53-AC44-9CBABC471C18}" srcOrd="0" destOrd="0" presId="urn:microsoft.com/office/officeart/2005/8/layout/radial2"/>
    <dgm:cxn modelId="{F5C9C456-AFC3-4CAC-AF75-0A2AD535BDC0}" type="presParOf" srcId="{2564E976-395B-406E-9EC1-CBBCB661A4F3}" destId="{A50AAA73-4963-46E0-AE79-5649C2B9AD02}" srcOrd="1" destOrd="0" presId="urn:microsoft.com/office/officeart/2005/8/layout/radial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8ACAF4-7EA9-4BA3-980D-AFC496359107}">
      <dsp:nvSpPr>
        <dsp:cNvPr id="0" name=""/>
        <dsp:cNvSpPr/>
      </dsp:nvSpPr>
      <dsp:spPr>
        <a:xfrm rot="8277157">
          <a:off x="4301207" y="3289922"/>
          <a:ext cx="706198" cy="55722"/>
        </a:xfrm>
        <a:custGeom>
          <a:avLst/>
          <a:gdLst/>
          <a:ahLst/>
          <a:cxnLst/>
          <a:rect l="0" t="0" r="0" b="0"/>
          <a:pathLst>
            <a:path>
              <a:moveTo>
                <a:pt x="0" y="27861"/>
              </a:moveTo>
              <a:lnTo>
                <a:pt x="706198" y="2786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F5661D8-73CE-44C7-80D1-694F4AAB0E6B}">
      <dsp:nvSpPr>
        <dsp:cNvPr id="0" name=""/>
        <dsp:cNvSpPr/>
      </dsp:nvSpPr>
      <dsp:spPr>
        <a:xfrm rot="10787663">
          <a:off x="3637414" y="2331719"/>
          <a:ext cx="1279105" cy="55722"/>
        </a:xfrm>
        <a:custGeom>
          <a:avLst/>
          <a:gdLst/>
          <a:ahLst/>
          <a:cxnLst/>
          <a:rect l="0" t="0" r="0" b="0"/>
          <a:pathLst>
            <a:path>
              <a:moveTo>
                <a:pt x="0" y="27861"/>
              </a:moveTo>
              <a:lnTo>
                <a:pt x="1279105" y="2786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841E299-6450-4A5E-9253-33E2B0A0ED3C}">
      <dsp:nvSpPr>
        <dsp:cNvPr id="0" name=""/>
        <dsp:cNvSpPr/>
      </dsp:nvSpPr>
      <dsp:spPr>
        <a:xfrm rot="13322843">
          <a:off x="4301207" y="1363141"/>
          <a:ext cx="706198" cy="55722"/>
        </a:xfrm>
        <a:custGeom>
          <a:avLst/>
          <a:gdLst/>
          <a:ahLst/>
          <a:cxnLst/>
          <a:rect l="0" t="0" r="0" b="0"/>
          <a:pathLst>
            <a:path>
              <a:moveTo>
                <a:pt x="0" y="27861"/>
              </a:moveTo>
              <a:lnTo>
                <a:pt x="706198" y="2786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67E613E-2B36-407C-ADF1-E70C029FD8A4}">
      <dsp:nvSpPr>
        <dsp:cNvPr id="0" name=""/>
        <dsp:cNvSpPr/>
      </dsp:nvSpPr>
      <dsp:spPr>
        <a:xfrm>
          <a:off x="4676682" y="1286855"/>
          <a:ext cx="2091600" cy="2135076"/>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1FA1A92-62CC-41D8-B3D4-07A76519C4C3}">
      <dsp:nvSpPr>
        <dsp:cNvPr id="0" name=""/>
        <dsp:cNvSpPr/>
      </dsp:nvSpPr>
      <dsp:spPr>
        <a:xfrm>
          <a:off x="3188265" y="1008"/>
          <a:ext cx="1381658" cy="138165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0" i="0" kern="1200" dirty="0"/>
            <a:t>Understand and predict our changing environment, from the </a:t>
          </a:r>
          <a:r>
            <a:rPr lang="en-US" sz="1000" b="1" i="0" kern="1200" dirty="0"/>
            <a:t>deep sea to outer space</a:t>
          </a:r>
          <a:endParaRPr lang="en-US" sz="1000" kern="1200" dirty="0"/>
        </a:p>
      </dsp:txBody>
      <dsp:txXfrm>
        <a:off x="3390604" y="203347"/>
        <a:ext cx="976980" cy="976980"/>
      </dsp:txXfrm>
    </dsp:sp>
    <dsp:sp modelId="{6C4D9428-6A31-4568-80E0-2B297A89DD8A}">
      <dsp:nvSpPr>
        <dsp:cNvPr id="0" name=""/>
        <dsp:cNvSpPr/>
      </dsp:nvSpPr>
      <dsp:spPr>
        <a:xfrm>
          <a:off x="2255764" y="1673526"/>
          <a:ext cx="1381658" cy="138165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Ensure citizens, planners, emergency managers and other decision makers have reliable information they need when they need it</a:t>
          </a:r>
        </a:p>
      </dsp:txBody>
      <dsp:txXfrm>
        <a:off x="2458103" y="1875865"/>
        <a:ext cx="976980" cy="976980"/>
      </dsp:txXfrm>
    </dsp:sp>
    <dsp:sp modelId="{06D8A4F2-2D3F-491D-857B-ED55434336D6}">
      <dsp:nvSpPr>
        <dsp:cNvPr id="0" name=""/>
        <dsp:cNvSpPr/>
      </dsp:nvSpPr>
      <dsp:spPr>
        <a:xfrm>
          <a:off x="3188265" y="3326120"/>
          <a:ext cx="1381658" cy="138165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0" i="0" kern="1200" dirty="0"/>
            <a:t>Conserve and manage coastal and marine ecosystems and resources</a:t>
          </a:r>
          <a:endParaRPr lang="en-US" sz="1100" b="0" kern="1200" dirty="0"/>
        </a:p>
      </dsp:txBody>
      <dsp:txXfrm>
        <a:off x="3390604" y="3528459"/>
        <a:ext cx="976980" cy="9769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67A2E9-AAC7-4DE0-88F4-59A0F33732DA}">
      <dsp:nvSpPr>
        <dsp:cNvPr id="0" name=""/>
        <dsp:cNvSpPr/>
      </dsp:nvSpPr>
      <dsp:spPr>
        <a:xfrm rot="2366643">
          <a:off x="2043921" y="3431302"/>
          <a:ext cx="1084152" cy="65214"/>
        </a:xfrm>
        <a:custGeom>
          <a:avLst/>
          <a:gdLst/>
          <a:ahLst/>
          <a:cxnLst/>
          <a:rect l="0" t="0" r="0" b="0"/>
          <a:pathLst>
            <a:path>
              <a:moveTo>
                <a:pt x="0" y="32607"/>
              </a:moveTo>
              <a:lnTo>
                <a:pt x="1084152" y="3260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AD6A7E7-5AFC-4EA1-B983-76AECD671102}">
      <dsp:nvSpPr>
        <dsp:cNvPr id="0" name=""/>
        <dsp:cNvSpPr/>
      </dsp:nvSpPr>
      <dsp:spPr>
        <a:xfrm rot="21587758">
          <a:off x="2167378" y="2425447"/>
          <a:ext cx="1314233" cy="65214"/>
        </a:xfrm>
        <a:custGeom>
          <a:avLst/>
          <a:gdLst/>
          <a:ahLst/>
          <a:cxnLst/>
          <a:rect l="0" t="0" r="0" b="0"/>
          <a:pathLst>
            <a:path>
              <a:moveTo>
                <a:pt x="0" y="32607"/>
              </a:moveTo>
              <a:lnTo>
                <a:pt x="1314233" y="3260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D3AE625-67DE-4A25-8CFB-F5A1CD673CDE}">
      <dsp:nvSpPr>
        <dsp:cNvPr id="0" name=""/>
        <dsp:cNvSpPr/>
      </dsp:nvSpPr>
      <dsp:spPr>
        <a:xfrm rot="19114853">
          <a:off x="2049546" y="1415185"/>
          <a:ext cx="942274" cy="65214"/>
        </a:xfrm>
        <a:custGeom>
          <a:avLst/>
          <a:gdLst/>
          <a:ahLst/>
          <a:cxnLst/>
          <a:rect l="0" t="0" r="0" b="0"/>
          <a:pathLst>
            <a:path>
              <a:moveTo>
                <a:pt x="0" y="32607"/>
              </a:moveTo>
              <a:lnTo>
                <a:pt x="942274" y="3260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FF1FB25-D631-450B-A4C0-B375D7DB4C82}">
      <dsp:nvSpPr>
        <dsp:cNvPr id="0" name=""/>
        <dsp:cNvSpPr/>
      </dsp:nvSpPr>
      <dsp:spPr>
        <a:xfrm>
          <a:off x="-227844" y="1019605"/>
          <a:ext cx="3195019" cy="2887259"/>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t="-5000" b="-5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48D0C34-1077-45A4-9B39-5801A5174EF7}">
      <dsp:nvSpPr>
        <dsp:cNvPr id="0" name=""/>
        <dsp:cNvSpPr/>
      </dsp:nvSpPr>
      <dsp:spPr>
        <a:xfrm>
          <a:off x="2702970" y="0"/>
          <a:ext cx="1367516" cy="136751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0" i="0" kern="1200" dirty="0"/>
            <a:t>Define the physical environment from the </a:t>
          </a:r>
          <a:r>
            <a:rPr lang="en-US" sz="1000" b="1" i="0" kern="1200" dirty="0"/>
            <a:t>bottom of the ocean to the stars</a:t>
          </a:r>
          <a:endParaRPr lang="en-US" sz="1000" kern="1200" dirty="0"/>
        </a:p>
      </dsp:txBody>
      <dsp:txXfrm>
        <a:off x="2903238" y="200268"/>
        <a:ext cx="966980" cy="966980"/>
      </dsp:txXfrm>
    </dsp:sp>
    <dsp:sp modelId="{1B3450A0-99F9-41B8-BA1E-6E4979541ADE}">
      <dsp:nvSpPr>
        <dsp:cNvPr id="0" name=""/>
        <dsp:cNvSpPr/>
      </dsp:nvSpPr>
      <dsp:spPr>
        <a:xfrm>
          <a:off x="3481603" y="1769521"/>
          <a:ext cx="1367516" cy="136751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b="0" i="0" kern="1200" dirty="0"/>
            <a:t>Ensure the U.S. Navy has freedom of action to deter aggression, maintain freedom of the seas and win wars</a:t>
          </a:r>
          <a:endParaRPr lang="en-US" sz="900" kern="1200" dirty="0"/>
        </a:p>
      </dsp:txBody>
      <dsp:txXfrm>
        <a:off x="3681871" y="1969789"/>
        <a:ext cx="966980" cy="966980"/>
      </dsp:txXfrm>
    </dsp:sp>
    <dsp:sp modelId="{CD6C7CAA-D9DE-4D53-AC44-9CBABC471C18}">
      <dsp:nvSpPr>
        <dsp:cNvPr id="0" name=""/>
        <dsp:cNvSpPr/>
      </dsp:nvSpPr>
      <dsp:spPr>
        <a:xfrm>
          <a:off x="2848884" y="3558954"/>
          <a:ext cx="1367516" cy="136751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b="0" i="0" kern="1200" dirty="0"/>
            <a:t>Decades of pioneering development and use of uncrewed systems</a:t>
          </a:r>
          <a:endParaRPr lang="en-US" sz="1000" kern="1200" dirty="0"/>
        </a:p>
      </dsp:txBody>
      <dsp:txXfrm>
        <a:off x="3049152" y="3759222"/>
        <a:ext cx="966980" cy="966980"/>
      </dsp:txXfrm>
    </dsp:sp>
  </dsp:spTree>
</dsp:drawing>
</file>

<file path=ppt/diagrams/layout1.xml><?xml version="1.0" encoding="utf-8"?>
<dgm:layoutDef xmlns:dgm="http://schemas.openxmlformats.org/drawingml/2006/diagram" xmlns:a="http://schemas.openxmlformats.org/drawingml/2006/main" uniqueId="urn:microsoft.com/office/officeart/2005/8/layout/radial2">
  <dgm:title val=""/>
  <dgm:desc val=""/>
  <dgm:catLst>
    <dgm:cat type="relationship" pri="20000"/>
    <dgm:cat type="convert" pri="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animLvl val="ctr"/>
      <dgm:resizeHandles val="exact"/>
    </dgm:varLst>
    <dgm:alg type="composite"/>
    <dgm:shape xmlns:r="http://schemas.openxmlformats.org/officeDocument/2006/relationships" r:blip="">
      <dgm:adjLst/>
    </dgm:shape>
    <dgm:presOf/>
    <dgm:constrLst>
      <dgm:constr type="w" for="ch" forName="cycle" refType="w"/>
      <dgm:constr type="h" for="ch" forName="cycle" refType="h"/>
    </dgm:constrLst>
    <dgm:ruleLst/>
    <dgm:layoutNode name="cycle">
      <dgm:choose name="Name0">
        <dgm:if name="Name1" func="var" arg="dir" op="equ" val="norm">
          <dgm:choose name="Name2">
            <dgm:if name="Name3" axis="ch" ptType="node" func="cnt" op="lte" val="1">
              <dgm:alg type="cycle">
                <dgm:param type="stAng" val="90"/>
                <dgm:param type="spanAng" val="360"/>
                <dgm:param type="ctrShpMap" val="fNode"/>
              </dgm:alg>
            </dgm:if>
            <dgm:if name="Name4" axis="ch" ptType="node" func="cnt" op="equ" val="2">
              <dgm:alg type="cycle">
                <dgm:param type="stAng" val="70"/>
                <dgm:param type="spanAng" val="40"/>
                <dgm:param type="ctrShpMap" val="fNode"/>
              </dgm:alg>
            </dgm:if>
            <dgm:if name="Name5" axis="ch" ptType="node" func="cnt" op="equ" val="3">
              <dgm:alg type="cycle">
                <dgm:param type="stAng" val="60"/>
                <dgm:param type="spanAng" val="60"/>
                <dgm:param type="ctrShpMap" val="fNode"/>
              </dgm:alg>
            </dgm:if>
            <dgm:else name="Name6">
              <dgm:alg type="cycle">
                <dgm:param type="stAng" val="45"/>
                <dgm:param type="spanAng" val="90"/>
                <dgm:param type="ctrShpMap" val="fNode"/>
              </dgm:alg>
            </dgm:else>
          </dgm:choose>
        </dgm:if>
        <dgm:else name="Name7">
          <dgm:choose name="Name8">
            <dgm:if name="Name9" axis="ch" ptType="node" func="cnt" op="lte" val="1">
              <dgm:alg type="cycle">
                <dgm:param type="stAng" val="-90"/>
                <dgm:param type="spanAng" val="-360"/>
                <dgm:param type="ctrShpMap" val="fNode"/>
              </dgm:alg>
            </dgm:if>
            <dgm:if name="Name10" axis="ch" ptType="node" func="cnt" op="equ" val="2">
              <dgm:alg type="cycle">
                <dgm:param type="stAng" val="-70"/>
                <dgm:param type="spanAng" val="-40"/>
                <dgm:param type="ctrShpMap" val="fNode"/>
              </dgm:alg>
            </dgm:if>
            <dgm:if name="Name11" axis="ch" ptType="node" func="cnt" op="equ" val="3">
              <dgm:alg type="cycle">
                <dgm:param type="stAng" val="-60"/>
                <dgm:param type="spanAng" val="-60"/>
                <dgm:param type="ctrShpMap" val="fNode"/>
              </dgm:alg>
            </dgm:if>
            <dgm:else name="Name12">
              <dgm:alg type="cycle">
                <dgm:param type="stAng" val="-45"/>
                <dgm:param type="spanAng" val="-90"/>
                <dgm:param type="ctrShpMap" val="fNode"/>
              </dgm:alg>
            </dgm:else>
          </dgm:choose>
        </dgm:else>
      </dgm:choose>
      <dgm:shape xmlns:r="http://schemas.openxmlformats.org/officeDocument/2006/relationships" r:blip="">
        <dgm:adjLst/>
      </dgm:shape>
      <dgm:presOf/>
      <dgm:constrLst>
        <dgm:constr type="sp" val="20"/>
        <dgm:constr type="w" for="ch" forName="centerShape" refType="w"/>
        <dgm:constr type="w" for="ch" forName="node" refType="w" refFor="ch" refForName="centerShape" fact="1.5"/>
        <dgm:constr type="sibSp" refType="w" refFor="ch" refForName="centerShape" op="equ" fact="0.08"/>
        <dgm:constr type="primFontSz" for="des" forName="parentNode" op="equ" val="65"/>
        <dgm:constr type="secFontSz" for="des" forName="childNode" op="equ" val="65"/>
      </dgm:constrLst>
      <dgm:ruleLst/>
      <dgm:choose name="Name13">
        <dgm:if name="Name14" axis="ch" ptType="node" hideLastTrans="0" func="cnt" op="gte" val="1">
          <dgm:layoutNode name="centerShape" styleLbl="node0">
            <dgm:alg type="composite"/>
            <dgm:shape xmlns:r="http://schemas.openxmlformats.org/officeDocument/2006/relationships" r:blip="">
              <dgm:adjLst/>
            </dgm:shape>
            <dgm:presOf axis="ch" ptType="node" cnt="1"/>
            <dgm:constrLst>
              <dgm:constr type="w" for="ch" forName="connSite" refType="w" fact="0.7"/>
              <dgm:constr type="h" for="ch" forName="connSite" refType="w" fact="0.7"/>
              <dgm:constr type="ctrX" for="ch" forName="connSite" refType="w" fact="0.5"/>
              <dgm:constr type="ctrY" for="ch" forName="connSite" refType="h" fact="0.5"/>
              <dgm:constr type="w" for="ch" forName="visible" refType="w"/>
              <dgm:constr type="h" for="ch" forName="visible" refType="w"/>
              <dgm:constr type="ctrX" for="ch" forName="visible" refType="w" fact="0.5"/>
              <dgm:constr type="ctrY" for="ch" forName="visible" refType="h" fact="0.5"/>
            </dgm:constrLst>
            <dgm:ruleLst/>
            <dgm:layoutNode name="connSite">
              <dgm:alg type="sp"/>
              <dgm:shape xmlns:r="http://schemas.openxmlformats.org/officeDocument/2006/relationships" type="ellipse" r:blip="" hideGeom="1">
                <dgm:adjLst/>
              </dgm:shape>
              <dgm:presOf/>
              <dgm:constrLst/>
              <dgm:ruleLst/>
            </dgm:layoutNode>
            <dgm:layoutNode name="visible">
              <dgm:alg type="sp"/>
              <dgm:shape xmlns:r="http://schemas.openxmlformats.org/officeDocument/2006/relationships" type="ellipse" r:blip="" blipPhldr="1">
                <dgm:adjLst/>
              </dgm:shape>
              <dgm:presOf/>
              <dgm:constrLst/>
              <dgm:ruleLst/>
            </dgm:layoutNode>
          </dgm:layoutNode>
        </dgm:if>
        <dgm:else name="Name15"/>
      </dgm:choose>
      <dgm:forEach name="Name16" axis="ch">
        <dgm:forEach name="Name17" axis="self" ptType="node">
          <dgm:layoutNode name="node">
            <dgm:alg type="composite"/>
            <dgm:shape xmlns:r="http://schemas.openxmlformats.org/officeDocument/2006/relationships" r:blip="">
              <dgm:adjLst/>
            </dgm:shape>
            <dgm:presOf/>
            <dgm:choose name="Name18">
              <dgm:if name="Name19" func="var" arg="dir" op="equ" val="norm">
                <dgm:constrLst>
                  <dgm:constr type="t" for="ch" forName="parentNode"/>
                  <dgm:constr type="l" for="ch" forName="parentNode"/>
                  <dgm:constr type="w" for="ch" forName="parentNode" refType="w" fact="0.4"/>
                  <dgm:constr type="h" for="ch" forName="parentNode" refType="w" refFor="ch" refForName="parentNode" op="equ"/>
                  <dgm:constr type="ctrY" for="ch" forName="childNode" refType="h" refFor="ch" refForName="parentNode" fact="0.5"/>
                  <dgm:constr type="l" for="ch" forName="childNode" refType="w" refFor="ch" refForName="parentNode" op="equ" fact="1.1"/>
                  <dgm:constr type="w" for="ch" forName="childNode" refType="w" fact="0.6"/>
                  <dgm:constr type="h" for="ch" forName="childNode" refType="h" refFor="ch" refForName="parentNode"/>
                </dgm:constrLst>
              </dgm:if>
              <dgm:else name="Name20">
                <dgm:constrLst>
                  <dgm:constr type="t" for="ch" forName="parentNode"/>
                  <dgm:constr type="r" for="ch" forName="parentNode" refType="w"/>
                  <dgm:constr type="w" for="ch" forName="parentNode" refType="w" fact="0.4"/>
                  <dgm:constr type="h" for="ch" forName="parentNode" refType="w" refFor="ch" refForName="parentNode" op="equ"/>
                  <dgm:constr type="ctrY" for="ch" forName="childNode" refType="h" refFor="ch" refForName="parentNode" fact="0.5"/>
                  <dgm:constr type="l" for="ch" forName="childNode"/>
                  <dgm:constr type="w" for="ch" forName="childNode" refType="w" fact="0.6"/>
                  <dgm:constr type="h" for="ch" forName="childNode" refType="h" refFor="ch" refForName="parentNode"/>
                </dgm:constrLst>
              </dgm:else>
            </dgm:choose>
            <dgm:ruleLst/>
            <dgm:layoutNode name="parentNode" styleLbl="node1">
              <dgm:varLst>
                <dgm:chMax val="1"/>
                <dgm:bulletEnabled val="1"/>
              </dgm:varLst>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childNode" styleLbl="revTx" moveWith="parentNode">
              <dgm:varLst>
                <dgm:bulletEnabled val="1"/>
              </dgm:varLst>
              <dgm:alg type="tx">
                <dgm:param type="txAnchorVertCh" val="mid"/>
                <dgm:param type="stBulletLvl" val="1"/>
              </dgm:alg>
              <dgm:choose name="Name21">
                <dgm:if name="Name22" axis="ch" ptType="node" func="cnt" op="gte" val="1">
                  <dgm:shape xmlns:r="http://schemas.openxmlformats.org/officeDocument/2006/relationships" type="rect" r:blip="">
                    <dgm:adjLst/>
                  </dgm:shape>
                </dgm:if>
                <dgm:else name="Name23">
                  <dgm:shape xmlns:r="http://schemas.openxmlformats.org/officeDocument/2006/relationships" type="rect" r:blip="" hideGeom="1">
                    <dgm:adjLst/>
                  </dgm:shape>
                </dgm:else>
              </dgm:choose>
              <dgm:presOf axis="des" ptType="node"/>
              <dgm:constrLst>
                <dgm:constr type="tMarg"/>
                <dgm:constr type="bMarg"/>
                <dgm:constr type="lMarg"/>
                <dgm:constr type="rMarg"/>
              </dgm:constrLst>
              <dgm:ruleLst>
                <dgm:rule type="secFontSz" val="5" fact="NaN" max="NaN"/>
              </dgm:ruleLst>
            </dgm:layoutNode>
          </dgm:layoutNode>
        </dgm:forEach>
        <dgm:forEach name="Name24" axis="self" ptType="parTrans" cnt="1">
          <dgm:layoutNode name="Name25">
            <dgm:alg type="conn">
              <dgm:param type="dim" val="1D"/>
              <dgm:param type="endSty" val="noArr"/>
              <dgm:param type="begPts" val="auto"/>
              <dgm:param type="endPts" val="auto"/>
              <dgm:param type="srcNode" val="connSite"/>
              <dgm:param type="dstNode" val="parentNode"/>
            </dgm:alg>
            <dgm:shape xmlns:r="http://schemas.openxmlformats.org/officeDocument/2006/relationships" type="conn" r:blip="" zOrderOff="-99">
              <dgm:adjLst/>
            </dgm:shape>
            <dgm:presOf axis="self"/>
            <dgm:constrLst>
              <dgm:constr type="connDist"/>
              <dgm:constr type="w" val="1"/>
              <dgm:constr type="h" val="5"/>
              <dgm:constr type="begPad"/>
              <dgm:constr type="endPad"/>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radial2">
  <dgm:title val=""/>
  <dgm:desc val=""/>
  <dgm:catLst>
    <dgm:cat type="relationship" pri="20000"/>
    <dgm:cat type="convert" pri="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animLvl val="ctr"/>
      <dgm:resizeHandles val="exact"/>
    </dgm:varLst>
    <dgm:alg type="composite"/>
    <dgm:shape xmlns:r="http://schemas.openxmlformats.org/officeDocument/2006/relationships" r:blip="">
      <dgm:adjLst/>
    </dgm:shape>
    <dgm:presOf/>
    <dgm:constrLst>
      <dgm:constr type="w" for="ch" forName="cycle" refType="w"/>
      <dgm:constr type="h" for="ch" forName="cycle" refType="h"/>
    </dgm:constrLst>
    <dgm:ruleLst/>
    <dgm:layoutNode name="cycle">
      <dgm:choose name="Name0">
        <dgm:if name="Name1" func="var" arg="dir" op="equ" val="norm">
          <dgm:choose name="Name2">
            <dgm:if name="Name3" axis="ch" ptType="node" func="cnt" op="lte" val="1">
              <dgm:alg type="cycle">
                <dgm:param type="stAng" val="90"/>
                <dgm:param type="spanAng" val="360"/>
                <dgm:param type="ctrShpMap" val="fNode"/>
              </dgm:alg>
            </dgm:if>
            <dgm:if name="Name4" axis="ch" ptType="node" func="cnt" op="equ" val="2">
              <dgm:alg type="cycle">
                <dgm:param type="stAng" val="70"/>
                <dgm:param type="spanAng" val="40"/>
                <dgm:param type="ctrShpMap" val="fNode"/>
              </dgm:alg>
            </dgm:if>
            <dgm:if name="Name5" axis="ch" ptType="node" func="cnt" op="equ" val="3">
              <dgm:alg type="cycle">
                <dgm:param type="stAng" val="60"/>
                <dgm:param type="spanAng" val="60"/>
                <dgm:param type="ctrShpMap" val="fNode"/>
              </dgm:alg>
            </dgm:if>
            <dgm:else name="Name6">
              <dgm:alg type="cycle">
                <dgm:param type="stAng" val="45"/>
                <dgm:param type="spanAng" val="90"/>
                <dgm:param type="ctrShpMap" val="fNode"/>
              </dgm:alg>
            </dgm:else>
          </dgm:choose>
        </dgm:if>
        <dgm:else name="Name7">
          <dgm:choose name="Name8">
            <dgm:if name="Name9" axis="ch" ptType="node" func="cnt" op="lte" val="1">
              <dgm:alg type="cycle">
                <dgm:param type="stAng" val="-90"/>
                <dgm:param type="spanAng" val="-360"/>
                <dgm:param type="ctrShpMap" val="fNode"/>
              </dgm:alg>
            </dgm:if>
            <dgm:if name="Name10" axis="ch" ptType="node" func="cnt" op="equ" val="2">
              <dgm:alg type="cycle">
                <dgm:param type="stAng" val="-70"/>
                <dgm:param type="spanAng" val="-40"/>
                <dgm:param type="ctrShpMap" val="fNode"/>
              </dgm:alg>
            </dgm:if>
            <dgm:if name="Name11" axis="ch" ptType="node" func="cnt" op="equ" val="3">
              <dgm:alg type="cycle">
                <dgm:param type="stAng" val="-60"/>
                <dgm:param type="spanAng" val="-60"/>
                <dgm:param type="ctrShpMap" val="fNode"/>
              </dgm:alg>
            </dgm:if>
            <dgm:else name="Name12">
              <dgm:alg type="cycle">
                <dgm:param type="stAng" val="-45"/>
                <dgm:param type="spanAng" val="-90"/>
                <dgm:param type="ctrShpMap" val="fNode"/>
              </dgm:alg>
            </dgm:else>
          </dgm:choose>
        </dgm:else>
      </dgm:choose>
      <dgm:shape xmlns:r="http://schemas.openxmlformats.org/officeDocument/2006/relationships" r:blip="">
        <dgm:adjLst/>
      </dgm:shape>
      <dgm:presOf/>
      <dgm:constrLst>
        <dgm:constr type="sp" val="20"/>
        <dgm:constr type="w" for="ch" forName="centerShape" refType="w"/>
        <dgm:constr type="w" for="ch" forName="node" refType="w" refFor="ch" refForName="centerShape" fact="1.5"/>
        <dgm:constr type="sibSp" refType="w" refFor="ch" refForName="centerShape" op="equ" fact="0.08"/>
        <dgm:constr type="primFontSz" for="des" forName="parentNode" op="equ" val="65"/>
        <dgm:constr type="secFontSz" for="des" forName="childNode" op="equ" val="65"/>
      </dgm:constrLst>
      <dgm:ruleLst/>
      <dgm:choose name="Name13">
        <dgm:if name="Name14" axis="ch" ptType="node" hideLastTrans="0" func="cnt" op="gte" val="1">
          <dgm:layoutNode name="centerShape" styleLbl="node0">
            <dgm:alg type="composite"/>
            <dgm:shape xmlns:r="http://schemas.openxmlformats.org/officeDocument/2006/relationships" r:blip="">
              <dgm:adjLst/>
            </dgm:shape>
            <dgm:presOf axis="ch" ptType="node" cnt="1"/>
            <dgm:constrLst>
              <dgm:constr type="w" for="ch" forName="connSite" refType="w" fact="0.7"/>
              <dgm:constr type="h" for="ch" forName="connSite" refType="w" fact="0.7"/>
              <dgm:constr type="ctrX" for="ch" forName="connSite" refType="w" fact="0.5"/>
              <dgm:constr type="ctrY" for="ch" forName="connSite" refType="h" fact="0.5"/>
              <dgm:constr type="w" for="ch" forName="visible" refType="w"/>
              <dgm:constr type="h" for="ch" forName="visible" refType="w"/>
              <dgm:constr type="ctrX" for="ch" forName="visible" refType="w" fact="0.5"/>
              <dgm:constr type="ctrY" for="ch" forName="visible" refType="h" fact="0.5"/>
            </dgm:constrLst>
            <dgm:ruleLst/>
            <dgm:layoutNode name="connSite">
              <dgm:alg type="sp"/>
              <dgm:shape xmlns:r="http://schemas.openxmlformats.org/officeDocument/2006/relationships" type="ellipse" r:blip="" hideGeom="1">
                <dgm:adjLst/>
              </dgm:shape>
              <dgm:presOf/>
              <dgm:constrLst/>
              <dgm:ruleLst/>
            </dgm:layoutNode>
            <dgm:layoutNode name="visible">
              <dgm:alg type="sp"/>
              <dgm:shape xmlns:r="http://schemas.openxmlformats.org/officeDocument/2006/relationships" type="ellipse" r:blip="" blipPhldr="1">
                <dgm:adjLst/>
              </dgm:shape>
              <dgm:presOf/>
              <dgm:constrLst/>
              <dgm:ruleLst/>
            </dgm:layoutNode>
          </dgm:layoutNode>
        </dgm:if>
        <dgm:else name="Name15"/>
      </dgm:choose>
      <dgm:forEach name="Name16" axis="ch">
        <dgm:forEach name="Name17" axis="self" ptType="node">
          <dgm:layoutNode name="node">
            <dgm:alg type="composite"/>
            <dgm:shape xmlns:r="http://schemas.openxmlformats.org/officeDocument/2006/relationships" r:blip="">
              <dgm:adjLst/>
            </dgm:shape>
            <dgm:presOf/>
            <dgm:choose name="Name18">
              <dgm:if name="Name19" func="var" arg="dir" op="equ" val="norm">
                <dgm:constrLst>
                  <dgm:constr type="t" for="ch" forName="parentNode"/>
                  <dgm:constr type="l" for="ch" forName="parentNode"/>
                  <dgm:constr type="w" for="ch" forName="parentNode" refType="w" fact="0.4"/>
                  <dgm:constr type="h" for="ch" forName="parentNode" refType="w" refFor="ch" refForName="parentNode" op="equ"/>
                  <dgm:constr type="ctrY" for="ch" forName="childNode" refType="h" refFor="ch" refForName="parentNode" fact="0.5"/>
                  <dgm:constr type="l" for="ch" forName="childNode" refType="w" refFor="ch" refForName="parentNode" op="equ" fact="1.1"/>
                  <dgm:constr type="w" for="ch" forName="childNode" refType="w" fact="0.6"/>
                  <dgm:constr type="h" for="ch" forName="childNode" refType="h" refFor="ch" refForName="parentNode"/>
                </dgm:constrLst>
              </dgm:if>
              <dgm:else name="Name20">
                <dgm:constrLst>
                  <dgm:constr type="t" for="ch" forName="parentNode"/>
                  <dgm:constr type="r" for="ch" forName="parentNode" refType="w"/>
                  <dgm:constr type="w" for="ch" forName="parentNode" refType="w" fact="0.4"/>
                  <dgm:constr type="h" for="ch" forName="parentNode" refType="w" refFor="ch" refForName="parentNode" op="equ"/>
                  <dgm:constr type="ctrY" for="ch" forName="childNode" refType="h" refFor="ch" refForName="parentNode" fact="0.5"/>
                  <dgm:constr type="l" for="ch" forName="childNode"/>
                  <dgm:constr type="w" for="ch" forName="childNode" refType="w" fact="0.6"/>
                  <dgm:constr type="h" for="ch" forName="childNode" refType="h" refFor="ch" refForName="parentNode"/>
                </dgm:constrLst>
              </dgm:else>
            </dgm:choose>
            <dgm:ruleLst/>
            <dgm:layoutNode name="parentNode" styleLbl="node1">
              <dgm:varLst>
                <dgm:chMax val="1"/>
                <dgm:bulletEnabled val="1"/>
              </dgm:varLst>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childNode" styleLbl="revTx" moveWith="parentNode">
              <dgm:varLst>
                <dgm:bulletEnabled val="1"/>
              </dgm:varLst>
              <dgm:alg type="tx">
                <dgm:param type="txAnchorVertCh" val="mid"/>
                <dgm:param type="stBulletLvl" val="1"/>
              </dgm:alg>
              <dgm:choose name="Name21">
                <dgm:if name="Name22" axis="ch" ptType="node" func="cnt" op="gte" val="1">
                  <dgm:shape xmlns:r="http://schemas.openxmlformats.org/officeDocument/2006/relationships" type="rect" r:blip="">
                    <dgm:adjLst/>
                  </dgm:shape>
                </dgm:if>
                <dgm:else name="Name23">
                  <dgm:shape xmlns:r="http://schemas.openxmlformats.org/officeDocument/2006/relationships" type="rect" r:blip="" hideGeom="1">
                    <dgm:adjLst/>
                  </dgm:shape>
                </dgm:else>
              </dgm:choose>
              <dgm:presOf axis="des" ptType="node"/>
              <dgm:constrLst>
                <dgm:constr type="tMarg"/>
                <dgm:constr type="bMarg"/>
                <dgm:constr type="lMarg"/>
                <dgm:constr type="rMarg"/>
              </dgm:constrLst>
              <dgm:ruleLst>
                <dgm:rule type="secFontSz" val="5" fact="NaN" max="NaN"/>
              </dgm:ruleLst>
            </dgm:layoutNode>
          </dgm:layoutNode>
        </dgm:forEach>
        <dgm:forEach name="Name24" axis="self" ptType="parTrans" cnt="1">
          <dgm:layoutNode name="Name25">
            <dgm:alg type="conn">
              <dgm:param type="dim" val="1D"/>
              <dgm:param type="endSty" val="noArr"/>
              <dgm:param type="begPts" val="auto"/>
              <dgm:param type="endPts" val="auto"/>
              <dgm:param type="srcNode" val="connSite"/>
              <dgm:param type="dstNode" val="parentNode"/>
            </dgm:alg>
            <dgm:shape xmlns:r="http://schemas.openxmlformats.org/officeDocument/2006/relationships" type="conn" r:blip="" zOrderOff="-99">
              <dgm:adjLst/>
            </dgm:shape>
            <dgm:presOf axis="self"/>
            <dgm:constrLst>
              <dgm:constr type="connDist"/>
              <dgm:constr type="w" val="1"/>
              <dgm:constr type="h" val="5"/>
              <dgm:constr type="begPad"/>
              <dgm:constr type="endPad"/>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2" name="Google Shape;8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more and more sensors and platforms come online and collect more and more data we are rapidly outpacing our ability to analyze and process all of the data being collected</a:t>
            </a:r>
          </a:p>
          <a:p>
            <a:endParaRPr lang="en-US" dirty="0"/>
          </a:p>
          <a:p>
            <a:r>
              <a:rPr lang="en-US" dirty="0"/>
              <a:t>While all of this happening, the number of people </a:t>
            </a:r>
            <a:r>
              <a:rPr lang="en-US" dirty="0" err="1"/>
              <a:t>ie</a:t>
            </a:r>
            <a:r>
              <a:rPr lang="en-US" dirty="0"/>
              <a:t> analyst at firms or agencies who can process and understand the information being collected is remaining relatively static</a:t>
            </a:r>
          </a:p>
          <a:p>
            <a:endParaRPr lang="en-US" dirty="0"/>
          </a:p>
          <a:p>
            <a:r>
              <a:rPr lang="en-US" dirty="0"/>
              <a:t>So what do we do? This is where leveraging new technologies and automation of data processing becomes required, not optional</a:t>
            </a:r>
          </a:p>
          <a:p>
            <a:endParaRPr lang="en-US" dirty="0"/>
          </a:p>
          <a:p>
            <a:r>
              <a:rPr lang="en-US" dirty="0"/>
              <a:t>But first we have to put all of our ducks in a row</a:t>
            </a:r>
          </a:p>
          <a:p>
            <a:endParaRPr lang="en-US" dirty="0"/>
          </a:p>
          <a:p>
            <a:r>
              <a:rPr lang="en-US" dirty="0"/>
              <a:t>Without standardization and metadata requirements, there will be difficulties in automation and leveraging AI/ML to process the flood of data</a:t>
            </a:r>
          </a:p>
          <a:p>
            <a:endParaRPr lang="en-US" dirty="0"/>
          </a:p>
          <a:p>
            <a:r>
              <a:rPr lang="en-US" dirty="0"/>
              <a:t>Heterogeneity is the enemy of automation</a:t>
            </a:r>
          </a:p>
          <a:p>
            <a:endParaRPr lang="en-US" dirty="0"/>
          </a:p>
          <a:p>
            <a:r>
              <a:rPr lang="en-US" dirty="0"/>
              <a:t>So where do we start?</a:t>
            </a:r>
          </a:p>
          <a:p>
            <a:endParaRPr lang="en-US" dirty="0"/>
          </a:p>
          <a:p>
            <a:endParaRPr lang="en-US" dirty="0"/>
          </a:p>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319632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7" name="Google Shape;9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 now there is a data black box</a:t>
            </a:r>
          </a:p>
          <a:p>
            <a:endParaRPr lang="en-US" dirty="0"/>
          </a:p>
          <a:p>
            <a:r>
              <a:rPr lang="en-US" dirty="0"/>
              <a:t>UxS data is collected by platforms all over the world for weather, shipping, armed forces, and scientific research but how it gets from the sensor to the analyst depends on who you ask and where they work </a:t>
            </a:r>
          </a:p>
          <a:p>
            <a:endParaRPr lang="en-US" dirty="0"/>
          </a:p>
          <a:p>
            <a:r>
              <a:rPr lang="en-US" dirty="0"/>
              <a:t>Small data like salinity or temperature being communicate by satellite communications and larger data like sonar or bathymetric data having to be physically removed from the platform and transported to a data center</a:t>
            </a:r>
          </a:p>
          <a:p>
            <a:endParaRPr lang="en-US" dirty="0"/>
          </a:p>
          <a:p>
            <a:r>
              <a:rPr lang="en-US" dirty="0"/>
              <a:t>We can go to various data repositories both internal and external and access UxS data collected all over the world in both near real time and post mission, but how often can you find what platform collected that data using what sensor, was there any extenuating circumstance during collection, etc.</a:t>
            </a:r>
          </a:p>
          <a:p>
            <a:endParaRPr lang="en-US" dirty="0"/>
          </a:p>
          <a:p>
            <a:endParaRPr lang="en-US" dirty="0"/>
          </a:p>
          <a:p>
            <a:r>
              <a:rPr lang="en-US" dirty="0"/>
              <a:t>There is little or no guidance on what metadata or information about the data should be collected or maintained with regards to who, what, how the UxS data was collected which is how we got here today </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93573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Logical data Model is broken into two steps Acquisition and Curation</a:t>
            </a:r>
          </a:p>
          <a:p>
            <a:endParaRPr lang="en-US" dirty="0"/>
          </a:p>
          <a:p>
            <a:r>
              <a:rPr lang="en-US" dirty="0"/>
              <a:t>This was developed to align UxS data with ISO metadata standards and was designed to be collected easily through automation while maintaining the relevant data</a:t>
            </a:r>
          </a:p>
          <a:p>
            <a:endParaRPr lang="en-US" dirty="0"/>
          </a:p>
          <a:p>
            <a:r>
              <a:rPr lang="en-US" dirty="0"/>
              <a:t>At the acquisition stage, in addition to the actual data, this metadata is collected which improves both search ability and legacy of the data </a:t>
            </a:r>
          </a:p>
          <a:p>
            <a:endParaRPr lang="en-US" dirty="0"/>
          </a:p>
          <a:p>
            <a:r>
              <a:rPr lang="en-US" dirty="0"/>
              <a:t>The sensor metadata is meant to be repeatable as platforms typically have multiple sensors on them and include the parameter settings for each sensor</a:t>
            </a:r>
          </a:p>
          <a:p>
            <a:endParaRPr lang="en-US" dirty="0"/>
          </a:p>
          <a:p>
            <a:r>
              <a:rPr lang="en-US" dirty="0"/>
              <a:t>The idea is to maintain the ancillary metadata alongside the a UxS dataset</a:t>
            </a:r>
            <a:r>
              <a:rPr lang="en-US" baseline="0" dirty="0"/>
              <a:t> for both post mission analysis and data lineage so that as new techniques and algorithms are developed in the future we are able to go back and easily find the data </a:t>
            </a:r>
            <a:r>
              <a:rPr lang="en-US" dirty="0"/>
              <a:t> </a:t>
            </a:r>
          </a:p>
          <a:p>
            <a:endParaRPr lang="en-US" dirty="0"/>
          </a:p>
          <a:p>
            <a:endParaRPr lang="en-US" dirty="0"/>
          </a:p>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379989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solidFill>
                  <a:srgbClr val="002F8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9" name="Google Shape;29;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100000"/>
              </a:lnSpc>
              <a:spcBef>
                <a:spcPts val="500"/>
              </a:spcBef>
              <a:spcAft>
                <a:spcPts val="0"/>
              </a:spcAft>
              <a:buClr>
                <a:schemeClr val="dk1"/>
              </a:buClr>
              <a:buSzPts val="1800"/>
              <a:buFont typeface="NTR"/>
              <a:buChar char="–"/>
              <a:defRPr/>
            </a:lvl2pPr>
            <a:lvl3pPr marL="1371600" lvl="2" indent="-342900" algn="l">
              <a:lnSpc>
                <a:spcPct val="100000"/>
              </a:lnSpc>
              <a:spcBef>
                <a:spcPts val="500"/>
              </a:spcBef>
              <a:spcAft>
                <a:spcPts val="0"/>
              </a:spcAft>
              <a:buClr>
                <a:schemeClr val="dk1"/>
              </a:buClr>
              <a:buSzPts val="1800"/>
              <a:buFont typeface="Courier New"/>
              <a:buChar char="o"/>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6000"/>
              <a:buFont typeface="Calibri"/>
              <a:buNone/>
              <a:defRPr sz="6000">
                <a:solidFill>
                  <a:srgbClr val="002F8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32" name="Google Shape;32;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solidFill>
                  <a:srgbClr val="002F8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35" name="Google Shape;35;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7"/>
        <p:cNvGrpSpPr/>
        <p:nvPr/>
      </p:nvGrpSpPr>
      <p:grpSpPr>
        <a:xfrm>
          <a:off x="0" y="0"/>
          <a:ext cx="0" cy="0"/>
          <a:chOff x="0" y="0"/>
          <a:chExt cx="0" cy="0"/>
        </a:xfrm>
      </p:grpSpPr>
      <p:sp>
        <p:nvSpPr>
          <p:cNvPr id="38" name="Google Shape;38;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solidFill>
                  <a:srgbClr val="002F8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39" name="Google Shape;39;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0" name="Google Shape;40;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2" name="Google Shape;42;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solidFill>
                  <a:srgbClr val="002F8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5"/>
        <p:cNvGrpSpPr/>
        <p:nvPr/>
      </p:nvGrpSpPr>
      <p:grpSpPr>
        <a:xfrm>
          <a:off x="0" y="0"/>
          <a:ext cx="0" cy="0"/>
          <a:chOff x="0" y="0"/>
          <a:chExt cx="0" cy="0"/>
        </a:xfrm>
      </p:grpSpPr>
      <p:sp>
        <p:nvSpPr>
          <p:cNvPr id="46" name="Google Shape;46;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200"/>
              <a:buFont typeface="Calibri"/>
              <a:buNone/>
              <a:defRPr sz="3200">
                <a:solidFill>
                  <a:srgbClr val="002F8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47" name="Google Shape;47;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48" name="Google Shape;48;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9"/>
        <p:cNvGrpSpPr/>
        <p:nvPr/>
      </p:nvGrpSpPr>
      <p:grpSpPr>
        <a:xfrm>
          <a:off x="0" y="0"/>
          <a:ext cx="0" cy="0"/>
          <a:chOff x="0" y="0"/>
          <a:chExt cx="0" cy="0"/>
        </a:xfrm>
      </p:grpSpPr>
      <p:sp>
        <p:nvSpPr>
          <p:cNvPr id="50" name="Google Shape;50;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200"/>
              <a:buFont typeface="Calibri"/>
              <a:buNone/>
              <a:defRPr sz="3200">
                <a:solidFill>
                  <a:srgbClr val="002F87"/>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51" name="Google Shape;51;p10"/>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52" name="Google Shape;52;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Alternate Interior " type="obj">
  <p:cSld name="OBJECT">
    <p:spTree>
      <p:nvGrpSpPr>
        <p:cNvPr id="1" name="Shape 65"/>
        <p:cNvGrpSpPr/>
        <p:nvPr/>
      </p:nvGrpSpPr>
      <p:grpSpPr>
        <a:xfrm>
          <a:off x="0" y="0"/>
          <a:ext cx="0" cy="0"/>
          <a:chOff x="0" y="0"/>
          <a:chExt cx="0" cy="0"/>
        </a:xfrm>
      </p:grpSpPr>
      <p:sp>
        <p:nvSpPr>
          <p:cNvPr id="66" name="Google Shape;66;p12"/>
          <p:cNvSpPr txBox="1">
            <a:spLocks noGrp="1"/>
          </p:cNvSpPr>
          <p:nvPr>
            <p:ph type="title"/>
          </p:nvPr>
        </p:nvSpPr>
        <p:spPr>
          <a:xfrm>
            <a:off x="1435324" y="64947"/>
            <a:ext cx="9833008" cy="818782"/>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1E4E79"/>
              </a:buClr>
              <a:buSzPts val="4400"/>
              <a:buFont typeface="Calibri"/>
              <a:buNone/>
              <a:defRPr b="0">
                <a:solidFill>
                  <a:srgbClr val="002F87"/>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67" name="Google Shape;67;p12"/>
          <p:cNvSpPr txBox="1">
            <a:spLocks noGrp="1"/>
          </p:cNvSpPr>
          <p:nvPr>
            <p:ph type="body" idx="1"/>
          </p:nvPr>
        </p:nvSpPr>
        <p:spPr>
          <a:xfrm>
            <a:off x="838200" y="1016035"/>
            <a:ext cx="10515600" cy="516092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o"/>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8"/>
        <p:cNvGrpSpPr/>
        <p:nvPr/>
      </p:nvGrpSpPr>
      <p:grpSpPr>
        <a:xfrm>
          <a:off x="0" y="0"/>
          <a:ext cx="0" cy="0"/>
          <a:chOff x="0" y="0"/>
          <a:chExt cx="0" cy="0"/>
        </a:xfrm>
      </p:grpSpPr>
      <p:sp>
        <p:nvSpPr>
          <p:cNvPr id="69" name="Google Shape;69;p13"/>
          <p:cNvSpPr txBox="1">
            <a:spLocks noGrp="1"/>
          </p:cNvSpPr>
          <p:nvPr>
            <p:ph type="title"/>
          </p:nvPr>
        </p:nvSpPr>
        <p:spPr>
          <a:xfrm>
            <a:off x="1435324" y="64947"/>
            <a:ext cx="9833008" cy="81878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rgbClr val="1E4E79"/>
              </a:buClr>
              <a:buSzPts val="1800"/>
              <a:buNone/>
              <a:defRPr b="0">
                <a:solidFill>
                  <a:srgbClr val="002F87"/>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70" name="Google Shape;70;p13"/>
          <p:cNvSpPr txBox="1">
            <a:spLocks noGrp="1"/>
          </p:cNvSpPr>
          <p:nvPr>
            <p:ph type="body" idx="1"/>
          </p:nvPr>
        </p:nvSpPr>
        <p:spPr>
          <a:xfrm>
            <a:off x="838200" y="142136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o"/>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3"/>
          <p:cNvSpPr txBox="1">
            <a:spLocks noGrp="1"/>
          </p:cNvSpPr>
          <p:nvPr>
            <p:ph type="body" idx="2"/>
          </p:nvPr>
        </p:nvSpPr>
        <p:spPr>
          <a:xfrm>
            <a:off x="6172200" y="142136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o"/>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3" name="Google Shape;73;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4" name="Google Shape;7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4.xml"/><Relationship Id="rId7" Type="http://schemas.openxmlformats.org/officeDocument/2006/relationships/slideLayout" Target="../slideLayouts/slideLayout8.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image" Target="../media/image3.png"/><Relationship Id="rId5" Type="http://schemas.openxmlformats.org/officeDocument/2006/relationships/slideLayout" Target="../slideLayouts/slideLayout6.xml"/><Relationship Id="rId10" Type="http://schemas.openxmlformats.org/officeDocument/2006/relationships/image" Target="../media/image2.png"/><Relationship Id="rId4" Type="http://schemas.openxmlformats.org/officeDocument/2006/relationships/slideLayout" Target="../slideLayouts/slideLayout5.xml"/><Relationship Id="rId9" Type="http://schemas.openxmlformats.org/officeDocument/2006/relationships/image" Target="../media/image4.jp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0.xml"/><Relationship Id="rId1" Type="http://schemas.openxmlformats.org/officeDocument/2006/relationships/slideLayout" Target="../slideLayouts/slideLayout9.xml"/><Relationship Id="rId5" Type="http://schemas.openxmlformats.org/officeDocument/2006/relationships/image" Target="../media/image3.png"/><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9" name="Google Shape;11;p4">
            <a:extLst>
              <a:ext uri="{FF2B5EF4-FFF2-40B4-BE49-F238E27FC236}">
                <a16:creationId xmlns:a16="http://schemas.microsoft.com/office/drawing/2014/main" id="{0074AE4A-5ADC-E151-AF09-97C89EA16E21}"/>
              </a:ext>
            </a:extLst>
          </p:cNvPr>
          <p:cNvPicPr preferRelativeResize="0"/>
          <p:nvPr userDrawn="1"/>
        </p:nvPicPr>
        <p:blipFill rotWithShape="1">
          <a:blip r:embed="rId3">
            <a:alphaModFix/>
          </a:blip>
          <a:srcRect/>
          <a:stretch/>
        </p:blipFill>
        <p:spPr>
          <a:xfrm>
            <a:off x="0" y="-19783"/>
            <a:ext cx="5681472" cy="6877783"/>
          </a:xfrm>
          <a:prstGeom prst="rect">
            <a:avLst/>
          </a:prstGeom>
          <a:noFill/>
          <a:ln>
            <a:noFill/>
          </a:ln>
        </p:spPr>
      </p:pic>
      <p:sp>
        <p:nvSpPr>
          <p:cNvPr id="10" name="Google Shape;10;p1"/>
          <p:cNvSpPr/>
          <p:nvPr/>
        </p:nvSpPr>
        <p:spPr>
          <a:xfrm>
            <a:off x="3077428" y="1652985"/>
            <a:ext cx="9114571" cy="3578087"/>
          </a:xfrm>
          <a:prstGeom prst="rect">
            <a:avLst/>
          </a:prstGeom>
          <a:solidFill>
            <a:srgbClr val="0284CA">
              <a:alpha val="2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13;p1"/>
          <p:cNvSpPr txBox="1"/>
          <p:nvPr/>
        </p:nvSpPr>
        <p:spPr>
          <a:xfrm>
            <a:off x="209837" y="5516774"/>
            <a:ext cx="4617842" cy="30116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Font typeface="Arial"/>
              <a:buNone/>
            </a:pPr>
            <a:r>
              <a:rPr lang="en-US" sz="1800" b="1" dirty="0">
                <a:solidFill>
                  <a:schemeClr val="lt1"/>
                </a:solidFill>
                <a:latin typeface="Calibri"/>
                <a:ea typeface="Calibri"/>
                <a:cs typeface="Calibri"/>
                <a:sym typeface="Calibri"/>
              </a:rPr>
              <a:t>National Centers for Environmental Information</a:t>
            </a:r>
            <a:endParaRPr sz="1800" b="1" dirty="0"/>
          </a:p>
        </p:txBody>
      </p:sp>
      <p:sp>
        <p:nvSpPr>
          <p:cNvPr id="7" name="Parallelogram 3">
            <a:extLst>
              <a:ext uri="{FF2B5EF4-FFF2-40B4-BE49-F238E27FC236}">
                <a16:creationId xmlns:a16="http://schemas.microsoft.com/office/drawing/2014/main" id="{E526AD2B-56E1-C2ED-2273-DA1A543AC735}"/>
              </a:ext>
            </a:extLst>
          </p:cNvPr>
          <p:cNvSpPr/>
          <p:nvPr userDrawn="1"/>
        </p:nvSpPr>
        <p:spPr>
          <a:xfrm flipH="1">
            <a:off x="1661863" y="-6531"/>
            <a:ext cx="2781701" cy="2296313"/>
          </a:xfrm>
          <a:custGeom>
            <a:avLst/>
            <a:gdLst>
              <a:gd name="connsiteX0" fmla="*/ 0 w 2396691"/>
              <a:gd name="connsiteY0" fmla="*/ 2305939 h 2305939"/>
              <a:gd name="connsiteX1" fmla="*/ 576485 w 2396691"/>
              <a:gd name="connsiteY1" fmla="*/ 0 h 2305939"/>
              <a:gd name="connsiteX2" fmla="*/ 2396691 w 2396691"/>
              <a:gd name="connsiteY2" fmla="*/ 0 h 2305939"/>
              <a:gd name="connsiteX3" fmla="*/ 1820206 w 2396691"/>
              <a:gd name="connsiteY3" fmla="*/ 2305939 h 2305939"/>
              <a:gd name="connsiteX4" fmla="*/ 0 w 2396691"/>
              <a:gd name="connsiteY4" fmla="*/ 2305939 h 2305939"/>
              <a:gd name="connsiteX0" fmla="*/ 0 w 2829828"/>
              <a:gd name="connsiteY0" fmla="*/ 2305939 h 2305939"/>
              <a:gd name="connsiteX1" fmla="*/ 1009622 w 2829828"/>
              <a:gd name="connsiteY1" fmla="*/ 0 h 2305939"/>
              <a:gd name="connsiteX2" fmla="*/ 2829828 w 2829828"/>
              <a:gd name="connsiteY2" fmla="*/ 0 h 2305939"/>
              <a:gd name="connsiteX3" fmla="*/ 2253343 w 2829828"/>
              <a:gd name="connsiteY3" fmla="*/ 2305939 h 2305939"/>
              <a:gd name="connsiteX4" fmla="*/ 0 w 2829828"/>
              <a:gd name="connsiteY4" fmla="*/ 2305939 h 2305939"/>
              <a:gd name="connsiteX0" fmla="*/ 0 w 2829828"/>
              <a:gd name="connsiteY0" fmla="*/ 2305939 h 2305939"/>
              <a:gd name="connsiteX1" fmla="*/ 1009622 w 2829828"/>
              <a:gd name="connsiteY1" fmla="*/ 0 h 2305939"/>
              <a:gd name="connsiteX2" fmla="*/ 2829828 w 2829828"/>
              <a:gd name="connsiteY2" fmla="*/ 0 h 2305939"/>
              <a:gd name="connsiteX3" fmla="*/ 1887583 w 2829828"/>
              <a:gd name="connsiteY3" fmla="*/ 2286689 h 2305939"/>
              <a:gd name="connsiteX4" fmla="*/ 0 w 2829828"/>
              <a:gd name="connsiteY4" fmla="*/ 2305939 h 2305939"/>
              <a:gd name="connsiteX0" fmla="*/ 0 w 2829828"/>
              <a:gd name="connsiteY0" fmla="*/ 2296313 h 2296313"/>
              <a:gd name="connsiteX1" fmla="*/ 1009622 w 2829828"/>
              <a:gd name="connsiteY1" fmla="*/ 0 h 2296313"/>
              <a:gd name="connsiteX2" fmla="*/ 2829828 w 2829828"/>
              <a:gd name="connsiteY2" fmla="*/ 0 h 2296313"/>
              <a:gd name="connsiteX3" fmla="*/ 1887583 w 2829828"/>
              <a:gd name="connsiteY3" fmla="*/ 2286689 h 2296313"/>
              <a:gd name="connsiteX4" fmla="*/ 0 w 2829828"/>
              <a:gd name="connsiteY4" fmla="*/ 2296313 h 2296313"/>
              <a:gd name="connsiteX0" fmla="*/ 0 w 2829828"/>
              <a:gd name="connsiteY0" fmla="*/ 2296313 h 2296313"/>
              <a:gd name="connsiteX1" fmla="*/ 913369 w 2829828"/>
              <a:gd name="connsiteY1" fmla="*/ 9625 h 2296313"/>
              <a:gd name="connsiteX2" fmla="*/ 2829828 w 2829828"/>
              <a:gd name="connsiteY2" fmla="*/ 0 h 2296313"/>
              <a:gd name="connsiteX3" fmla="*/ 1887583 w 2829828"/>
              <a:gd name="connsiteY3" fmla="*/ 2286689 h 2296313"/>
              <a:gd name="connsiteX4" fmla="*/ 0 w 2829828"/>
              <a:gd name="connsiteY4" fmla="*/ 2296313 h 2296313"/>
              <a:gd name="connsiteX0" fmla="*/ 0 w 2733575"/>
              <a:gd name="connsiteY0" fmla="*/ 2286688 h 2286688"/>
              <a:gd name="connsiteX1" fmla="*/ 913369 w 2733575"/>
              <a:gd name="connsiteY1" fmla="*/ 0 h 2286688"/>
              <a:gd name="connsiteX2" fmla="*/ 2733575 w 2733575"/>
              <a:gd name="connsiteY2" fmla="*/ 0 h 2286688"/>
              <a:gd name="connsiteX3" fmla="*/ 1887583 w 2733575"/>
              <a:gd name="connsiteY3" fmla="*/ 2277064 h 2286688"/>
              <a:gd name="connsiteX4" fmla="*/ 0 w 2733575"/>
              <a:gd name="connsiteY4" fmla="*/ 2286688 h 2286688"/>
              <a:gd name="connsiteX0" fmla="*/ 0 w 2781701"/>
              <a:gd name="connsiteY0" fmla="*/ 2296313 h 2296313"/>
              <a:gd name="connsiteX1" fmla="*/ 961495 w 2781701"/>
              <a:gd name="connsiteY1" fmla="*/ 0 h 2296313"/>
              <a:gd name="connsiteX2" fmla="*/ 2781701 w 2781701"/>
              <a:gd name="connsiteY2" fmla="*/ 0 h 2296313"/>
              <a:gd name="connsiteX3" fmla="*/ 1935709 w 2781701"/>
              <a:gd name="connsiteY3" fmla="*/ 2277064 h 2296313"/>
              <a:gd name="connsiteX4" fmla="*/ 0 w 2781701"/>
              <a:gd name="connsiteY4" fmla="*/ 2296313 h 2296313"/>
              <a:gd name="connsiteX0" fmla="*/ 0 w 2781701"/>
              <a:gd name="connsiteY0" fmla="*/ 2296313 h 2296313"/>
              <a:gd name="connsiteX1" fmla="*/ 961495 w 2781701"/>
              <a:gd name="connsiteY1" fmla="*/ 0 h 2296313"/>
              <a:gd name="connsiteX2" fmla="*/ 2781701 w 2781701"/>
              <a:gd name="connsiteY2" fmla="*/ 0 h 2296313"/>
              <a:gd name="connsiteX3" fmla="*/ 1877957 w 2781701"/>
              <a:gd name="connsiteY3" fmla="*/ 2286690 h 2296313"/>
              <a:gd name="connsiteX4" fmla="*/ 0 w 2781701"/>
              <a:gd name="connsiteY4" fmla="*/ 2296313 h 22963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81701" h="2296313">
                <a:moveTo>
                  <a:pt x="0" y="2296313"/>
                </a:moveTo>
                <a:lnTo>
                  <a:pt x="961495" y="0"/>
                </a:lnTo>
                <a:lnTo>
                  <a:pt x="2781701" y="0"/>
                </a:lnTo>
                <a:lnTo>
                  <a:pt x="1877957" y="2286690"/>
                </a:lnTo>
                <a:lnTo>
                  <a:pt x="0" y="2296313"/>
                </a:lnTo>
                <a:close/>
              </a:path>
            </a:pathLst>
          </a:custGeom>
          <a:solidFill>
            <a:srgbClr val="0284CA">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5367915C-5FD4-1C0E-7CD0-F7A5EB649E8D}"/>
              </a:ext>
            </a:extLst>
          </p:cNvPr>
          <p:cNvPicPr>
            <a:picLocks noChangeAspect="1"/>
          </p:cNvPicPr>
          <p:nvPr userDrawn="1"/>
        </p:nvPicPr>
        <p:blipFill>
          <a:blip r:embed="rId4"/>
          <a:stretch>
            <a:fillRect/>
          </a:stretch>
        </p:blipFill>
        <p:spPr>
          <a:xfrm>
            <a:off x="1177948" y="3006805"/>
            <a:ext cx="1751958" cy="1751958"/>
          </a:xfrm>
          <a:prstGeom prst="rect">
            <a:avLst/>
          </a:prstGeom>
        </p:spPr>
      </p:pic>
      <p:pic>
        <p:nvPicPr>
          <p:cNvPr id="2" name="Picture 1">
            <a:extLst>
              <a:ext uri="{FF2B5EF4-FFF2-40B4-BE49-F238E27FC236}">
                <a16:creationId xmlns:a16="http://schemas.microsoft.com/office/drawing/2014/main" id="{9A846615-9E3C-2F73-2EEB-2655685FDC6F}"/>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2570241" y="2573043"/>
            <a:ext cx="2622133" cy="2622133"/>
          </a:xfrm>
          <a:prstGeom prst="rect">
            <a:avLst/>
          </a:prstGeom>
          <a:effectLst/>
        </p:spPr>
      </p:pic>
      <p:sp>
        <p:nvSpPr>
          <p:cNvPr id="4" name="Google Shape;13;p1">
            <a:extLst>
              <a:ext uri="{FF2B5EF4-FFF2-40B4-BE49-F238E27FC236}">
                <a16:creationId xmlns:a16="http://schemas.microsoft.com/office/drawing/2014/main" id="{176DFCBB-D887-17B4-0E7A-27CCCAD9E5D6}"/>
              </a:ext>
            </a:extLst>
          </p:cNvPr>
          <p:cNvSpPr txBox="1"/>
          <p:nvPr userDrawn="1"/>
        </p:nvSpPr>
        <p:spPr>
          <a:xfrm>
            <a:off x="209837" y="5853811"/>
            <a:ext cx="4866016" cy="3768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Font typeface="Arial"/>
              <a:buNone/>
            </a:pPr>
            <a:r>
              <a:rPr lang="en-US" sz="1800" b="1" i="0" u="none" strike="noStrike" cap="none" dirty="0">
                <a:solidFill>
                  <a:schemeClr val="lt1"/>
                </a:solidFill>
                <a:latin typeface="Calibri"/>
                <a:cs typeface="Calibri"/>
                <a:sym typeface="Arial"/>
              </a:rPr>
              <a:t>U.S. Naval Meteorology and Oceanography Command</a:t>
            </a:r>
            <a:endParaRPr sz="1800" b="1" i="0" u="none" strike="noStrike" cap="none" dirty="0">
              <a:solidFill>
                <a:schemeClr val="lt1"/>
              </a:solidFill>
              <a:latin typeface="Calibri"/>
              <a:cs typeface="Calibri"/>
              <a:sym typeface="Arial"/>
            </a:endParaRPr>
          </a:p>
        </p:txBody>
      </p:sp>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
        <p:cNvGrpSpPr/>
        <p:nvPr/>
      </p:nvGrpSpPr>
      <p:grpSpPr>
        <a:xfrm>
          <a:off x="0" y="0"/>
          <a:ext cx="0" cy="0"/>
          <a:chOff x="0" y="0"/>
          <a:chExt cx="0" cy="0"/>
        </a:xfrm>
      </p:grpSpPr>
      <p:sp>
        <p:nvSpPr>
          <p:cNvPr id="14" name="Rectangle 8">
            <a:extLst>
              <a:ext uri="{FF2B5EF4-FFF2-40B4-BE49-F238E27FC236}">
                <a16:creationId xmlns:a16="http://schemas.microsoft.com/office/drawing/2014/main" id="{A4D3659E-213B-BBA7-9C6E-66EAC5A14B5F}"/>
              </a:ext>
            </a:extLst>
          </p:cNvPr>
          <p:cNvSpPr/>
          <p:nvPr userDrawn="1"/>
        </p:nvSpPr>
        <p:spPr>
          <a:xfrm>
            <a:off x="0" y="6381175"/>
            <a:ext cx="11656200" cy="477025"/>
          </a:xfrm>
          <a:custGeom>
            <a:avLst/>
            <a:gdLst>
              <a:gd name="connsiteX0" fmla="*/ 0 w 11776909"/>
              <a:gd name="connsiteY0" fmla="*/ 0 h 527538"/>
              <a:gd name="connsiteX1" fmla="*/ 11776909 w 11776909"/>
              <a:gd name="connsiteY1" fmla="*/ 0 h 527538"/>
              <a:gd name="connsiteX2" fmla="*/ 11776909 w 11776909"/>
              <a:gd name="connsiteY2" fmla="*/ 527538 h 527538"/>
              <a:gd name="connsiteX3" fmla="*/ 0 w 11776909"/>
              <a:gd name="connsiteY3" fmla="*/ 527538 h 527538"/>
              <a:gd name="connsiteX4" fmla="*/ 0 w 11776909"/>
              <a:gd name="connsiteY4" fmla="*/ 0 h 527538"/>
              <a:gd name="connsiteX0" fmla="*/ 0 w 11776909"/>
              <a:gd name="connsiteY0" fmla="*/ 0 h 527538"/>
              <a:gd name="connsiteX1" fmla="*/ 11425217 w 11776909"/>
              <a:gd name="connsiteY1" fmla="*/ 0 h 527538"/>
              <a:gd name="connsiteX2" fmla="*/ 11776909 w 11776909"/>
              <a:gd name="connsiteY2" fmla="*/ 527538 h 527538"/>
              <a:gd name="connsiteX3" fmla="*/ 0 w 11776909"/>
              <a:gd name="connsiteY3" fmla="*/ 527538 h 527538"/>
              <a:gd name="connsiteX4" fmla="*/ 0 w 11776909"/>
              <a:gd name="connsiteY4" fmla="*/ 0 h 527538"/>
              <a:gd name="connsiteX0" fmla="*/ 0 w 11776909"/>
              <a:gd name="connsiteY0" fmla="*/ 0 h 527538"/>
              <a:gd name="connsiteX1" fmla="*/ 11567351 w 11776909"/>
              <a:gd name="connsiteY1" fmla="*/ 13291 h 527538"/>
              <a:gd name="connsiteX2" fmla="*/ 11776909 w 11776909"/>
              <a:gd name="connsiteY2" fmla="*/ 527538 h 527538"/>
              <a:gd name="connsiteX3" fmla="*/ 0 w 11776909"/>
              <a:gd name="connsiteY3" fmla="*/ 527538 h 527538"/>
              <a:gd name="connsiteX4" fmla="*/ 0 w 11776909"/>
              <a:gd name="connsiteY4" fmla="*/ 0 h 527538"/>
              <a:gd name="connsiteX0" fmla="*/ 0 w 11776909"/>
              <a:gd name="connsiteY0" fmla="*/ 26582 h 554120"/>
              <a:gd name="connsiteX1" fmla="*/ 11555507 w 11776909"/>
              <a:gd name="connsiteY1" fmla="*/ 0 h 554120"/>
              <a:gd name="connsiteX2" fmla="*/ 11776909 w 11776909"/>
              <a:gd name="connsiteY2" fmla="*/ 554120 h 554120"/>
              <a:gd name="connsiteX3" fmla="*/ 0 w 11776909"/>
              <a:gd name="connsiteY3" fmla="*/ 554120 h 554120"/>
              <a:gd name="connsiteX4" fmla="*/ 0 w 11776909"/>
              <a:gd name="connsiteY4" fmla="*/ 26582 h 554120"/>
              <a:gd name="connsiteX0" fmla="*/ 0 w 11776909"/>
              <a:gd name="connsiteY0" fmla="*/ 0 h 527538"/>
              <a:gd name="connsiteX1" fmla="*/ 11555507 w 11776909"/>
              <a:gd name="connsiteY1" fmla="*/ 26582 h 527538"/>
              <a:gd name="connsiteX2" fmla="*/ 11776909 w 11776909"/>
              <a:gd name="connsiteY2" fmla="*/ 527538 h 527538"/>
              <a:gd name="connsiteX3" fmla="*/ 0 w 11776909"/>
              <a:gd name="connsiteY3" fmla="*/ 527538 h 527538"/>
              <a:gd name="connsiteX4" fmla="*/ 0 w 11776909"/>
              <a:gd name="connsiteY4" fmla="*/ 0 h 527538"/>
              <a:gd name="connsiteX0" fmla="*/ 0 w 11776909"/>
              <a:gd name="connsiteY0" fmla="*/ 39873 h 567411"/>
              <a:gd name="connsiteX1" fmla="*/ 11543662 w 11776909"/>
              <a:gd name="connsiteY1" fmla="*/ 0 h 567411"/>
              <a:gd name="connsiteX2" fmla="*/ 11776909 w 11776909"/>
              <a:gd name="connsiteY2" fmla="*/ 567411 h 567411"/>
              <a:gd name="connsiteX3" fmla="*/ 0 w 11776909"/>
              <a:gd name="connsiteY3" fmla="*/ 567411 h 567411"/>
              <a:gd name="connsiteX4" fmla="*/ 0 w 11776909"/>
              <a:gd name="connsiteY4" fmla="*/ 39873 h 567411"/>
              <a:gd name="connsiteX0" fmla="*/ 0 w 11776909"/>
              <a:gd name="connsiteY0" fmla="*/ 0 h 527538"/>
              <a:gd name="connsiteX1" fmla="*/ 11555507 w 11776909"/>
              <a:gd name="connsiteY1" fmla="*/ 13291 h 527538"/>
              <a:gd name="connsiteX2" fmla="*/ 11776909 w 11776909"/>
              <a:gd name="connsiteY2" fmla="*/ 527538 h 527538"/>
              <a:gd name="connsiteX3" fmla="*/ 0 w 11776909"/>
              <a:gd name="connsiteY3" fmla="*/ 527538 h 527538"/>
              <a:gd name="connsiteX4" fmla="*/ 0 w 11776909"/>
              <a:gd name="connsiteY4" fmla="*/ 0 h 527538"/>
              <a:gd name="connsiteX0" fmla="*/ 0 w 11776909"/>
              <a:gd name="connsiteY0" fmla="*/ 13291 h 540829"/>
              <a:gd name="connsiteX1" fmla="*/ 11543662 w 11776909"/>
              <a:gd name="connsiteY1" fmla="*/ 0 h 540829"/>
              <a:gd name="connsiteX2" fmla="*/ 11776909 w 11776909"/>
              <a:gd name="connsiteY2" fmla="*/ 540829 h 540829"/>
              <a:gd name="connsiteX3" fmla="*/ 0 w 11776909"/>
              <a:gd name="connsiteY3" fmla="*/ 540829 h 540829"/>
              <a:gd name="connsiteX4" fmla="*/ 0 w 11776909"/>
              <a:gd name="connsiteY4" fmla="*/ 13291 h 540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76909" h="540829">
                <a:moveTo>
                  <a:pt x="0" y="13291"/>
                </a:moveTo>
                <a:lnTo>
                  <a:pt x="11543662" y="0"/>
                </a:lnTo>
                <a:lnTo>
                  <a:pt x="11776909" y="540829"/>
                </a:lnTo>
                <a:lnTo>
                  <a:pt x="0" y="540829"/>
                </a:lnTo>
                <a:lnTo>
                  <a:pt x="0" y="13291"/>
                </a:lnTo>
                <a:close/>
              </a:path>
            </a:pathLst>
          </a:custGeom>
          <a:solidFill>
            <a:srgbClr val="0284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Google Shape;18;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9" name="Google Shape;19;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0" name="Google Shape;20;p3"/>
          <p:cNvSpPr txBox="1"/>
          <p:nvPr/>
        </p:nvSpPr>
        <p:spPr>
          <a:xfrm>
            <a:off x="11361819" y="6443000"/>
            <a:ext cx="830181"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400" b="0" i="0" u="none" strike="noStrike" cap="none">
                <a:solidFill>
                  <a:srgbClr val="CCCCCC"/>
                </a:solidFill>
                <a:latin typeface="Calibri"/>
                <a:ea typeface="Calibri"/>
                <a:cs typeface="Calibri"/>
                <a:sym typeface="Calibri"/>
              </a:rPr>
              <a:t>‹#›</a:t>
            </a:fld>
            <a:endParaRPr sz="1400" b="0" i="0" u="none" strike="noStrike" cap="none">
              <a:solidFill>
                <a:srgbClr val="CCCCCC"/>
              </a:solidFill>
              <a:latin typeface="Calibri"/>
              <a:ea typeface="Calibri"/>
              <a:cs typeface="Calibri"/>
              <a:sym typeface="Calibri"/>
            </a:endParaRPr>
          </a:p>
        </p:txBody>
      </p:sp>
      <p:sp>
        <p:nvSpPr>
          <p:cNvPr id="24" name="Google Shape;24;p3"/>
          <p:cNvSpPr/>
          <p:nvPr/>
        </p:nvSpPr>
        <p:spPr>
          <a:xfrm>
            <a:off x="0" y="0"/>
            <a:ext cx="12192000" cy="320040"/>
          </a:xfrm>
          <a:prstGeom prst="rect">
            <a:avLst/>
          </a:prstGeom>
          <a:blipFill rotWithShape="1">
            <a:blip r:embed="rId9">
              <a:alphaModFix/>
            </a:blip>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25;p3"/>
          <p:cNvSpPr txBox="1"/>
          <p:nvPr/>
        </p:nvSpPr>
        <p:spPr>
          <a:xfrm>
            <a:off x="1492771" y="6492875"/>
            <a:ext cx="9653086" cy="307777"/>
          </a:xfrm>
          <a:prstGeom prst="rect">
            <a:avLst/>
          </a:prstGeom>
          <a:noFill/>
          <a:ln>
            <a:noFill/>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chemeClr val="lt1"/>
                </a:solidFill>
                <a:latin typeface="Calibri"/>
                <a:ea typeface="Calibri"/>
                <a:cs typeface="Calibri"/>
                <a:sym typeface="Calibri"/>
              </a:rPr>
              <a:t>National Centers for Environmental Information     |     U.S. Naval Meteorology and Oceanography Command</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400" b="0" i="0" u="none" strike="noStrike" cap="none" dirty="0">
              <a:solidFill>
                <a:schemeClr val="lt1"/>
              </a:solidFill>
              <a:latin typeface="Calibri"/>
              <a:ea typeface="Calibri"/>
              <a:cs typeface="Calibri"/>
              <a:sym typeface="Calibri"/>
            </a:endParaRPr>
          </a:p>
        </p:txBody>
      </p:sp>
      <p:pic>
        <p:nvPicPr>
          <p:cNvPr id="15" name="Picture 14">
            <a:extLst>
              <a:ext uri="{FF2B5EF4-FFF2-40B4-BE49-F238E27FC236}">
                <a16:creationId xmlns:a16="http://schemas.microsoft.com/office/drawing/2014/main" id="{926B2E8F-541A-32C9-0D0E-32D85E9270D0}"/>
              </a:ext>
            </a:extLst>
          </p:cNvPr>
          <p:cNvPicPr>
            <a:picLocks noChangeAspect="1"/>
          </p:cNvPicPr>
          <p:nvPr userDrawn="1"/>
        </p:nvPicPr>
        <p:blipFill>
          <a:blip r:embed="rId10"/>
          <a:stretch>
            <a:fillRect/>
          </a:stretch>
        </p:blipFill>
        <p:spPr>
          <a:xfrm>
            <a:off x="184491" y="6168188"/>
            <a:ext cx="604325" cy="604325"/>
          </a:xfrm>
          <a:prstGeom prst="rect">
            <a:avLst/>
          </a:prstGeom>
        </p:spPr>
      </p:pic>
      <p:pic>
        <p:nvPicPr>
          <p:cNvPr id="2" name="Picture 1">
            <a:extLst>
              <a:ext uri="{FF2B5EF4-FFF2-40B4-BE49-F238E27FC236}">
                <a16:creationId xmlns:a16="http://schemas.microsoft.com/office/drawing/2014/main" id="{31EB8678-57EF-9609-A335-75B77440BD22}"/>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703955" y="6034062"/>
            <a:ext cx="899274" cy="899274"/>
          </a:xfrm>
          <a:prstGeom prst="rect">
            <a:avLst/>
          </a:prstGeom>
          <a:effectLst/>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3"/>
        <p:cNvGrpSpPr/>
        <p:nvPr/>
      </p:nvGrpSpPr>
      <p:grpSpPr>
        <a:xfrm>
          <a:off x="0" y="0"/>
          <a:ext cx="0" cy="0"/>
          <a:chOff x="0" y="0"/>
          <a:chExt cx="0" cy="0"/>
        </a:xfrm>
      </p:grpSpPr>
      <p:grpSp>
        <p:nvGrpSpPr>
          <p:cNvPr id="3" name="Group 2">
            <a:extLst>
              <a:ext uri="{FF2B5EF4-FFF2-40B4-BE49-F238E27FC236}">
                <a16:creationId xmlns:a16="http://schemas.microsoft.com/office/drawing/2014/main" id="{4C353137-FA22-E9E4-F852-5FEA2BA389F4}"/>
              </a:ext>
            </a:extLst>
          </p:cNvPr>
          <p:cNvGrpSpPr/>
          <p:nvPr userDrawn="1"/>
        </p:nvGrpSpPr>
        <p:grpSpPr>
          <a:xfrm>
            <a:off x="0" y="0"/>
            <a:ext cx="1443840" cy="708025"/>
            <a:chOff x="0" y="0"/>
            <a:chExt cx="1443840" cy="708025"/>
          </a:xfrm>
        </p:grpSpPr>
        <p:sp>
          <p:nvSpPr>
            <p:cNvPr id="17" name="Google Shape;62;p8">
              <a:extLst>
                <a:ext uri="{FF2B5EF4-FFF2-40B4-BE49-F238E27FC236}">
                  <a16:creationId xmlns:a16="http://schemas.microsoft.com/office/drawing/2014/main" id="{A1A60374-2237-8431-CF99-645613659F33}"/>
                </a:ext>
              </a:extLst>
            </p:cNvPr>
            <p:cNvSpPr/>
            <p:nvPr/>
          </p:nvSpPr>
          <p:spPr>
            <a:xfrm>
              <a:off x="884816" y="0"/>
              <a:ext cx="559024" cy="708025"/>
            </a:xfrm>
            <a:prstGeom prst="rect">
              <a:avLst/>
            </a:prstGeom>
            <a:solidFill>
              <a:srgbClr val="002F87">
                <a:alpha val="2023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 name="Group 1">
              <a:extLst>
                <a:ext uri="{FF2B5EF4-FFF2-40B4-BE49-F238E27FC236}">
                  <a16:creationId xmlns:a16="http://schemas.microsoft.com/office/drawing/2014/main" id="{E30FDFDF-11CC-3196-5E7E-2EE89288BB4C}"/>
                </a:ext>
              </a:extLst>
            </p:cNvPr>
            <p:cNvGrpSpPr/>
            <p:nvPr userDrawn="1"/>
          </p:nvGrpSpPr>
          <p:grpSpPr>
            <a:xfrm>
              <a:off x="0" y="0"/>
              <a:ext cx="1443840" cy="708025"/>
              <a:chOff x="0" y="0"/>
              <a:chExt cx="1443840" cy="708025"/>
            </a:xfrm>
          </p:grpSpPr>
          <p:sp>
            <p:nvSpPr>
              <p:cNvPr id="16" name="Google Shape;61;p8">
                <a:extLst>
                  <a:ext uri="{FF2B5EF4-FFF2-40B4-BE49-F238E27FC236}">
                    <a16:creationId xmlns:a16="http://schemas.microsoft.com/office/drawing/2014/main" id="{CD7D060B-28E2-18BD-EA11-C8E0061B0B47}"/>
                  </a:ext>
                </a:extLst>
              </p:cNvPr>
              <p:cNvSpPr/>
              <p:nvPr/>
            </p:nvSpPr>
            <p:spPr>
              <a:xfrm>
                <a:off x="0" y="1"/>
                <a:ext cx="923667" cy="708024"/>
              </a:xfrm>
              <a:prstGeom prst="rect">
                <a:avLst/>
              </a:prstGeom>
              <a:solidFill>
                <a:srgbClr val="002F8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2F87"/>
                  </a:solidFill>
                  <a:latin typeface="Calibri"/>
                  <a:ea typeface="Calibri"/>
                  <a:cs typeface="Calibri"/>
                  <a:sym typeface="Calibri"/>
                </a:endParaRPr>
              </a:p>
            </p:txBody>
          </p:sp>
          <p:sp>
            <p:nvSpPr>
              <p:cNvPr id="18" name="Parallelogram 3">
                <a:extLst>
                  <a:ext uri="{FF2B5EF4-FFF2-40B4-BE49-F238E27FC236}">
                    <a16:creationId xmlns:a16="http://schemas.microsoft.com/office/drawing/2014/main" id="{BFB17365-F0AC-D555-8E76-03B62802F791}"/>
                  </a:ext>
                </a:extLst>
              </p:cNvPr>
              <p:cNvSpPr/>
              <p:nvPr userDrawn="1"/>
            </p:nvSpPr>
            <p:spPr>
              <a:xfrm flipH="1">
                <a:off x="232557" y="0"/>
                <a:ext cx="1211283" cy="708025"/>
              </a:xfrm>
              <a:custGeom>
                <a:avLst/>
                <a:gdLst>
                  <a:gd name="connsiteX0" fmla="*/ 0 w 2396691"/>
                  <a:gd name="connsiteY0" fmla="*/ 2305939 h 2305939"/>
                  <a:gd name="connsiteX1" fmla="*/ 576485 w 2396691"/>
                  <a:gd name="connsiteY1" fmla="*/ 0 h 2305939"/>
                  <a:gd name="connsiteX2" fmla="*/ 2396691 w 2396691"/>
                  <a:gd name="connsiteY2" fmla="*/ 0 h 2305939"/>
                  <a:gd name="connsiteX3" fmla="*/ 1820206 w 2396691"/>
                  <a:gd name="connsiteY3" fmla="*/ 2305939 h 2305939"/>
                  <a:gd name="connsiteX4" fmla="*/ 0 w 2396691"/>
                  <a:gd name="connsiteY4" fmla="*/ 2305939 h 2305939"/>
                  <a:gd name="connsiteX0" fmla="*/ 0 w 2829828"/>
                  <a:gd name="connsiteY0" fmla="*/ 2305939 h 2305939"/>
                  <a:gd name="connsiteX1" fmla="*/ 1009622 w 2829828"/>
                  <a:gd name="connsiteY1" fmla="*/ 0 h 2305939"/>
                  <a:gd name="connsiteX2" fmla="*/ 2829828 w 2829828"/>
                  <a:gd name="connsiteY2" fmla="*/ 0 h 2305939"/>
                  <a:gd name="connsiteX3" fmla="*/ 2253343 w 2829828"/>
                  <a:gd name="connsiteY3" fmla="*/ 2305939 h 2305939"/>
                  <a:gd name="connsiteX4" fmla="*/ 0 w 2829828"/>
                  <a:gd name="connsiteY4" fmla="*/ 2305939 h 2305939"/>
                  <a:gd name="connsiteX0" fmla="*/ 0 w 2829828"/>
                  <a:gd name="connsiteY0" fmla="*/ 2305939 h 2305939"/>
                  <a:gd name="connsiteX1" fmla="*/ 1009622 w 2829828"/>
                  <a:gd name="connsiteY1" fmla="*/ 0 h 2305939"/>
                  <a:gd name="connsiteX2" fmla="*/ 2829828 w 2829828"/>
                  <a:gd name="connsiteY2" fmla="*/ 0 h 2305939"/>
                  <a:gd name="connsiteX3" fmla="*/ 1887583 w 2829828"/>
                  <a:gd name="connsiteY3" fmla="*/ 2286689 h 2305939"/>
                  <a:gd name="connsiteX4" fmla="*/ 0 w 2829828"/>
                  <a:gd name="connsiteY4" fmla="*/ 2305939 h 2305939"/>
                  <a:gd name="connsiteX0" fmla="*/ 0 w 2829828"/>
                  <a:gd name="connsiteY0" fmla="*/ 2296313 h 2296313"/>
                  <a:gd name="connsiteX1" fmla="*/ 1009622 w 2829828"/>
                  <a:gd name="connsiteY1" fmla="*/ 0 h 2296313"/>
                  <a:gd name="connsiteX2" fmla="*/ 2829828 w 2829828"/>
                  <a:gd name="connsiteY2" fmla="*/ 0 h 2296313"/>
                  <a:gd name="connsiteX3" fmla="*/ 1887583 w 2829828"/>
                  <a:gd name="connsiteY3" fmla="*/ 2286689 h 2296313"/>
                  <a:gd name="connsiteX4" fmla="*/ 0 w 2829828"/>
                  <a:gd name="connsiteY4" fmla="*/ 2296313 h 2296313"/>
                  <a:gd name="connsiteX0" fmla="*/ 0 w 2829828"/>
                  <a:gd name="connsiteY0" fmla="*/ 2296313 h 2296313"/>
                  <a:gd name="connsiteX1" fmla="*/ 913369 w 2829828"/>
                  <a:gd name="connsiteY1" fmla="*/ 9625 h 2296313"/>
                  <a:gd name="connsiteX2" fmla="*/ 2829828 w 2829828"/>
                  <a:gd name="connsiteY2" fmla="*/ 0 h 2296313"/>
                  <a:gd name="connsiteX3" fmla="*/ 1887583 w 2829828"/>
                  <a:gd name="connsiteY3" fmla="*/ 2286689 h 2296313"/>
                  <a:gd name="connsiteX4" fmla="*/ 0 w 2829828"/>
                  <a:gd name="connsiteY4" fmla="*/ 2296313 h 2296313"/>
                  <a:gd name="connsiteX0" fmla="*/ 0 w 2733575"/>
                  <a:gd name="connsiteY0" fmla="*/ 2286688 h 2286688"/>
                  <a:gd name="connsiteX1" fmla="*/ 913369 w 2733575"/>
                  <a:gd name="connsiteY1" fmla="*/ 0 h 2286688"/>
                  <a:gd name="connsiteX2" fmla="*/ 2733575 w 2733575"/>
                  <a:gd name="connsiteY2" fmla="*/ 0 h 2286688"/>
                  <a:gd name="connsiteX3" fmla="*/ 1887583 w 2733575"/>
                  <a:gd name="connsiteY3" fmla="*/ 2277064 h 2286688"/>
                  <a:gd name="connsiteX4" fmla="*/ 0 w 2733575"/>
                  <a:gd name="connsiteY4" fmla="*/ 2286688 h 2286688"/>
                  <a:gd name="connsiteX0" fmla="*/ 0 w 2781701"/>
                  <a:gd name="connsiteY0" fmla="*/ 2296313 h 2296313"/>
                  <a:gd name="connsiteX1" fmla="*/ 961495 w 2781701"/>
                  <a:gd name="connsiteY1" fmla="*/ 0 h 2296313"/>
                  <a:gd name="connsiteX2" fmla="*/ 2781701 w 2781701"/>
                  <a:gd name="connsiteY2" fmla="*/ 0 h 2296313"/>
                  <a:gd name="connsiteX3" fmla="*/ 1935709 w 2781701"/>
                  <a:gd name="connsiteY3" fmla="*/ 2277064 h 2296313"/>
                  <a:gd name="connsiteX4" fmla="*/ 0 w 2781701"/>
                  <a:gd name="connsiteY4" fmla="*/ 2296313 h 2296313"/>
                  <a:gd name="connsiteX0" fmla="*/ 0 w 2781701"/>
                  <a:gd name="connsiteY0" fmla="*/ 2296313 h 2296313"/>
                  <a:gd name="connsiteX1" fmla="*/ 961495 w 2781701"/>
                  <a:gd name="connsiteY1" fmla="*/ 0 h 2296313"/>
                  <a:gd name="connsiteX2" fmla="*/ 2781701 w 2781701"/>
                  <a:gd name="connsiteY2" fmla="*/ 0 h 2296313"/>
                  <a:gd name="connsiteX3" fmla="*/ 1877957 w 2781701"/>
                  <a:gd name="connsiteY3" fmla="*/ 2286690 h 2296313"/>
                  <a:gd name="connsiteX4" fmla="*/ 0 w 2781701"/>
                  <a:gd name="connsiteY4" fmla="*/ 2296313 h 22963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81701" h="2296313">
                    <a:moveTo>
                      <a:pt x="0" y="2296313"/>
                    </a:moveTo>
                    <a:lnTo>
                      <a:pt x="961495" y="0"/>
                    </a:lnTo>
                    <a:lnTo>
                      <a:pt x="2781701" y="0"/>
                    </a:lnTo>
                    <a:lnTo>
                      <a:pt x="1877957" y="2286690"/>
                    </a:lnTo>
                    <a:lnTo>
                      <a:pt x="0" y="2296313"/>
                    </a:lnTo>
                    <a:close/>
                  </a:path>
                </a:pathLst>
              </a:custGeom>
              <a:solidFill>
                <a:srgbClr val="0284CA">
                  <a:alpha val="4992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4" name="Rectangle 8">
            <a:extLst>
              <a:ext uri="{FF2B5EF4-FFF2-40B4-BE49-F238E27FC236}">
                <a16:creationId xmlns:a16="http://schemas.microsoft.com/office/drawing/2014/main" id="{C5B42227-E00D-719F-C242-B56784D74071}"/>
              </a:ext>
            </a:extLst>
          </p:cNvPr>
          <p:cNvSpPr/>
          <p:nvPr userDrawn="1"/>
        </p:nvSpPr>
        <p:spPr>
          <a:xfrm>
            <a:off x="0" y="6381175"/>
            <a:ext cx="11656200" cy="477025"/>
          </a:xfrm>
          <a:custGeom>
            <a:avLst/>
            <a:gdLst>
              <a:gd name="connsiteX0" fmla="*/ 0 w 11776909"/>
              <a:gd name="connsiteY0" fmla="*/ 0 h 527538"/>
              <a:gd name="connsiteX1" fmla="*/ 11776909 w 11776909"/>
              <a:gd name="connsiteY1" fmla="*/ 0 h 527538"/>
              <a:gd name="connsiteX2" fmla="*/ 11776909 w 11776909"/>
              <a:gd name="connsiteY2" fmla="*/ 527538 h 527538"/>
              <a:gd name="connsiteX3" fmla="*/ 0 w 11776909"/>
              <a:gd name="connsiteY3" fmla="*/ 527538 h 527538"/>
              <a:gd name="connsiteX4" fmla="*/ 0 w 11776909"/>
              <a:gd name="connsiteY4" fmla="*/ 0 h 527538"/>
              <a:gd name="connsiteX0" fmla="*/ 0 w 11776909"/>
              <a:gd name="connsiteY0" fmla="*/ 0 h 527538"/>
              <a:gd name="connsiteX1" fmla="*/ 11425217 w 11776909"/>
              <a:gd name="connsiteY1" fmla="*/ 0 h 527538"/>
              <a:gd name="connsiteX2" fmla="*/ 11776909 w 11776909"/>
              <a:gd name="connsiteY2" fmla="*/ 527538 h 527538"/>
              <a:gd name="connsiteX3" fmla="*/ 0 w 11776909"/>
              <a:gd name="connsiteY3" fmla="*/ 527538 h 527538"/>
              <a:gd name="connsiteX4" fmla="*/ 0 w 11776909"/>
              <a:gd name="connsiteY4" fmla="*/ 0 h 527538"/>
              <a:gd name="connsiteX0" fmla="*/ 0 w 11776909"/>
              <a:gd name="connsiteY0" fmla="*/ 0 h 527538"/>
              <a:gd name="connsiteX1" fmla="*/ 11567351 w 11776909"/>
              <a:gd name="connsiteY1" fmla="*/ 13291 h 527538"/>
              <a:gd name="connsiteX2" fmla="*/ 11776909 w 11776909"/>
              <a:gd name="connsiteY2" fmla="*/ 527538 h 527538"/>
              <a:gd name="connsiteX3" fmla="*/ 0 w 11776909"/>
              <a:gd name="connsiteY3" fmla="*/ 527538 h 527538"/>
              <a:gd name="connsiteX4" fmla="*/ 0 w 11776909"/>
              <a:gd name="connsiteY4" fmla="*/ 0 h 527538"/>
              <a:gd name="connsiteX0" fmla="*/ 0 w 11776909"/>
              <a:gd name="connsiteY0" fmla="*/ 26582 h 554120"/>
              <a:gd name="connsiteX1" fmla="*/ 11555507 w 11776909"/>
              <a:gd name="connsiteY1" fmla="*/ 0 h 554120"/>
              <a:gd name="connsiteX2" fmla="*/ 11776909 w 11776909"/>
              <a:gd name="connsiteY2" fmla="*/ 554120 h 554120"/>
              <a:gd name="connsiteX3" fmla="*/ 0 w 11776909"/>
              <a:gd name="connsiteY3" fmla="*/ 554120 h 554120"/>
              <a:gd name="connsiteX4" fmla="*/ 0 w 11776909"/>
              <a:gd name="connsiteY4" fmla="*/ 26582 h 554120"/>
              <a:gd name="connsiteX0" fmla="*/ 0 w 11776909"/>
              <a:gd name="connsiteY0" fmla="*/ 0 h 527538"/>
              <a:gd name="connsiteX1" fmla="*/ 11555507 w 11776909"/>
              <a:gd name="connsiteY1" fmla="*/ 26582 h 527538"/>
              <a:gd name="connsiteX2" fmla="*/ 11776909 w 11776909"/>
              <a:gd name="connsiteY2" fmla="*/ 527538 h 527538"/>
              <a:gd name="connsiteX3" fmla="*/ 0 w 11776909"/>
              <a:gd name="connsiteY3" fmla="*/ 527538 h 527538"/>
              <a:gd name="connsiteX4" fmla="*/ 0 w 11776909"/>
              <a:gd name="connsiteY4" fmla="*/ 0 h 527538"/>
              <a:gd name="connsiteX0" fmla="*/ 0 w 11776909"/>
              <a:gd name="connsiteY0" fmla="*/ 39873 h 567411"/>
              <a:gd name="connsiteX1" fmla="*/ 11543662 w 11776909"/>
              <a:gd name="connsiteY1" fmla="*/ 0 h 567411"/>
              <a:gd name="connsiteX2" fmla="*/ 11776909 w 11776909"/>
              <a:gd name="connsiteY2" fmla="*/ 567411 h 567411"/>
              <a:gd name="connsiteX3" fmla="*/ 0 w 11776909"/>
              <a:gd name="connsiteY3" fmla="*/ 567411 h 567411"/>
              <a:gd name="connsiteX4" fmla="*/ 0 w 11776909"/>
              <a:gd name="connsiteY4" fmla="*/ 39873 h 567411"/>
              <a:gd name="connsiteX0" fmla="*/ 0 w 11776909"/>
              <a:gd name="connsiteY0" fmla="*/ 0 h 527538"/>
              <a:gd name="connsiteX1" fmla="*/ 11555507 w 11776909"/>
              <a:gd name="connsiteY1" fmla="*/ 13291 h 527538"/>
              <a:gd name="connsiteX2" fmla="*/ 11776909 w 11776909"/>
              <a:gd name="connsiteY2" fmla="*/ 527538 h 527538"/>
              <a:gd name="connsiteX3" fmla="*/ 0 w 11776909"/>
              <a:gd name="connsiteY3" fmla="*/ 527538 h 527538"/>
              <a:gd name="connsiteX4" fmla="*/ 0 w 11776909"/>
              <a:gd name="connsiteY4" fmla="*/ 0 h 527538"/>
              <a:gd name="connsiteX0" fmla="*/ 0 w 11776909"/>
              <a:gd name="connsiteY0" fmla="*/ 13291 h 540829"/>
              <a:gd name="connsiteX1" fmla="*/ 11543662 w 11776909"/>
              <a:gd name="connsiteY1" fmla="*/ 0 h 540829"/>
              <a:gd name="connsiteX2" fmla="*/ 11776909 w 11776909"/>
              <a:gd name="connsiteY2" fmla="*/ 540829 h 540829"/>
              <a:gd name="connsiteX3" fmla="*/ 0 w 11776909"/>
              <a:gd name="connsiteY3" fmla="*/ 540829 h 540829"/>
              <a:gd name="connsiteX4" fmla="*/ 0 w 11776909"/>
              <a:gd name="connsiteY4" fmla="*/ 13291 h 540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76909" h="540829">
                <a:moveTo>
                  <a:pt x="0" y="13291"/>
                </a:moveTo>
                <a:lnTo>
                  <a:pt x="11543662" y="0"/>
                </a:lnTo>
                <a:lnTo>
                  <a:pt x="11776909" y="540829"/>
                </a:lnTo>
                <a:lnTo>
                  <a:pt x="0" y="540829"/>
                </a:lnTo>
                <a:lnTo>
                  <a:pt x="0" y="13291"/>
                </a:lnTo>
                <a:close/>
              </a:path>
            </a:pathLst>
          </a:custGeom>
          <a:solidFill>
            <a:srgbClr val="0284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Google Shape;54;p11"/>
          <p:cNvSpPr txBox="1">
            <a:spLocks noGrp="1"/>
          </p:cNvSpPr>
          <p:nvPr>
            <p:ph type="title"/>
          </p:nvPr>
        </p:nvSpPr>
        <p:spPr>
          <a:xfrm>
            <a:off x="1435324" y="64947"/>
            <a:ext cx="9833008" cy="81878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rgbClr val="1E4E79"/>
              </a:buClr>
              <a:buSzPts val="4400"/>
              <a:buFont typeface="Calibri"/>
              <a:buNone/>
              <a:defRPr sz="4400" b="1" i="0" u="none" strike="noStrike" cap="none">
                <a:solidFill>
                  <a:srgbClr val="1E4E79"/>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55" name="Google Shape;55;p11"/>
          <p:cNvSpPr txBox="1">
            <a:spLocks noGrp="1"/>
          </p:cNvSpPr>
          <p:nvPr>
            <p:ph type="body" idx="1"/>
          </p:nvPr>
        </p:nvSpPr>
        <p:spPr>
          <a:xfrm>
            <a:off x="838200" y="1016035"/>
            <a:ext cx="10515600" cy="516092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NTR"/>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Courier New"/>
              <a:buChar char="o"/>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7" name="Google Shape;57;p11"/>
          <p:cNvSpPr txBox="1"/>
          <p:nvPr/>
        </p:nvSpPr>
        <p:spPr>
          <a:xfrm>
            <a:off x="11361819" y="6443000"/>
            <a:ext cx="830181"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400" b="0" i="0" u="none" strike="noStrike" cap="none">
                <a:solidFill>
                  <a:srgbClr val="CCCCCC"/>
                </a:solidFill>
                <a:latin typeface="Calibri"/>
                <a:ea typeface="Calibri"/>
                <a:cs typeface="Calibri"/>
                <a:sym typeface="Calibri"/>
              </a:rPr>
              <a:t>‹#›</a:t>
            </a:fld>
            <a:endParaRPr sz="1400" b="0" i="0" u="none" strike="noStrike" cap="none">
              <a:solidFill>
                <a:srgbClr val="CCCCCC"/>
              </a:solidFill>
              <a:latin typeface="Calibri"/>
              <a:ea typeface="Calibri"/>
              <a:cs typeface="Calibri"/>
              <a:sym typeface="Calibri"/>
            </a:endParaRPr>
          </a:p>
        </p:txBody>
      </p:sp>
      <p:sp>
        <p:nvSpPr>
          <p:cNvPr id="4" name="Google Shape;25;p3">
            <a:extLst>
              <a:ext uri="{FF2B5EF4-FFF2-40B4-BE49-F238E27FC236}">
                <a16:creationId xmlns:a16="http://schemas.microsoft.com/office/drawing/2014/main" id="{744F782F-8828-3969-3DCA-101F325709A4}"/>
              </a:ext>
            </a:extLst>
          </p:cNvPr>
          <p:cNvSpPr txBox="1"/>
          <p:nvPr userDrawn="1"/>
        </p:nvSpPr>
        <p:spPr>
          <a:xfrm>
            <a:off x="1493967" y="6485276"/>
            <a:ext cx="9542628" cy="307777"/>
          </a:xfrm>
          <a:prstGeom prst="rect">
            <a:avLst/>
          </a:prstGeom>
          <a:noFill/>
          <a:ln>
            <a:noFill/>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dirty="0">
                <a:solidFill>
                  <a:schemeClr val="lt1"/>
                </a:solidFill>
                <a:latin typeface="Calibri"/>
                <a:ea typeface="Calibri"/>
                <a:cs typeface="Calibri"/>
                <a:sym typeface="Calibri"/>
              </a:rPr>
              <a:t>National Centers for Environmental Information     |     U.S Naval Meteorology and Oceanography Command</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400" b="0" i="0" u="none" strike="noStrike" cap="none" dirty="0">
              <a:solidFill>
                <a:schemeClr val="lt1"/>
              </a:solidFill>
              <a:latin typeface="Calibri"/>
              <a:ea typeface="Calibri"/>
              <a:cs typeface="Calibri"/>
              <a:sym typeface="Calibri"/>
            </a:endParaRPr>
          </a:p>
        </p:txBody>
      </p:sp>
      <p:pic>
        <p:nvPicPr>
          <p:cNvPr id="5" name="Picture 4">
            <a:extLst>
              <a:ext uri="{FF2B5EF4-FFF2-40B4-BE49-F238E27FC236}">
                <a16:creationId xmlns:a16="http://schemas.microsoft.com/office/drawing/2014/main" id="{BE4520F7-2442-B93F-4FE5-5E47A826B061}"/>
              </a:ext>
            </a:extLst>
          </p:cNvPr>
          <p:cNvPicPr>
            <a:picLocks noChangeAspect="1"/>
          </p:cNvPicPr>
          <p:nvPr userDrawn="1"/>
        </p:nvPicPr>
        <p:blipFill>
          <a:blip r:embed="rId4"/>
          <a:stretch>
            <a:fillRect/>
          </a:stretch>
        </p:blipFill>
        <p:spPr>
          <a:xfrm>
            <a:off x="184491" y="6168188"/>
            <a:ext cx="604325" cy="604325"/>
          </a:xfrm>
          <a:prstGeom prst="rect">
            <a:avLst/>
          </a:prstGeom>
        </p:spPr>
      </p:pic>
      <p:pic>
        <p:nvPicPr>
          <p:cNvPr id="6" name="Picture 5">
            <a:extLst>
              <a:ext uri="{FF2B5EF4-FFF2-40B4-BE49-F238E27FC236}">
                <a16:creationId xmlns:a16="http://schemas.microsoft.com/office/drawing/2014/main" id="{00C7A227-7613-46E2-C4CA-6C78B94278EC}"/>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03955" y="6034062"/>
            <a:ext cx="899274" cy="899274"/>
          </a:xfrm>
          <a:prstGeom prst="rect">
            <a:avLst/>
          </a:prstGeom>
          <a:effectLst/>
        </p:spPr>
      </p:pic>
    </p:spTree>
  </p:cSld>
  <p:clrMap bg1="lt1" tx1="dk1" bg2="dk2" tx2="lt2" accent1="accent1" accent2="accent2" accent3="accent3" accent4="accent4" accent5="accent5" accent6="accent6" hlink="hlink" folHlink="folHlink"/>
  <p:sldLayoutIdLst>
    <p:sldLayoutId id="2147483656" r:id="rId1"/>
    <p:sldLayoutId id="2147483657"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2F87"/>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5.png"/><Relationship Id="rId17" Type="http://schemas.openxmlformats.org/officeDocument/2006/relationships/image" Target="../media/image18.png"/><Relationship Id="rId2" Type="http://schemas.openxmlformats.org/officeDocument/2006/relationships/notesSlide" Target="../notesSlides/notesSlide4.xml"/><Relationship Id="rId16" Type="http://schemas.microsoft.com/office/2007/relationships/hdphoto" Target="../media/hdphoto4.wdp"/><Relationship Id="rId1" Type="http://schemas.openxmlformats.org/officeDocument/2006/relationships/slideLayout" Target="../slideLayouts/slideLayout2.xml"/><Relationship Id="rId6" Type="http://schemas.microsoft.com/office/2007/relationships/hdphoto" Target="../media/hdphoto2.wdp"/><Relationship Id="rId11" Type="http://schemas.openxmlformats.org/officeDocument/2006/relationships/image" Target="../media/image14.png"/><Relationship Id="rId5" Type="http://schemas.openxmlformats.org/officeDocument/2006/relationships/image" Target="../media/image9.png"/><Relationship Id="rId15" Type="http://schemas.openxmlformats.org/officeDocument/2006/relationships/image" Target="../media/image17.png"/><Relationship Id="rId10" Type="http://schemas.openxmlformats.org/officeDocument/2006/relationships/image" Target="../media/image13.png"/><Relationship Id="rId4" Type="http://schemas.microsoft.com/office/2007/relationships/hdphoto" Target="../media/hdphoto1.wdp"/><Relationship Id="rId9" Type="http://schemas.openxmlformats.org/officeDocument/2006/relationships/image" Target="../media/image12.png"/><Relationship Id="rId14" Type="http://schemas.microsoft.com/office/2007/relationships/hdphoto" Target="../media/hdphoto3.wdp"/></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20.png"/><Relationship Id="rId4" Type="http://schemas.microsoft.com/office/2007/relationships/hdphoto" Target="../media/hdphoto5.wdp"/></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6.wdp"/><Relationship Id="rId7" Type="http://schemas.openxmlformats.org/officeDocument/2006/relationships/image" Target="../media/image33.png"/><Relationship Id="rId2" Type="http://schemas.openxmlformats.org/officeDocument/2006/relationships/image" Target="../media/image29.png"/><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jfif"/></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JPG"/><Relationship Id="rId1" Type="http://schemas.openxmlformats.org/officeDocument/2006/relationships/slideLayout" Target="../slideLayouts/slideLayout6.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5"/>
          <p:cNvSpPr txBox="1"/>
          <p:nvPr/>
        </p:nvSpPr>
        <p:spPr>
          <a:xfrm>
            <a:off x="5124816" y="2718797"/>
            <a:ext cx="6803925" cy="2462111"/>
          </a:xfrm>
          <a:prstGeom prst="rect">
            <a:avLst/>
          </a:prstGeom>
          <a:noFill/>
          <a:ln>
            <a:noFill/>
          </a:ln>
        </p:spPr>
        <p:txBody>
          <a:bodyPr spcFirstLastPara="1" wrap="square" lIns="91425" tIns="45700" rIns="91425" bIns="45700" anchor="b" anchorCtr="0">
            <a:noAutofit/>
          </a:bodyPr>
          <a:lstStyle/>
          <a:p>
            <a:pPr lvl="0">
              <a:lnSpc>
                <a:spcPct val="90000"/>
              </a:lnSpc>
              <a:buClr>
                <a:srgbClr val="2F5496"/>
              </a:buClr>
              <a:buSzPts val="5000"/>
            </a:pPr>
            <a:r>
              <a:rPr lang="en-US" sz="5000" dirty="0">
                <a:solidFill>
                  <a:srgbClr val="002F87"/>
                </a:solidFill>
                <a:latin typeface="Calibri"/>
                <a:ea typeface="Calibri"/>
                <a:cs typeface="Calibri"/>
                <a:sym typeface="Calibri"/>
              </a:rPr>
              <a:t>UxS Data Interoperability: Establishing Foundational Guidelines for Metadata and Standardization</a:t>
            </a:r>
            <a:endParaRPr sz="1400" b="0" i="0" u="none" strike="noStrike" cap="none" dirty="0">
              <a:solidFill>
                <a:srgbClr val="002F87"/>
              </a:solidFill>
              <a:latin typeface="Calibri"/>
              <a:ea typeface="Calibri"/>
              <a:cs typeface="Calibri"/>
              <a:sym typeface="Calibri"/>
            </a:endParaRPr>
          </a:p>
        </p:txBody>
      </p:sp>
      <p:sp>
        <p:nvSpPr>
          <p:cNvPr id="86" name="Google Shape;86;p15"/>
          <p:cNvSpPr txBox="1"/>
          <p:nvPr/>
        </p:nvSpPr>
        <p:spPr>
          <a:xfrm>
            <a:off x="227163" y="0"/>
            <a:ext cx="2053426" cy="573721"/>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lt1"/>
              </a:buClr>
              <a:buSzPts val="1400"/>
              <a:buFont typeface="Arial"/>
              <a:buNone/>
            </a:pPr>
            <a:fld id="{9708F53B-A165-4E33-92C8-7489D31C6F49}" type="datetime3">
              <a:rPr lang="en-US" sz="2000" b="0" i="0" u="none" strike="noStrike" cap="none" smtClean="0">
                <a:solidFill>
                  <a:schemeClr val="lt1"/>
                </a:solidFill>
                <a:latin typeface="Calibri"/>
                <a:ea typeface="Calibri"/>
                <a:cs typeface="Calibri"/>
                <a:sym typeface="Calibri"/>
              </a:rPr>
              <a:t>13 September 2023</a:t>
            </a:fld>
            <a:endParaRPr sz="1400" b="0" i="0" u="none" strike="noStrike" cap="none" dirty="0">
              <a:solidFill>
                <a:srgbClr val="000000"/>
              </a:solidFill>
              <a:latin typeface="Calibri"/>
              <a:ea typeface="Calibri"/>
              <a:cs typeface="Calibri"/>
              <a:sym typeface="Calibri"/>
            </a:endParaRPr>
          </a:p>
        </p:txBody>
      </p:sp>
      <p:sp>
        <p:nvSpPr>
          <p:cNvPr id="87" name="Google Shape;87;p15"/>
          <p:cNvSpPr txBox="1"/>
          <p:nvPr/>
        </p:nvSpPr>
        <p:spPr>
          <a:xfrm>
            <a:off x="5124816" y="5315399"/>
            <a:ext cx="6716664" cy="83099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200" b="0" i="0" u="none" strike="noStrike" cap="none" dirty="0">
                <a:solidFill>
                  <a:srgbClr val="002F87"/>
                </a:solidFill>
                <a:latin typeface="Calibri"/>
                <a:ea typeface="Calibri"/>
                <a:cs typeface="Calibri"/>
                <a:sym typeface="Calibri"/>
              </a:rPr>
              <a:t>Dr. Andrew Evans, </a:t>
            </a:r>
            <a:r>
              <a:rPr lang="en-US" sz="2200" b="0" i="1" u="none" strike="noStrike" cap="none" dirty="0">
                <a:solidFill>
                  <a:srgbClr val="002F87"/>
                </a:solidFill>
                <a:latin typeface="Calibri"/>
                <a:ea typeface="Calibri"/>
                <a:cs typeface="Calibri"/>
                <a:sym typeface="Calibri"/>
              </a:rPr>
              <a:t>Geospatial Data Scientist, </a:t>
            </a:r>
            <a:r>
              <a:rPr lang="en-US" sz="2200" b="0" u="none" strike="noStrike" cap="none" dirty="0">
                <a:solidFill>
                  <a:srgbClr val="002F87"/>
                </a:solidFill>
                <a:latin typeface="Calibri"/>
                <a:ea typeface="Calibri"/>
                <a:cs typeface="Calibri"/>
                <a:sym typeface="Calibri"/>
              </a:rPr>
              <a:t>U.S. Naval Meteorology and Oceanography Command</a:t>
            </a:r>
          </a:p>
          <a:p>
            <a:pPr marL="0" marR="0" lvl="0" indent="0" algn="l" rtl="0">
              <a:lnSpc>
                <a:spcPct val="100000"/>
              </a:lnSpc>
              <a:spcBef>
                <a:spcPts val="0"/>
              </a:spcBef>
              <a:spcAft>
                <a:spcPts val="0"/>
              </a:spcAft>
              <a:buClr>
                <a:srgbClr val="000000"/>
              </a:buClr>
              <a:buSzPts val="2400"/>
              <a:buFont typeface="Arial"/>
              <a:buNone/>
            </a:pPr>
            <a:r>
              <a:rPr lang="en-US" sz="2200" u="none" strike="noStrike" cap="none" dirty="0">
                <a:solidFill>
                  <a:srgbClr val="002F87"/>
                </a:solidFill>
                <a:latin typeface="Calibri"/>
                <a:ea typeface="Calibri"/>
                <a:cs typeface="Calibri"/>
                <a:sym typeface="Calibri"/>
              </a:rPr>
              <a:t>Katharine Weathers, </a:t>
            </a:r>
            <a:r>
              <a:rPr lang="en-US" sz="2200" i="1" dirty="0">
                <a:solidFill>
                  <a:srgbClr val="002F87"/>
                </a:solidFill>
                <a:latin typeface="Calibri"/>
                <a:ea typeface="Calibri"/>
                <a:cs typeface="Calibri"/>
                <a:sym typeface="Calibri"/>
              </a:rPr>
              <a:t>UxS Data Coordinator, </a:t>
            </a:r>
            <a:r>
              <a:rPr lang="en-US" sz="2200" dirty="0">
                <a:solidFill>
                  <a:srgbClr val="002F87"/>
                </a:solidFill>
                <a:latin typeface="Calibri"/>
                <a:ea typeface="Calibri"/>
                <a:cs typeface="Calibri"/>
                <a:sym typeface="Calibri"/>
              </a:rPr>
              <a:t>NOAA/NCEI</a:t>
            </a:r>
            <a:endParaRPr sz="2200" u="none" strike="noStrike" cap="none" dirty="0">
              <a:solidFill>
                <a:srgbClr val="002F87"/>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9F96C-865D-468C-9779-DD03CAAC89E6}"/>
              </a:ext>
            </a:extLst>
          </p:cNvPr>
          <p:cNvSpPr>
            <a:spLocks noGrp="1"/>
          </p:cNvSpPr>
          <p:nvPr>
            <p:ph type="title"/>
          </p:nvPr>
        </p:nvSpPr>
        <p:spPr/>
        <p:txBody>
          <a:bodyPr/>
          <a:lstStyle/>
          <a:p>
            <a:r>
              <a:rPr lang="en-US" dirty="0"/>
              <a:t>Commercial Engagement through Ocean Technology Act of 2018</a:t>
            </a:r>
          </a:p>
        </p:txBody>
      </p:sp>
      <p:sp>
        <p:nvSpPr>
          <p:cNvPr id="3" name="Text Placeholder 2">
            <a:extLst>
              <a:ext uri="{FF2B5EF4-FFF2-40B4-BE49-F238E27FC236}">
                <a16:creationId xmlns:a16="http://schemas.microsoft.com/office/drawing/2014/main" id="{318FB0C5-247C-4E5B-A6F1-22AE897F4E84}"/>
              </a:ext>
            </a:extLst>
          </p:cNvPr>
          <p:cNvSpPr>
            <a:spLocks noGrp="1"/>
          </p:cNvSpPr>
          <p:nvPr>
            <p:ph type="body" idx="1"/>
          </p:nvPr>
        </p:nvSpPr>
        <p:spPr/>
        <p:txBody>
          <a:bodyPr/>
          <a:lstStyle/>
          <a:p>
            <a:pPr fontAlgn="base"/>
            <a:r>
              <a:rPr lang="en-US" dirty="0"/>
              <a:t>Require NOAA to establish procedures for the agency to assess and acquire uncrewed systems tech</a:t>
            </a:r>
          </a:p>
          <a:p>
            <a:pPr fontAlgn="base"/>
            <a:br>
              <a:rPr lang="en-US" dirty="0"/>
            </a:br>
            <a:r>
              <a:rPr lang="en-US" dirty="0"/>
              <a:t>Encourage NOAA to partner with the Secretary of the Navy on uncrewed maritime systems tech</a:t>
            </a:r>
          </a:p>
          <a:p>
            <a:pPr fontAlgn="base"/>
            <a:br>
              <a:rPr lang="en-US" dirty="0"/>
            </a:br>
            <a:r>
              <a:rPr lang="en-US" dirty="0"/>
              <a:t>Direct NOAA to engage in partnerships with the private and academic sectors to improve their observation capabilities, which would increase cost effectiveness and capitalize on emerging technological advances</a:t>
            </a:r>
          </a:p>
          <a:p>
            <a:endParaRPr lang="en-US" dirty="0"/>
          </a:p>
        </p:txBody>
      </p:sp>
    </p:spTree>
    <p:extLst>
      <p:ext uri="{BB962C8B-B14F-4D97-AF65-F5344CB8AC3E}">
        <p14:creationId xmlns:p14="http://schemas.microsoft.com/office/powerpoint/2010/main" val="42428684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E6CB8-5658-DE44-F1FE-5E1BA9C8D421}"/>
              </a:ext>
            </a:extLst>
          </p:cNvPr>
          <p:cNvSpPr>
            <a:spLocks noGrp="1"/>
          </p:cNvSpPr>
          <p:nvPr>
            <p:ph type="title"/>
          </p:nvPr>
        </p:nvSpPr>
        <p:spPr/>
        <p:txBody>
          <a:bodyPr/>
          <a:lstStyle/>
          <a:p>
            <a:r>
              <a:rPr lang="en-US" dirty="0"/>
              <a:t>CENOTE Act of 2018</a:t>
            </a:r>
            <a:br>
              <a:rPr lang="en-US" dirty="0"/>
            </a:br>
            <a:r>
              <a:rPr lang="en-US" dirty="0"/>
              <a:t>Joint NOAA/Navy Activities</a:t>
            </a:r>
          </a:p>
        </p:txBody>
      </p:sp>
      <p:sp>
        <p:nvSpPr>
          <p:cNvPr id="3" name="Text Placeholder 2">
            <a:extLst>
              <a:ext uri="{FF2B5EF4-FFF2-40B4-BE49-F238E27FC236}">
                <a16:creationId xmlns:a16="http://schemas.microsoft.com/office/drawing/2014/main" id="{621A4B1C-6610-B525-3BA1-25EA1404B14A}"/>
              </a:ext>
            </a:extLst>
          </p:cNvPr>
          <p:cNvSpPr>
            <a:spLocks noGrp="1"/>
          </p:cNvSpPr>
          <p:nvPr>
            <p:ph type="body" idx="1"/>
          </p:nvPr>
        </p:nvSpPr>
        <p:spPr/>
        <p:txBody>
          <a:bodyPr/>
          <a:lstStyle/>
          <a:p>
            <a:r>
              <a:rPr lang="en-US" dirty="0"/>
              <a:t>Plan of Actions &amp; Milestones for Data Exchange Standards</a:t>
            </a:r>
          </a:p>
        </p:txBody>
      </p:sp>
      <p:sp>
        <p:nvSpPr>
          <p:cNvPr id="5" name="Text Placeholder 4">
            <a:extLst>
              <a:ext uri="{FF2B5EF4-FFF2-40B4-BE49-F238E27FC236}">
                <a16:creationId xmlns:a16="http://schemas.microsoft.com/office/drawing/2014/main" id="{63D469F6-6D28-40BD-A947-AD2493F4CB69}"/>
              </a:ext>
            </a:extLst>
          </p:cNvPr>
          <p:cNvSpPr>
            <a:spLocks noGrp="1"/>
          </p:cNvSpPr>
          <p:nvPr>
            <p:ph type="body" idx="2"/>
          </p:nvPr>
        </p:nvSpPr>
        <p:spPr/>
        <p:txBody>
          <a:bodyPr/>
          <a:lstStyle/>
          <a:p>
            <a:r>
              <a:rPr lang="en-US" sz="2000" dirty="0"/>
              <a:t>Define data exchange standards for UxS</a:t>
            </a:r>
          </a:p>
          <a:p>
            <a:pPr lvl="1"/>
            <a:r>
              <a:rPr lang="en-US" sz="1600" dirty="0"/>
              <a:t>Identify existing interface and exchange standards for UxS sensors</a:t>
            </a:r>
          </a:p>
          <a:p>
            <a:pPr lvl="1"/>
            <a:r>
              <a:rPr lang="en-US" sz="1600" dirty="0"/>
              <a:t>Identify minimum requirements for platform health tracking</a:t>
            </a:r>
          </a:p>
          <a:p>
            <a:r>
              <a:rPr lang="en-US" sz="2000" dirty="0"/>
              <a:t>Identify common UxS vocabularies used in data exchanges </a:t>
            </a:r>
          </a:p>
          <a:p>
            <a:pPr lvl="1"/>
            <a:r>
              <a:rPr lang="en-US" sz="1600" dirty="0"/>
              <a:t>Inbound/raw data and </a:t>
            </a:r>
          </a:p>
          <a:p>
            <a:pPr lvl="1"/>
            <a:r>
              <a:rPr lang="en-US" sz="1600" dirty="0"/>
              <a:t>Outbound / processed data</a:t>
            </a:r>
          </a:p>
          <a:p>
            <a:r>
              <a:rPr lang="en-US" sz="2000" dirty="0"/>
              <a:t>Develop plan to enable cross-agency UxS data exchange</a:t>
            </a:r>
          </a:p>
          <a:p>
            <a:pPr lvl="1"/>
            <a:endParaRPr lang="en-US" sz="1600" dirty="0"/>
          </a:p>
        </p:txBody>
      </p:sp>
      <p:pic>
        <p:nvPicPr>
          <p:cNvPr id="8" name="Picture 7">
            <a:extLst>
              <a:ext uri="{FF2B5EF4-FFF2-40B4-BE49-F238E27FC236}">
                <a16:creationId xmlns:a16="http://schemas.microsoft.com/office/drawing/2014/main" id="{763C32F5-F4C9-4DAB-B443-0F25B501744D}"/>
              </a:ext>
            </a:extLst>
          </p:cNvPr>
          <p:cNvPicPr>
            <a:picLocks noChangeAspect="1"/>
          </p:cNvPicPr>
          <p:nvPr/>
        </p:nvPicPr>
        <p:blipFill>
          <a:blip r:embed="rId3"/>
          <a:stretch>
            <a:fillRect/>
          </a:stretch>
        </p:blipFill>
        <p:spPr>
          <a:xfrm>
            <a:off x="7035675" y="2505075"/>
            <a:ext cx="4156581" cy="2843406"/>
          </a:xfrm>
          <a:prstGeom prst="rect">
            <a:avLst/>
          </a:prstGeom>
        </p:spPr>
      </p:pic>
    </p:spTree>
    <p:extLst>
      <p:ext uri="{BB962C8B-B14F-4D97-AF65-F5344CB8AC3E}">
        <p14:creationId xmlns:p14="http://schemas.microsoft.com/office/powerpoint/2010/main" val="17970976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Diagram 11">
            <a:extLst>
              <a:ext uri="{FF2B5EF4-FFF2-40B4-BE49-F238E27FC236}">
                <a16:creationId xmlns:a16="http://schemas.microsoft.com/office/drawing/2014/main" id="{58E4BD0A-468E-405A-B8E9-667BC93D483B}"/>
              </a:ext>
            </a:extLst>
          </p:cNvPr>
          <p:cNvGraphicFramePr/>
          <p:nvPr/>
        </p:nvGraphicFramePr>
        <p:xfrm>
          <a:off x="-850070" y="1362074"/>
          <a:ext cx="7438581" cy="47087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7" name="Diagram 16">
            <a:extLst>
              <a:ext uri="{FF2B5EF4-FFF2-40B4-BE49-F238E27FC236}">
                <a16:creationId xmlns:a16="http://schemas.microsoft.com/office/drawing/2014/main" id="{713870FD-A3D4-42EF-8BD7-8FBCB9D6099E}"/>
              </a:ext>
            </a:extLst>
          </p:cNvPr>
          <p:cNvGraphicFramePr/>
          <p:nvPr>
            <p:extLst>
              <p:ext uri="{D42A27DB-BD31-4B8C-83A1-F6EECF244321}">
                <p14:modId xmlns:p14="http://schemas.microsoft.com/office/powerpoint/2010/main" val="1485873696"/>
              </p:ext>
            </p:extLst>
          </p:nvPr>
        </p:nvGraphicFramePr>
        <p:xfrm>
          <a:off x="5976976" y="1253231"/>
          <a:ext cx="6290820" cy="492647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6" name="Title 25">
            <a:extLst>
              <a:ext uri="{FF2B5EF4-FFF2-40B4-BE49-F238E27FC236}">
                <a16:creationId xmlns:a16="http://schemas.microsoft.com/office/drawing/2014/main" id="{A1B6E946-3BC5-4FED-A7A8-541025CCD865}"/>
              </a:ext>
            </a:extLst>
          </p:cNvPr>
          <p:cNvSpPr>
            <a:spLocks noGrp="1"/>
          </p:cNvSpPr>
          <p:nvPr>
            <p:ph type="title"/>
          </p:nvPr>
        </p:nvSpPr>
        <p:spPr>
          <a:xfrm>
            <a:off x="745518" y="365125"/>
            <a:ext cx="10515600" cy="1325563"/>
          </a:xfrm>
        </p:spPr>
        <p:txBody>
          <a:bodyPr/>
          <a:lstStyle/>
          <a:p>
            <a:r>
              <a:rPr lang="en-US" dirty="0"/>
              <a:t>Complimentary Missions</a:t>
            </a:r>
          </a:p>
        </p:txBody>
      </p:sp>
      <p:sp>
        <p:nvSpPr>
          <p:cNvPr id="2" name="Oval 1">
            <a:extLst>
              <a:ext uri="{FF2B5EF4-FFF2-40B4-BE49-F238E27FC236}">
                <a16:creationId xmlns:a16="http://schemas.microsoft.com/office/drawing/2014/main" id="{C157CA23-B5F7-491D-830C-5D107AC9865D}"/>
              </a:ext>
            </a:extLst>
          </p:cNvPr>
          <p:cNvSpPr/>
          <p:nvPr/>
        </p:nvSpPr>
        <p:spPr>
          <a:xfrm>
            <a:off x="3279393" y="1651665"/>
            <a:ext cx="5643587" cy="4222027"/>
          </a:xfrm>
          <a:prstGeom prst="ellipse">
            <a:avLst/>
          </a:prstGeom>
          <a:solidFill>
            <a:schemeClr val="tx2">
              <a:alpha val="25000"/>
            </a:schemeClr>
          </a:solidFill>
          <a:ln>
            <a:solidFill>
              <a:schemeClr val="bg1">
                <a:lumMod val="75000"/>
                <a:alpha val="2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233575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pic>
        <p:nvPicPr>
          <p:cNvPr id="5" name="Picture 4">
            <a:extLst>
              <a:ext uri="{FF2B5EF4-FFF2-40B4-BE49-F238E27FC236}">
                <a16:creationId xmlns:a16="http://schemas.microsoft.com/office/drawing/2014/main" id="{0954A555-E2DE-4991-9339-985B512B1D24}"/>
              </a:ext>
            </a:extLst>
          </p:cNvPr>
          <p:cNvPicPr>
            <a:picLocks noChangeAspect="1"/>
          </p:cNvPicPr>
          <p:nvPr/>
        </p:nvPicPr>
        <p:blipFill>
          <a:blip r:embed="rId3"/>
          <a:stretch>
            <a:fillRect/>
          </a:stretch>
        </p:blipFill>
        <p:spPr>
          <a:xfrm>
            <a:off x="1435324" y="1053945"/>
            <a:ext cx="9501315" cy="5327502"/>
          </a:xfrm>
          <a:prstGeom prst="rect">
            <a:avLst/>
          </a:prstGeom>
        </p:spPr>
      </p:pic>
      <p:sp>
        <p:nvSpPr>
          <p:cNvPr id="99" name="Google Shape;99;p17"/>
          <p:cNvSpPr txBox="1">
            <a:spLocks noGrp="1"/>
          </p:cNvSpPr>
          <p:nvPr>
            <p:ph type="title"/>
          </p:nvPr>
        </p:nvSpPr>
        <p:spPr>
          <a:xfrm>
            <a:off x="513184" y="147243"/>
            <a:ext cx="11896530" cy="818782"/>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1E4E79"/>
              </a:buClr>
              <a:buSzPts val="4400"/>
              <a:buFont typeface="Calibri"/>
              <a:buNone/>
            </a:pPr>
            <a:r>
              <a:rPr lang="en-US" dirty="0"/>
              <a:t>Proliferation of UxS:</a:t>
            </a:r>
            <a:br>
              <a:rPr lang="en-US" dirty="0"/>
            </a:br>
            <a:r>
              <a:rPr lang="en-US" dirty="0"/>
              <a:t>NCEI Ocean Climate Lab World Ocean Database</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B0A88CEB-427D-4BD7-9A1D-4AAB95FE9AA8}"/>
              </a:ext>
            </a:extLst>
          </p:cNvPr>
          <p:cNvSpPr/>
          <p:nvPr/>
        </p:nvSpPr>
        <p:spPr>
          <a:xfrm>
            <a:off x="5086155" y="1300242"/>
            <a:ext cx="1868610" cy="498168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A7D59742-F08A-466B-BB74-FB8761700A0E}"/>
              </a:ext>
            </a:extLst>
          </p:cNvPr>
          <p:cNvSpPr>
            <a:spLocks noGrp="1"/>
          </p:cNvSpPr>
          <p:nvPr>
            <p:ph type="title"/>
          </p:nvPr>
        </p:nvSpPr>
        <p:spPr/>
        <p:txBody>
          <a:bodyPr/>
          <a:lstStyle/>
          <a:p>
            <a:r>
              <a:rPr lang="en-US" dirty="0"/>
              <a:t>The Current State of UxS Data</a:t>
            </a:r>
          </a:p>
        </p:txBody>
      </p:sp>
      <p:pic>
        <p:nvPicPr>
          <p:cNvPr id="7" name="Picture 6">
            <a:extLst>
              <a:ext uri="{FF2B5EF4-FFF2-40B4-BE49-F238E27FC236}">
                <a16:creationId xmlns:a16="http://schemas.microsoft.com/office/drawing/2014/main" id="{FBFB5272-FD7E-4212-9C30-16A77C19DF99}"/>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52347" b="63538" l="72396" r="97068"/>
                    </a14:imgEffect>
                  </a14:imgLayer>
                </a14:imgProps>
              </a:ext>
              <a:ext uri="{28A0092B-C50C-407E-A947-70E740481C1C}">
                <a14:useLocalDpi xmlns:a14="http://schemas.microsoft.com/office/drawing/2010/main" val="0"/>
              </a:ext>
            </a:extLst>
          </a:blip>
          <a:srcRect l="71436" t="51025" b="35059"/>
          <a:stretch/>
        </p:blipFill>
        <p:spPr>
          <a:xfrm>
            <a:off x="253818" y="3919816"/>
            <a:ext cx="2284643" cy="623474"/>
          </a:xfrm>
          <a:prstGeom prst="rect">
            <a:avLst/>
          </a:prstGeom>
        </p:spPr>
      </p:pic>
      <p:pic>
        <p:nvPicPr>
          <p:cNvPr id="8" name="Picture 7">
            <a:extLst>
              <a:ext uri="{FF2B5EF4-FFF2-40B4-BE49-F238E27FC236}">
                <a16:creationId xmlns:a16="http://schemas.microsoft.com/office/drawing/2014/main" id="{DC93D2EA-0ADD-409D-8937-1E71BBB7349F}"/>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8974" b="96667" l="1667" r="97667">
                        <a14:foregroundMark x1="5500" y1="41282" x2="5500" y2="41282"/>
                        <a14:foregroundMark x1="1833" y1="38974" x2="1833" y2="38974"/>
                        <a14:foregroundMark x1="4667" y1="34103" x2="4667" y2="34103"/>
                        <a14:foregroundMark x1="15667" y1="92051" x2="15667" y2="92051"/>
                        <a14:foregroundMark x1="13000" y1="97179" x2="13000" y2="97179"/>
                        <a14:foregroundMark x1="97667" y1="23846" x2="97667" y2="23846"/>
                        <a14:foregroundMark x1="87333" y1="8974" x2="87333" y2="8974"/>
                        <a14:foregroundMark x1="42667" y1="28462" x2="42667" y2="28462"/>
                        <a14:foregroundMark x1="41500" y1="28974" x2="41500" y2="28974"/>
                        <a14:foregroundMark x1="75833" y1="28205" x2="75833" y2="28205"/>
                      </a14:backgroundRemoval>
                    </a14:imgEffect>
                  </a14:imgLayer>
                </a14:imgProps>
              </a:ext>
            </a:extLst>
          </a:blip>
          <a:stretch>
            <a:fillRect/>
          </a:stretch>
        </p:blipFill>
        <p:spPr>
          <a:xfrm>
            <a:off x="1314484" y="4543290"/>
            <a:ext cx="1665285" cy="1082435"/>
          </a:xfrm>
          <a:prstGeom prst="rect">
            <a:avLst/>
          </a:prstGeom>
        </p:spPr>
      </p:pic>
      <p:pic>
        <p:nvPicPr>
          <p:cNvPr id="9" name="Picture 8" descr="Download Private Internet Virtual Cloud Computing Free HD Image HQ PNG Image | FreePNGImg">
            <a:extLst>
              <a:ext uri="{FF2B5EF4-FFF2-40B4-BE49-F238E27FC236}">
                <a16:creationId xmlns:a16="http://schemas.microsoft.com/office/drawing/2014/main" id="{C1CF3703-1522-41A1-A145-C16DCEC40E9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320708" y="1300242"/>
            <a:ext cx="1911623" cy="1421770"/>
          </a:xfrm>
          <a:prstGeom prst="rect">
            <a:avLst/>
          </a:prstGeom>
        </p:spPr>
      </p:pic>
      <p:pic>
        <p:nvPicPr>
          <p:cNvPr id="10" name="Picture 9">
            <a:extLst>
              <a:ext uri="{FF2B5EF4-FFF2-40B4-BE49-F238E27FC236}">
                <a16:creationId xmlns:a16="http://schemas.microsoft.com/office/drawing/2014/main" id="{AE078A10-9D6D-40D4-8596-5E9BB160958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443733" y="3232879"/>
            <a:ext cx="2279241" cy="588271"/>
          </a:xfrm>
          <a:prstGeom prst="rect">
            <a:avLst/>
          </a:prstGeom>
        </p:spPr>
      </p:pic>
      <p:sp>
        <p:nvSpPr>
          <p:cNvPr id="11" name="Right Arrow 27">
            <a:extLst>
              <a:ext uri="{FF2B5EF4-FFF2-40B4-BE49-F238E27FC236}">
                <a16:creationId xmlns:a16="http://schemas.microsoft.com/office/drawing/2014/main" id="{D5B5093B-66C4-4B62-B8EA-8785349C63B6}"/>
              </a:ext>
            </a:extLst>
          </p:cNvPr>
          <p:cNvSpPr/>
          <p:nvPr/>
        </p:nvSpPr>
        <p:spPr>
          <a:xfrm>
            <a:off x="4072274" y="2832612"/>
            <a:ext cx="867507" cy="731354"/>
          </a:xfrm>
          <a:prstGeom prst="rightArrow">
            <a:avLst/>
          </a:prstGeom>
          <a:solidFill>
            <a:srgbClr val="F7DD32"/>
          </a:solidFill>
          <a:ln w="25400" cap="flat" cmpd="sng" algn="ctr">
            <a:solidFill>
              <a:srgbClr val="F7DD32">
                <a:shade val="50000"/>
              </a:srgbClr>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pic>
        <p:nvPicPr>
          <p:cNvPr id="12" name="Picture 11">
            <a:extLst>
              <a:ext uri="{FF2B5EF4-FFF2-40B4-BE49-F238E27FC236}">
                <a16:creationId xmlns:a16="http://schemas.microsoft.com/office/drawing/2014/main" id="{E5979054-EDB4-4C28-9E96-468416D89F92}"/>
              </a:ext>
            </a:extLst>
          </p:cNvPr>
          <p:cNvPicPr>
            <a:picLocks noChangeAspect="1"/>
          </p:cNvPicPr>
          <p:nvPr/>
        </p:nvPicPr>
        <p:blipFill>
          <a:blip r:embed="rId9"/>
          <a:stretch>
            <a:fillRect/>
          </a:stretch>
        </p:blipFill>
        <p:spPr>
          <a:xfrm>
            <a:off x="7124346" y="4824528"/>
            <a:ext cx="2336687" cy="816374"/>
          </a:xfrm>
          <a:prstGeom prst="rect">
            <a:avLst/>
          </a:prstGeom>
        </p:spPr>
      </p:pic>
      <p:sp>
        <p:nvSpPr>
          <p:cNvPr id="13" name="Right Arrow 39">
            <a:extLst>
              <a:ext uri="{FF2B5EF4-FFF2-40B4-BE49-F238E27FC236}">
                <a16:creationId xmlns:a16="http://schemas.microsoft.com/office/drawing/2014/main" id="{F2CFDB1B-81F5-48B0-AE91-6D6F45DC022B}"/>
              </a:ext>
            </a:extLst>
          </p:cNvPr>
          <p:cNvSpPr/>
          <p:nvPr/>
        </p:nvSpPr>
        <p:spPr>
          <a:xfrm>
            <a:off x="7036270" y="2832612"/>
            <a:ext cx="867507" cy="731354"/>
          </a:xfrm>
          <a:prstGeom prst="rightArrow">
            <a:avLst/>
          </a:prstGeom>
          <a:solidFill>
            <a:srgbClr val="F7DD32"/>
          </a:solidFill>
          <a:ln w="25400" cap="flat" cmpd="sng" algn="ctr">
            <a:solidFill>
              <a:srgbClr val="F7DD32">
                <a:shade val="50000"/>
              </a:srgbClr>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pic>
        <p:nvPicPr>
          <p:cNvPr id="14" name="Picture 13">
            <a:extLst>
              <a:ext uri="{FF2B5EF4-FFF2-40B4-BE49-F238E27FC236}">
                <a16:creationId xmlns:a16="http://schemas.microsoft.com/office/drawing/2014/main" id="{7F137FB5-AC58-4187-AE93-613FF2C946B0}"/>
              </a:ext>
            </a:extLst>
          </p:cNvPr>
          <p:cNvPicPr>
            <a:picLocks noChangeAspect="1"/>
          </p:cNvPicPr>
          <p:nvPr/>
        </p:nvPicPr>
        <p:blipFill>
          <a:blip r:embed="rId10"/>
          <a:stretch>
            <a:fillRect/>
          </a:stretch>
        </p:blipFill>
        <p:spPr>
          <a:xfrm>
            <a:off x="9461033" y="1596502"/>
            <a:ext cx="2165182" cy="1630653"/>
          </a:xfrm>
          <a:prstGeom prst="rect">
            <a:avLst/>
          </a:prstGeom>
        </p:spPr>
      </p:pic>
      <p:pic>
        <p:nvPicPr>
          <p:cNvPr id="15" name="Picture 14">
            <a:extLst>
              <a:ext uri="{FF2B5EF4-FFF2-40B4-BE49-F238E27FC236}">
                <a16:creationId xmlns:a16="http://schemas.microsoft.com/office/drawing/2014/main" id="{1DA18D44-AEE2-4623-80CB-2B8FDAC81623}"/>
              </a:ext>
            </a:extLst>
          </p:cNvPr>
          <p:cNvPicPr>
            <a:picLocks noChangeAspect="1"/>
          </p:cNvPicPr>
          <p:nvPr/>
        </p:nvPicPr>
        <p:blipFill>
          <a:blip r:embed="rId11"/>
          <a:stretch>
            <a:fillRect/>
          </a:stretch>
        </p:blipFill>
        <p:spPr>
          <a:xfrm>
            <a:off x="8556710" y="3490411"/>
            <a:ext cx="2201278" cy="1232716"/>
          </a:xfrm>
          <a:prstGeom prst="rect">
            <a:avLst/>
          </a:prstGeom>
        </p:spPr>
      </p:pic>
      <p:pic>
        <p:nvPicPr>
          <p:cNvPr id="16" name="Picture 15">
            <a:extLst>
              <a:ext uri="{FF2B5EF4-FFF2-40B4-BE49-F238E27FC236}">
                <a16:creationId xmlns:a16="http://schemas.microsoft.com/office/drawing/2014/main" id="{12DD92CD-7D9B-4131-A437-018A10ADC718}"/>
              </a:ext>
            </a:extLst>
          </p:cNvPr>
          <p:cNvPicPr>
            <a:picLocks noChangeAspect="1"/>
          </p:cNvPicPr>
          <p:nvPr/>
        </p:nvPicPr>
        <p:blipFill>
          <a:blip r:embed="rId12"/>
          <a:stretch>
            <a:fillRect/>
          </a:stretch>
        </p:blipFill>
        <p:spPr>
          <a:xfrm>
            <a:off x="80552" y="1346731"/>
            <a:ext cx="1752755" cy="1991767"/>
          </a:xfrm>
          <a:prstGeom prst="rect">
            <a:avLst/>
          </a:prstGeom>
        </p:spPr>
      </p:pic>
      <p:pic>
        <p:nvPicPr>
          <p:cNvPr id="17" name="Picture 16">
            <a:extLst>
              <a:ext uri="{FF2B5EF4-FFF2-40B4-BE49-F238E27FC236}">
                <a16:creationId xmlns:a16="http://schemas.microsoft.com/office/drawing/2014/main" id="{86DABE10-2B0C-45EE-903A-CC32C21170DF}"/>
              </a:ext>
            </a:extLst>
          </p:cNvPr>
          <p:cNvPicPr>
            <a:picLocks noChangeAspect="1"/>
          </p:cNvPicPr>
          <p:nvPr/>
        </p:nvPicPr>
        <p:blipFill>
          <a:blip r:embed="rId13">
            <a:extLst>
              <a:ext uri="{BEBA8EAE-BF5A-486C-A8C5-ECC9F3942E4B}">
                <a14:imgProps xmlns:a14="http://schemas.microsoft.com/office/drawing/2010/main">
                  <a14:imgLayer r:embed="rId14">
                    <a14:imgEffect>
                      <a14:backgroundRemoval t="1527" b="98473" l="3704" r="98611">
                        <a14:foregroundMark x1="93519" y1="25191" x2="93519" y2="25191"/>
                        <a14:foregroundMark x1="71296" y1="54580" x2="71296" y2="54580"/>
                        <a14:foregroundMark x1="17593" y1="7634" x2="17593" y2="7634"/>
                        <a14:foregroundMark x1="13426" y1="7252" x2="13426" y2="7252"/>
                        <a14:foregroundMark x1="31481" y1="83206" x2="31481" y2="83206"/>
                      </a14:backgroundRemoval>
                    </a14:imgEffect>
                  </a14:imgLayer>
                </a14:imgProps>
              </a:ext>
            </a:extLst>
          </a:blip>
          <a:stretch>
            <a:fillRect/>
          </a:stretch>
        </p:blipFill>
        <p:spPr>
          <a:xfrm>
            <a:off x="5390265" y="1519173"/>
            <a:ext cx="1141151" cy="1384174"/>
          </a:xfrm>
          <a:prstGeom prst="rect">
            <a:avLst/>
          </a:prstGeom>
        </p:spPr>
      </p:pic>
      <p:pic>
        <p:nvPicPr>
          <p:cNvPr id="18" name="Picture 17">
            <a:extLst>
              <a:ext uri="{FF2B5EF4-FFF2-40B4-BE49-F238E27FC236}">
                <a16:creationId xmlns:a16="http://schemas.microsoft.com/office/drawing/2014/main" id="{E1518AF1-27AC-4B6C-9B2A-A1B03B051068}"/>
              </a:ext>
            </a:extLst>
          </p:cNvPr>
          <p:cNvPicPr>
            <a:picLocks noChangeAspect="1"/>
          </p:cNvPicPr>
          <p:nvPr/>
        </p:nvPicPr>
        <p:blipFill>
          <a:blip r:embed="rId15">
            <a:extLst>
              <a:ext uri="{BEBA8EAE-BF5A-486C-A8C5-ECC9F3942E4B}">
                <a14:imgProps xmlns:a14="http://schemas.microsoft.com/office/drawing/2010/main">
                  <a14:imgLayer r:embed="rId16">
                    <a14:imgEffect>
                      <a14:backgroundRemoval t="889" b="97778" l="9778" r="89778"/>
                    </a14:imgEffect>
                  </a14:imgLayer>
                </a14:imgProps>
              </a:ext>
            </a:extLst>
          </a:blip>
          <a:stretch>
            <a:fillRect/>
          </a:stretch>
        </p:blipFill>
        <p:spPr>
          <a:xfrm>
            <a:off x="5419739" y="3054089"/>
            <a:ext cx="1160015" cy="1160015"/>
          </a:xfrm>
          <a:prstGeom prst="rect">
            <a:avLst/>
          </a:prstGeom>
        </p:spPr>
      </p:pic>
      <p:pic>
        <p:nvPicPr>
          <p:cNvPr id="19" name="Picture 18">
            <a:extLst>
              <a:ext uri="{FF2B5EF4-FFF2-40B4-BE49-F238E27FC236}">
                <a16:creationId xmlns:a16="http://schemas.microsoft.com/office/drawing/2014/main" id="{C3DF634F-27C8-4C57-BEAD-671EC1377BF4}"/>
              </a:ext>
            </a:extLst>
          </p:cNvPr>
          <p:cNvPicPr>
            <a:picLocks noChangeAspect="1"/>
          </p:cNvPicPr>
          <p:nvPr/>
        </p:nvPicPr>
        <p:blipFill rotWithShape="1">
          <a:blip r:embed="rId17"/>
          <a:srcRect l="10336" t="15252" r="12074" b="13546"/>
          <a:stretch/>
        </p:blipFill>
        <p:spPr>
          <a:xfrm>
            <a:off x="5074057" y="4592846"/>
            <a:ext cx="1868610" cy="1191191"/>
          </a:xfrm>
          <a:prstGeom prst="rect">
            <a:avLst/>
          </a:prstGeom>
        </p:spPr>
      </p:pic>
      <p:sp>
        <p:nvSpPr>
          <p:cNvPr id="20" name="TextBox 19">
            <a:extLst>
              <a:ext uri="{FF2B5EF4-FFF2-40B4-BE49-F238E27FC236}">
                <a16:creationId xmlns:a16="http://schemas.microsoft.com/office/drawing/2014/main" id="{F8409D0F-0153-4749-AB54-7C6C69EF0EC5}"/>
              </a:ext>
            </a:extLst>
          </p:cNvPr>
          <p:cNvSpPr txBox="1"/>
          <p:nvPr/>
        </p:nvSpPr>
        <p:spPr>
          <a:xfrm>
            <a:off x="5176141" y="1953709"/>
            <a:ext cx="1738489" cy="707886"/>
          </a:xfrm>
          <a:prstGeom prst="rect">
            <a:avLst/>
          </a:prstGeom>
          <a:noFill/>
        </p:spPr>
        <p:txBody>
          <a:bodyPr wrap="square" rtlCol="0">
            <a:spAutoFit/>
          </a:bodyPr>
          <a:lstStyle/>
          <a:p>
            <a:pPr algn="ctr"/>
            <a:r>
              <a:rPr lang="en-US" sz="2000" b="1" dirty="0">
                <a:ln w="3175">
                  <a:solidFill>
                    <a:schemeClr val="bg1"/>
                  </a:solidFill>
                </a:ln>
                <a:effectLst>
                  <a:glow rad="101600">
                    <a:schemeClr val="bg1">
                      <a:alpha val="60000"/>
                    </a:schemeClr>
                  </a:glow>
                </a:effectLst>
              </a:rPr>
              <a:t>HDD/Edge Devices</a:t>
            </a:r>
          </a:p>
        </p:txBody>
      </p:sp>
      <p:sp>
        <p:nvSpPr>
          <p:cNvPr id="21" name="TextBox 20">
            <a:extLst>
              <a:ext uri="{FF2B5EF4-FFF2-40B4-BE49-F238E27FC236}">
                <a16:creationId xmlns:a16="http://schemas.microsoft.com/office/drawing/2014/main" id="{C7BB0A5C-E019-45E9-9B74-A8E6F7915011}"/>
              </a:ext>
            </a:extLst>
          </p:cNvPr>
          <p:cNvSpPr txBox="1"/>
          <p:nvPr/>
        </p:nvSpPr>
        <p:spPr>
          <a:xfrm>
            <a:off x="5145227" y="3341646"/>
            <a:ext cx="1738489" cy="707886"/>
          </a:xfrm>
          <a:prstGeom prst="rect">
            <a:avLst/>
          </a:prstGeom>
          <a:noFill/>
        </p:spPr>
        <p:txBody>
          <a:bodyPr wrap="square" rtlCol="0">
            <a:spAutoFit/>
          </a:bodyPr>
          <a:lstStyle/>
          <a:p>
            <a:pPr algn="ctr"/>
            <a:r>
              <a:rPr lang="en-US" sz="2000" b="1" dirty="0">
                <a:ln w="3175">
                  <a:solidFill>
                    <a:schemeClr val="bg1"/>
                  </a:solidFill>
                </a:ln>
                <a:effectLst>
                  <a:glow rad="101600">
                    <a:schemeClr val="bg1">
                      <a:alpha val="60000"/>
                    </a:schemeClr>
                  </a:glow>
                </a:effectLst>
              </a:rPr>
              <a:t>Shipboard Servers</a:t>
            </a:r>
          </a:p>
        </p:txBody>
      </p:sp>
      <p:sp>
        <p:nvSpPr>
          <p:cNvPr id="22" name="TextBox 21">
            <a:extLst>
              <a:ext uri="{FF2B5EF4-FFF2-40B4-BE49-F238E27FC236}">
                <a16:creationId xmlns:a16="http://schemas.microsoft.com/office/drawing/2014/main" id="{0FB49E3E-41AD-485F-B84B-A10DD24A3535}"/>
              </a:ext>
            </a:extLst>
          </p:cNvPr>
          <p:cNvSpPr txBox="1"/>
          <p:nvPr/>
        </p:nvSpPr>
        <p:spPr>
          <a:xfrm>
            <a:off x="5160817" y="4824528"/>
            <a:ext cx="1738489" cy="707886"/>
          </a:xfrm>
          <a:prstGeom prst="rect">
            <a:avLst/>
          </a:prstGeom>
          <a:noFill/>
        </p:spPr>
        <p:txBody>
          <a:bodyPr wrap="square" rtlCol="0">
            <a:spAutoFit/>
          </a:bodyPr>
          <a:lstStyle/>
          <a:p>
            <a:pPr algn="ctr"/>
            <a:r>
              <a:rPr lang="en-US" sz="2000" b="1" dirty="0">
                <a:ln w="3175">
                  <a:solidFill>
                    <a:schemeClr val="bg1"/>
                  </a:solidFill>
                </a:ln>
                <a:effectLst>
                  <a:glow rad="101600">
                    <a:schemeClr val="bg1">
                      <a:alpha val="60000"/>
                    </a:schemeClr>
                  </a:glow>
                </a:effectLst>
              </a:rPr>
              <a:t>Satellite </a:t>
            </a:r>
            <a:r>
              <a:rPr lang="en-US" sz="2000" b="1" dirty="0" err="1">
                <a:ln w="3175">
                  <a:solidFill>
                    <a:schemeClr val="bg1"/>
                  </a:solidFill>
                </a:ln>
                <a:effectLst>
                  <a:glow rad="101600">
                    <a:schemeClr val="bg1">
                      <a:alpha val="60000"/>
                    </a:schemeClr>
                  </a:glow>
                </a:effectLst>
              </a:rPr>
              <a:t>Comms</a:t>
            </a:r>
            <a:endParaRPr lang="en-US" sz="2000" b="1" dirty="0">
              <a:ln w="3175">
                <a:solidFill>
                  <a:schemeClr val="bg1"/>
                </a:solidFill>
              </a:ln>
              <a:effectLst>
                <a:glow rad="101600">
                  <a:schemeClr val="bg1">
                    <a:alpha val="60000"/>
                  </a:schemeClr>
                </a:glow>
              </a:effectLst>
            </a:endParaRPr>
          </a:p>
        </p:txBody>
      </p:sp>
    </p:spTree>
    <p:extLst>
      <p:ext uri="{BB962C8B-B14F-4D97-AF65-F5344CB8AC3E}">
        <p14:creationId xmlns:p14="http://schemas.microsoft.com/office/powerpoint/2010/main" val="2494758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B502160-8F93-C749-125D-76748A7C8A9D}"/>
              </a:ext>
            </a:extLst>
          </p:cNvPr>
          <p:cNvSpPr/>
          <p:nvPr/>
        </p:nvSpPr>
        <p:spPr>
          <a:xfrm>
            <a:off x="7382201" y="1113182"/>
            <a:ext cx="4504999" cy="3597966"/>
          </a:xfrm>
          <a:prstGeom prst="rect">
            <a:avLst/>
          </a:prstGeom>
          <a:solidFill>
            <a:schemeClr val="tx2">
              <a:alpha val="6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993912" y="360502"/>
            <a:ext cx="5187431" cy="4042533"/>
          </a:xfrm>
          <a:prstGeom prst="rect">
            <a:avLst/>
          </a:prstGeom>
          <a:solidFill>
            <a:schemeClr val="accent1">
              <a:alpha val="6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a:extLst>
              <a:ext uri="{FF2B5EF4-FFF2-40B4-BE49-F238E27FC236}">
                <a16:creationId xmlns:a16="http://schemas.microsoft.com/office/drawing/2014/main" id="{5D71BD25-011D-404D-8FF8-AC61994081DB}"/>
              </a:ext>
            </a:extLst>
          </p:cNvPr>
          <p:cNvSpPr>
            <a:spLocks noGrp="1"/>
          </p:cNvSpPr>
          <p:nvPr>
            <p:ph type="title"/>
          </p:nvPr>
        </p:nvSpPr>
        <p:spPr>
          <a:xfrm>
            <a:off x="822167" y="5442572"/>
            <a:ext cx="10515600" cy="1058711"/>
          </a:xfrm>
        </p:spPr>
        <p:txBody>
          <a:bodyPr/>
          <a:lstStyle/>
          <a:p>
            <a:r>
              <a:rPr lang="en-US" sz="3600" dirty="0"/>
              <a:t>Flexibility and Modularity are </a:t>
            </a:r>
            <a:r>
              <a:rPr lang="en-US" sz="3600" dirty="0">
                <a:solidFill>
                  <a:srgbClr val="FFC000"/>
                </a:solidFill>
              </a:rPr>
              <a:t>Key</a:t>
            </a:r>
            <a:br>
              <a:rPr lang="en-US" sz="3600" dirty="0"/>
            </a:br>
            <a:r>
              <a:rPr lang="en-US" sz="3600" dirty="0"/>
              <a:t>Implementation Guidance is </a:t>
            </a:r>
            <a:r>
              <a:rPr lang="en-US" sz="3600" dirty="0">
                <a:solidFill>
                  <a:srgbClr val="FF0000"/>
                </a:solidFill>
              </a:rPr>
              <a:t>Crucial</a:t>
            </a:r>
          </a:p>
        </p:txBody>
      </p:sp>
      <p:grpSp>
        <p:nvGrpSpPr>
          <p:cNvPr id="12" name="Group 11">
            <a:extLst>
              <a:ext uri="{FF2B5EF4-FFF2-40B4-BE49-F238E27FC236}">
                <a16:creationId xmlns:a16="http://schemas.microsoft.com/office/drawing/2014/main" id="{6A71AFFD-98CB-43E4-BF4A-105FAE19DD52}"/>
              </a:ext>
            </a:extLst>
          </p:cNvPr>
          <p:cNvGrpSpPr/>
          <p:nvPr/>
        </p:nvGrpSpPr>
        <p:grpSpPr>
          <a:xfrm>
            <a:off x="1123122" y="503936"/>
            <a:ext cx="10624930" cy="4972839"/>
            <a:chOff x="-1752673" y="1180319"/>
            <a:chExt cx="16642380" cy="5412138"/>
          </a:xfrm>
        </p:grpSpPr>
        <p:pic>
          <p:nvPicPr>
            <p:cNvPr id="13" name="Picture 12" descr="Increase Your Business’ Productivity and Efficiency With Cloud Computing | Techno FAQ">
              <a:extLst>
                <a:ext uri="{FF2B5EF4-FFF2-40B4-BE49-F238E27FC236}">
                  <a16:creationId xmlns:a16="http://schemas.microsoft.com/office/drawing/2014/main" id="{5AA5570A-0E2A-4456-A465-A3FD0474FE1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10000" b="90000" l="10000" r="90000">
                          <a14:backgroundMark x1="43015" y1="47337" x2="43015" y2="47337"/>
                          <a14:backgroundMark x1="62194" y1="46746" x2="62194" y2="46746"/>
                          <a14:backgroundMark x1="58406" y1="58343" x2="58406" y2="58343"/>
                          <a14:backgroundMark x1="40726" y1="57396" x2="40726" y2="57396"/>
                          <a14:backgroundMark x1="54696" y1="84615" x2="54696" y2="84615"/>
                          <a14:backgroundMark x1="63694" y1="29586" x2="63694" y2="29586"/>
                          <a14:backgroundMark x1="55801" y1="55740" x2="55801" y2="55740"/>
                          <a14:backgroundMark x1="51066" y1="54675" x2="51066" y2="54675"/>
                          <a14:backgroundMark x1="50434" y1="54201" x2="50434" y2="54201"/>
                          <a14:backgroundMark x1="46093" y1="51716" x2="46093" y2="51716"/>
                          <a14:backgroundMark x1="45856" y1="57751" x2="45856" y2="57751"/>
                          <a14:backgroundMark x1="46882" y1="60355" x2="46882" y2="60355"/>
                          <a14:backgroundMark x1="37964" y1="55621" x2="47514" y2="59527"/>
                          <a14:backgroundMark x1="47514" y1="59527" x2="47514" y2="59527"/>
                          <a14:backgroundMark x1="60142" y1="25444" x2="60142" y2="25444"/>
                          <a14:backgroundMark x1="59195" y1="19290" x2="59195" y2="19290"/>
                          <a14:backgroundMark x1="46488" y1="16686" x2="46488" y2="16686"/>
                          <a14:backgroundMark x1="38674" y1="25444" x2="38674" y2="25444"/>
                          <a14:backgroundMark x1="53591" y1="87574" x2="53591" y2="87574"/>
                          <a14:backgroundMark x1="61484" y1="87456" x2="61484" y2="87456"/>
                          <a14:backgroundMark x1="43725" y1="87692" x2="43725" y2="87692"/>
                          <a14:backgroundMark x1="38437" y1="87456" x2="38437" y2="87456"/>
                          <a14:backgroundMark x1="48698" y1="54438" x2="48698" y2="54438"/>
                          <a14:backgroundMark x1="64641" y1="34675" x2="64641" y2="34675"/>
                        </a14:backgroundRemoval>
                      </a14:imgEffect>
                      <a14:imgEffect>
                        <a14:colorTemperature colorTemp="4700"/>
                      </a14:imgEffect>
                    </a14:imgLayer>
                  </a14:imgProps>
                </a:ext>
                <a:ext uri="{28A0092B-C50C-407E-A947-70E740481C1C}">
                  <a14:useLocalDpi xmlns:a14="http://schemas.microsoft.com/office/drawing/2010/main" val="0"/>
                </a:ext>
              </a:extLst>
            </a:blip>
            <a:srcRect l="15917" t="10848" r="16076" b="11045"/>
            <a:stretch/>
          </p:blipFill>
          <p:spPr>
            <a:xfrm>
              <a:off x="4458974" y="5479069"/>
              <a:ext cx="1737058" cy="1113388"/>
            </a:xfrm>
            <a:prstGeom prst="rect">
              <a:avLst/>
            </a:prstGeom>
          </p:spPr>
        </p:pic>
        <p:pic>
          <p:nvPicPr>
            <p:cNvPr id="14" name="Picture 13">
              <a:extLst>
                <a:ext uri="{FF2B5EF4-FFF2-40B4-BE49-F238E27FC236}">
                  <a16:creationId xmlns:a16="http://schemas.microsoft.com/office/drawing/2014/main" id="{76E49D28-93CF-415B-A976-95308AF1135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10425" y="1994826"/>
              <a:ext cx="6679282" cy="3612927"/>
            </a:xfrm>
            <a:prstGeom prst="rect">
              <a:avLst/>
            </a:prstGeom>
          </p:spPr>
        </p:pic>
        <p:sp>
          <p:nvSpPr>
            <p:cNvPr id="15" name="Bent-Up Arrow 20">
              <a:extLst>
                <a:ext uri="{FF2B5EF4-FFF2-40B4-BE49-F238E27FC236}">
                  <a16:creationId xmlns:a16="http://schemas.microsoft.com/office/drawing/2014/main" id="{823415F1-0417-4B01-89B9-9FFC76A98C10}"/>
                </a:ext>
              </a:extLst>
            </p:cNvPr>
            <p:cNvSpPr/>
            <p:nvPr/>
          </p:nvSpPr>
          <p:spPr>
            <a:xfrm>
              <a:off x="6940489" y="5197039"/>
              <a:ext cx="3076376" cy="1108794"/>
            </a:xfrm>
            <a:prstGeom prst="ben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BF0B4B94-EBE5-416B-B113-CA7CA64D215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752673" y="1180319"/>
              <a:ext cx="7764164" cy="4091297"/>
            </a:xfrm>
            <a:prstGeom prst="rect">
              <a:avLst/>
            </a:prstGeom>
          </p:spPr>
        </p:pic>
        <p:sp>
          <p:nvSpPr>
            <p:cNvPr id="17" name="Bent-Up Arrow 22">
              <a:extLst>
                <a:ext uri="{FF2B5EF4-FFF2-40B4-BE49-F238E27FC236}">
                  <a16:creationId xmlns:a16="http://schemas.microsoft.com/office/drawing/2014/main" id="{75374A49-F806-46C6-B37A-3FB3B7212DBC}"/>
                </a:ext>
              </a:extLst>
            </p:cNvPr>
            <p:cNvSpPr/>
            <p:nvPr/>
          </p:nvSpPr>
          <p:spPr>
            <a:xfrm rot="5400000">
              <a:off x="2057152" y="4606649"/>
              <a:ext cx="2156018" cy="1482182"/>
            </a:xfrm>
            <a:prstGeom prst="ben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0793718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10F5ECE-62E0-4A40-A417-57557D62BF48}"/>
              </a:ext>
            </a:extLst>
          </p:cNvPr>
          <p:cNvSpPr>
            <a:spLocks noGrp="1"/>
          </p:cNvSpPr>
          <p:nvPr>
            <p:ph type="title"/>
          </p:nvPr>
        </p:nvSpPr>
        <p:spPr>
          <a:xfrm>
            <a:off x="838200" y="99949"/>
            <a:ext cx="10515600" cy="1325563"/>
          </a:xfrm>
        </p:spPr>
        <p:txBody>
          <a:bodyPr/>
          <a:lstStyle/>
          <a:p>
            <a:r>
              <a:rPr lang="en-US" dirty="0"/>
              <a:t>Proposed File Naming Convention</a:t>
            </a:r>
          </a:p>
        </p:txBody>
      </p:sp>
      <p:sp>
        <p:nvSpPr>
          <p:cNvPr id="3" name="TextBox 2">
            <a:extLst>
              <a:ext uri="{FF2B5EF4-FFF2-40B4-BE49-F238E27FC236}">
                <a16:creationId xmlns:a16="http://schemas.microsoft.com/office/drawing/2014/main" id="{0BE128E2-C2E5-C11C-0A85-C470381C199A}"/>
              </a:ext>
            </a:extLst>
          </p:cNvPr>
          <p:cNvSpPr txBox="1"/>
          <p:nvPr/>
        </p:nvSpPr>
        <p:spPr>
          <a:xfrm>
            <a:off x="566530" y="1172842"/>
            <a:ext cx="10933044" cy="523220"/>
          </a:xfrm>
          <a:prstGeom prst="rect">
            <a:avLst/>
          </a:prstGeom>
          <a:noFill/>
        </p:spPr>
        <p:txBody>
          <a:bodyPr wrap="square">
            <a:spAutoFit/>
          </a:bodyPr>
          <a:lstStyle/>
          <a:p>
            <a:pPr algn="ctr"/>
            <a:r>
              <a:rPr lang="en-US" b="1" dirty="0"/>
              <a:t>FILE NAMING CONVENTION FOR METOC DATA AND PRODUCT </a:t>
            </a:r>
          </a:p>
          <a:p>
            <a:pPr algn="ctr"/>
            <a:r>
              <a:rPr lang="en-US" b="1" dirty="0"/>
              <a:t>EXCHANGE FOR NATO AND WMO COMPLIANCE</a:t>
            </a:r>
          </a:p>
        </p:txBody>
      </p:sp>
      <p:cxnSp>
        <p:nvCxnSpPr>
          <p:cNvPr id="4" name="Straight Connector 3">
            <a:extLst>
              <a:ext uri="{FF2B5EF4-FFF2-40B4-BE49-F238E27FC236}">
                <a16:creationId xmlns:a16="http://schemas.microsoft.com/office/drawing/2014/main" id="{292D3898-8686-17EC-212D-16D78F6EC478}"/>
              </a:ext>
            </a:extLst>
          </p:cNvPr>
          <p:cNvCxnSpPr>
            <a:cxnSpLocks/>
            <a:stCxn id="23" idx="2"/>
            <a:endCxn id="7" idx="0"/>
          </p:cNvCxnSpPr>
          <p:nvPr/>
        </p:nvCxnSpPr>
        <p:spPr>
          <a:xfrm>
            <a:off x="3518940" y="2515618"/>
            <a:ext cx="836405" cy="2130871"/>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53E47F79-27EC-E4B6-1603-0B09D18BC5E7}"/>
              </a:ext>
            </a:extLst>
          </p:cNvPr>
          <p:cNvSpPr txBox="1"/>
          <p:nvPr/>
        </p:nvSpPr>
        <p:spPr>
          <a:xfrm>
            <a:off x="12495" y="2164096"/>
            <a:ext cx="12199951" cy="338554"/>
          </a:xfrm>
          <a:prstGeom prst="rect">
            <a:avLst/>
          </a:prstGeom>
          <a:noFill/>
        </p:spPr>
        <p:txBody>
          <a:bodyPr wrap="square" rtlCol="0">
            <a:spAutoFit/>
          </a:bodyPr>
          <a:lstStyle/>
          <a:p>
            <a:pPr algn="ctr"/>
            <a:r>
              <a:rPr lang="en-US" sz="1600" b="1" dirty="0">
                <a:solidFill>
                  <a:srgbClr val="002060"/>
                </a:solidFill>
              </a:rPr>
              <a:t>pflag_productidentifier_oflag_originator_yyyyMMddhhmmss_CCC_DDD_Platform_RRRR_TTTT_LL_XXX.type[.compression]</a:t>
            </a:r>
            <a:endParaRPr lang="en-US" sz="1600" dirty="0">
              <a:solidFill>
                <a:srgbClr val="002060"/>
              </a:solidFill>
            </a:endParaRPr>
          </a:p>
        </p:txBody>
      </p:sp>
      <p:sp>
        <p:nvSpPr>
          <p:cNvPr id="6" name="TextBox 5">
            <a:extLst>
              <a:ext uri="{FF2B5EF4-FFF2-40B4-BE49-F238E27FC236}">
                <a16:creationId xmlns:a16="http://schemas.microsoft.com/office/drawing/2014/main" id="{E5761C25-4252-0EC4-C7E7-F1E179A7DD68}"/>
              </a:ext>
            </a:extLst>
          </p:cNvPr>
          <p:cNvSpPr txBox="1"/>
          <p:nvPr/>
        </p:nvSpPr>
        <p:spPr>
          <a:xfrm>
            <a:off x="1918003" y="2914637"/>
            <a:ext cx="1793120" cy="1323439"/>
          </a:xfrm>
          <a:prstGeom prst="rect">
            <a:avLst/>
          </a:prstGeom>
          <a:noFill/>
        </p:spPr>
        <p:txBody>
          <a:bodyPr wrap="square" rtlCol="0">
            <a:spAutoFit/>
          </a:bodyPr>
          <a:lstStyle/>
          <a:p>
            <a:pPr algn="ctr"/>
            <a:r>
              <a:rPr lang="en-US" sz="1600" dirty="0"/>
              <a:t>Currently, the NATO METOC FNC only allows the unique “C” character.</a:t>
            </a:r>
          </a:p>
        </p:txBody>
      </p:sp>
      <p:sp>
        <p:nvSpPr>
          <p:cNvPr id="7" name="TextBox 6">
            <a:extLst>
              <a:ext uri="{FF2B5EF4-FFF2-40B4-BE49-F238E27FC236}">
                <a16:creationId xmlns:a16="http://schemas.microsoft.com/office/drawing/2014/main" id="{A67F1647-9B27-D642-B1FF-9228071365B6}"/>
              </a:ext>
            </a:extLst>
          </p:cNvPr>
          <p:cNvSpPr txBox="1"/>
          <p:nvPr/>
        </p:nvSpPr>
        <p:spPr>
          <a:xfrm>
            <a:off x="2772750" y="4646489"/>
            <a:ext cx="3165189" cy="769441"/>
          </a:xfrm>
          <a:prstGeom prst="rect">
            <a:avLst/>
          </a:prstGeom>
          <a:noFill/>
        </p:spPr>
        <p:txBody>
          <a:bodyPr wrap="square" rtlCol="0">
            <a:spAutoFit/>
          </a:bodyPr>
          <a:lstStyle/>
          <a:p>
            <a:pPr algn="ctr"/>
            <a:r>
              <a:rPr lang="en-US" sz="1600" dirty="0"/>
              <a:t>4 Digit CCCC Code</a:t>
            </a:r>
          </a:p>
          <a:p>
            <a:pPr algn="ctr"/>
            <a:r>
              <a:rPr lang="en-US" sz="1600" dirty="0"/>
              <a:t>Based on WMO designators*</a:t>
            </a:r>
          </a:p>
          <a:p>
            <a:pPr algn="ctr"/>
            <a:r>
              <a:rPr lang="en-US" sz="1200" dirty="0"/>
              <a:t>*Only Meteorological Center Currently Listed</a:t>
            </a:r>
          </a:p>
        </p:txBody>
      </p:sp>
      <p:cxnSp>
        <p:nvCxnSpPr>
          <p:cNvPr id="8" name="Straight Connector 7">
            <a:extLst>
              <a:ext uri="{FF2B5EF4-FFF2-40B4-BE49-F238E27FC236}">
                <a16:creationId xmlns:a16="http://schemas.microsoft.com/office/drawing/2014/main" id="{BE890788-6048-B38F-CE82-37129F3E8382}"/>
              </a:ext>
            </a:extLst>
          </p:cNvPr>
          <p:cNvCxnSpPr>
            <a:cxnSpLocks/>
            <a:stCxn id="24" idx="2"/>
            <a:endCxn id="10" idx="0"/>
          </p:cNvCxnSpPr>
          <p:nvPr/>
        </p:nvCxnSpPr>
        <p:spPr>
          <a:xfrm>
            <a:off x="5046517" y="2518813"/>
            <a:ext cx="663600" cy="618876"/>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5F50515-E14C-A8C3-ECEA-FC959AB95B57}"/>
              </a:ext>
            </a:extLst>
          </p:cNvPr>
          <p:cNvSpPr txBox="1"/>
          <p:nvPr/>
        </p:nvSpPr>
        <p:spPr>
          <a:xfrm>
            <a:off x="4907935" y="3137689"/>
            <a:ext cx="1604364" cy="830997"/>
          </a:xfrm>
          <a:prstGeom prst="rect">
            <a:avLst/>
          </a:prstGeom>
          <a:noFill/>
        </p:spPr>
        <p:txBody>
          <a:bodyPr wrap="square" rtlCol="0">
            <a:spAutoFit/>
          </a:bodyPr>
          <a:lstStyle/>
          <a:p>
            <a:pPr algn="ctr"/>
            <a:r>
              <a:rPr lang="en-US" sz="1600" dirty="0"/>
              <a:t>UTC (Zulu) Date – Time file created</a:t>
            </a:r>
          </a:p>
        </p:txBody>
      </p:sp>
      <p:sp>
        <p:nvSpPr>
          <p:cNvPr id="14" name="TextBox 13">
            <a:extLst>
              <a:ext uri="{FF2B5EF4-FFF2-40B4-BE49-F238E27FC236}">
                <a16:creationId xmlns:a16="http://schemas.microsoft.com/office/drawing/2014/main" id="{9ACB1CF0-66DF-A52B-2A18-B8F4E73121C6}"/>
              </a:ext>
            </a:extLst>
          </p:cNvPr>
          <p:cNvSpPr txBox="1"/>
          <p:nvPr/>
        </p:nvSpPr>
        <p:spPr>
          <a:xfrm>
            <a:off x="6193350" y="4018561"/>
            <a:ext cx="5506094" cy="2062103"/>
          </a:xfrm>
          <a:prstGeom prst="rect">
            <a:avLst/>
          </a:prstGeom>
          <a:noFill/>
        </p:spPr>
        <p:txBody>
          <a:bodyPr wrap="square" rtlCol="0">
            <a:spAutoFit/>
          </a:bodyPr>
          <a:lstStyle/>
          <a:p>
            <a:pPr algn="ctr"/>
            <a:r>
              <a:rPr lang="en-US" sz="1600" dirty="0"/>
              <a:t>CCC – security classification</a:t>
            </a:r>
          </a:p>
          <a:p>
            <a:pPr algn="ctr"/>
            <a:r>
              <a:rPr lang="en-US" sz="1600" dirty="0"/>
              <a:t>DDDD – distribution statement</a:t>
            </a:r>
          </a:p>
          <a:p>
            <a:pPr algn="ctr"/>
            <a:r>
              <a:rPr lang="en-US" sz="1600" dirty="0"/>
              <a:t>Platform – platform used to collect data </a:t>
            </a:r>
          </a:p>
          <a:p>
            <a:pPr algn="ctr"/>
            <a:r>
              <a:rPr lang="en-US" sz="1600" dirty="0"/>
              <a:t>RRRR – approximate resolution of the data</a:t>
            </a:r>
          </a:p>
          <a:p>
            <a:pPr algn="ctr"/>
            <a:r>
              <a:rPr lang="en-US" sz="1600" dirty="0"/>
              <a:t>TTTT – temporal period of time series data or potential data expiration</a:t>
            </a:r>
          </a:p>
          <a:p>
            <a:pPr algn="ctr"/>
            <a:r>
              <a:rPr lang="en-US" sz="1600" dirty="0"/>
              <a:t>LL – processing status of the file </a:t>
            </a:r>
          </a:p>
          <a:p>
            <a:pPr algn="ctr"/>
            <a:r>
              <a:rPr lang="en-US" sz="1600" dirty="0"/>
              <a:t>XXX – Optional additional identifying information</a:t>
            </a:r>
          </a:p>
        </p:txBody>
      </p:sp>
      <p:cxnSp>
        <p:nvCxnSpPr>
          <p:cNvPr id="17" name="Straight Connector 16">
            <a:extLst>
              <a:ext uri="{FF2B5EF4-FFF2-40B4-BE49-F238E27FC236}">
                <a16:creationId xmlns:a16="http://schemas.microsoft.com/office/drawing/2014/main" id="{DEC8789F-0A2C-70C1-572A-EF080A4C026C}"/>
              </a:ext>
            </a:extLst>
          </p:cNvPr>
          <p:cNvCxnSpPr>
            <a:cxnSpLocks/>
            <a:stCxn id="25" idx="2"/>
            <a:endCxn id="14" idx="0"/>
          </p:cNvCxnSpPr>
          <p:nvPr/>
        </p:nvCxnSpPr>
        <p:spPr>
          <a:xfrm>
            <a:off x="8141955" y="2515534"/>
            <a:ext cx="804442" cy="1503027"/>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FD22162-7253-5A5D-2F61-C20161D463A9}"/>
              </a:ext>
            </a:extLst>
          </p:cNvPr>
          <p:cNvSpPr txBox="1"/>
          <p:nvPr/>
        </p:nvSpPr>
        <p:spPr>
          <a:xfrm>
            <a:off x="10155045" y="3211973"/>
            <a:ext cx="1344529" cy="584775"/>
          </a:xfrm>
          <a:prstGeom prst="rect">
            <a:avLst/>
          </a:prstGeom>
          <a:noFill/>
        </p:spPr>
        <p:txBody>
          <a:bodyPr wrap="square" rtlCol="0">
            <a:spAutoFit/>
          </a:bodyPr>
          <a:lstStyle/>
          <a:p>
            <a:pPr algn="ctr"/>
            <a:r>
              <a:rPr lang="en-US" sz="1600" dirty="0"/>
              <a:t>Recommend netCDF4</a:t>
            </a:r>
          </a:p>
        </p:txBody>
      </p:sp>
      <p:cxnSp>
        <p:nvCxnSpPr>
          <p:cNvPr id="19" name="Straight Connector 18">
            <a:extLst>
              <a:ext uri="{FF2B5EF4-FFF2-40B4-BE49-F238E27FC236}">
                <a16:creationId xmlns:a16="http://schemas.microsoft.com/office/drawing/2014/main" id="{B01B4589-433F-BCC6-C447-387E06B97E03}"/>
              </a:ext>
            </a:extLst>
          </p:cNvPr>
          <p:cNvCxnSpPr>
            <a:cxnSpLocks/>
            <a:endCxn id="18" idx="0"/>
          </p:cNvCxnSpPr>
          <p:nvPr/>
        </p:nvCxnSpPr>
        <p:spPr>
          <a:xfrm>
            <a:off x="10492984" y="2502650"/>
            <a:ext cx="334326" cy="709323"/>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FAABAC7C-63E8-8A8E-8BF2-88C9B3FF8F10}"/>
              </a:ext>
            </a:extLst>
          </p:cNvPr>
          <p:cNvSpPr txBox="1"/>
          <p:nvPr/>
        </p:nvSpPr>
        <p:spPr>
          <a:xfrm>
            <a:off x="672092" y="2148234"/>
            <a:ext cx="1712868" cy="369332"/>
          </a:xfrm>
          <a:prstGeom prst="rect">
            <a:avLst/>
          </a:prstGeom>
          <a:noFill/>
          <a:ln>
            <a:solidFill>
              <a:srgbClr val="002060"/>
            </a:solidFill>
          </a:ln>
        </p:spPr>
        <p:txBody>
          <a:bodyPr wrap="square" rtlCol="0">
            <a:spAutoFit/>
          </a:bodyPr>
          <a:lstStyle/>
          <a:p>
            <a:endParaRPr lang="en-US" dirty="0"/>
          </a:p>
        </p:txBody>
      </p:sp>
      <p:sp>
        <p:nvSpPr>
          <p:cNvPr id="21" name="TextBox 20">
            <a:extLst>
              <a:ext uri="{FF2B5EF4-FFF2-40B4-BE49-F238E27FC236}">
                <a16:creationId xmlns:a16="http://schemas.microsoft.com/office/drawing/2014/main" id="{60E0B304-7290-7EB4-FC47-E9907CE4F2AC}"/>
              </a:ext>
            </a:extLst>
          </p:cNvPr>
          <p:cNvSpPr txBox="1"/>
          <p:nvPr/>
        </p:nvSpPr>
        <p:spPr>
          <a:xfrm>
            <a:off x="19197" y="2147034"/>
            <a:ext cx="649180" cy="369332"/>
          </a:xfrm>
          <a:prstGeom prst="rect">
            <a:avLst/>
          </a:prstGeom>
          <a:noFill/>
          <a:ln>
            <a:solidFill>
              <a:srgbClr val="002060"/>
            </a:solidFill>
          </a:ln>
        </p:spPr>
        <p:txBody>
          <a:bodyPr wrap="square" rtlCol="0">
            <a:spAutoFit/>
          </a:bodyPr>
          <a:lstStyle/>
          <a:p>
            <a:endParaRPr lang="en-US" dirty="0"/>
          </a:p>
        </p:txBody>
      </p:sp>
      <p:sp>
        <p:nvSpPr>
          <p:cNvPr id="22" name="TextBox 21">
            <a:extLst>
              <a:ext uri="{FF2B5EF4-FFF2-40B4-BE49-F238E27FC236}">
                <a16:creationId xmlns:a16="http://schemas.microsoft.com/office/drawing/2014/main" id="{C0A6D329-8BFC-364E-3ABC-A6B744549F91}"/>
              </a:ext>
            </a:extLst>
          </p:cNvPr>
          <p:cNvSpPr txBox="1"/>
          <p:nvPr/>
        </p:nvSpPr>
        <p:spPr>
          <a:xfrm>
            <a:off x="2388675" y="2144462"/>
            <a:ext cx="587881" cy="369332"/>
          </a:xfrm>
          <a:prstGeom prst="rect">
            <a:avLst/>
          </a:prstGeom>
          <a:noFill/>
          <a:ln>
            <a:solidFill>
              <a:srgbClr val="002060"/>
            </a:solidFill>
          </a:ln>
        </p:spPr>
        <p:txBody>
          <a:bodyPr wrap="square" rtlCol="0">
            <a:spAutoFit/>
          </a:bodyPr>
          <a:lstStyle/>
          <a:p>
            <a:endParaRPr lang="en-US" dirty="0"/>
          </a:p>
        </p:txBody>
      </p:sp>
      <p:sp>
        <p:nvSpPr>
          <p:cNvPr id="23" name="TextBox 22">
            <a:extLst>
              <a:ext uri="{FF2B5EF4-FFF2-40B4-BE49-F238E27FC236}">
                <a16:creationId xmlns:a16="http://schemas.microsoft.com/office/drawing/2014/main" id="{D3C8A51F-A132-3DF6-1149-F41002B1A29C}"/>
              </a:ext>
            </a:extLst>
          </p:cNvPr>
          <p:cNvSpPr txBox="1"/>
          <p:nvPr/>
        </p:nvSpPr>
        <p:spPr>
          <a:xfrm>
            <a:off x="2976556" y="2146286"/>
            <a:ext cx="1084768" cy="369332"/>
          </a:xfrm>
          <a:prstGeom prst="rect">
            <a:avLst/>
          </a:prstGeom>
          <a:noFill/>
          <a:ln>
            <a:solidFill>
              <a:srgbClr val="002060"/>
            </a:solidFill>
          </a:ln>
        </p:spPr>
        <p:txBody>
          <a:bodyPr wrap="square" rtlCol="0">
            <a:spAutoFit/>
          </a:bodyPr>
          <a:lstStyle/>
          <a:p>
            <a:endParaRPr lang="en-US" dirty="0"/>
          </a:p>
        </p:txBody>
      </p:sp>
      <p:sp>
        <p:nvSpPr>
          <p:cNvPr id="24" name="TextBox 23">
            <a:extLst>
              <a:ext uri="{FF2B5EF4-FFF2-40B4-BE49-F238E27FC236}">
                <a16:creationId xmlns:a16="http://schemas.microsoft.com/office/drawing/2014/main" id="{836C350E-FE17-A980-0CCD-EA9572343B8D}"/>
              </a:ext>
            </a:extLst>
          </p:cNvPr>
          <p:cNvSpPr txBox="1"/>
          <p:nvPr/>
        </p:nvSpPr>
        <p:spPr>
          <a:xfrm>
            <a:off x="4061324" y="2149481"/>
            <a:ext cx="1970385" cy="369332"/>
          </a:xfrm>
          <a:prstGeom prst="rect">
            <a:avLst/>
          </a:prstGeom>
          <a:noFill/>
          <a:ln>
            <a:solidFill>
              <a:srgbClr val="002060"/>
            </a:solidFill>
          </a:ln>
        </p:spPr>
        <p:txBody>
          <a:bodyPr wrap="square" rtlCol="0">
            <a:spAutoFit/>
          </a:bodyPr>
          <a:lstStyle/>
          <a:p>
            <a:endParaRPr lang="en-US" dirty="0"/>
          </a:p>
        </p:txBody>
      </p:sp>
      <p:sp>
        <p:nvSpPr>
          <p:cNvPr id="25" name="TextBox 24">
            <a:extLst>
              <a:ext uri="{FF2B5EF4-FFF2-40B4-BE49-F238E27FC236}">
                <a16:creationId xmlns:a16="http://schemas.microsoft.com/office/drawing/2014/main" id="{4934B19F-8489-2022-DF0C-BBEA786E4272}"/>
              </a:ext>
            </a:extLst>
          </p:cNvPr>
          <p:cNvSpPr txBox="1"/>
          <p:nvPr/>
        </p:nvSpPr>
        <p:spPr>
          <a:xfrm>
            <a:off x="6031709" y="2146202"/>
            <a:ext cx="4220491" cy="369332"/>
          </a:xfrm>
          <a:prstGeom prst="rect">
            <a:avLst/>
          </a:prstGeom>
          <a:noFill/>
          <a:ln>
            <a:solidFill>
              <a:srgbClr val="002060"/>
            </a:solidFill>
          </a:ln>
        </p:spPr>
        <p:txBody>
          <a:bodyPr wrap="square" rtlCol="0">
            <a:spAutoFit/>
          </a:bodyPr>
          <a:lstStyle/>
          <a:p>
            <a:endParaRPr lang="en-US" dirty="0"/>
          </a:p>
        </p:txBody>
      </p:sp>
      <p:cxnSp>
        <p:nvCxnSpPr>
          <p:cNvPr id="26" name="Straight Connector 25">
            <a:extLst>
              <a:ext uri="{FF2B5EF4-FFF2-40B4-BE49-F238E27FC236}">
                <a16:creationId xmlns:a16="http://schemas.microsoft.com/office/drawing/2014/main" id="{C699C8A9-26D9-B47B-6082-55907945E305}"/>
              </a:ext>
            </a:extLst>
          </p:cNvPr>
          <p:cNvCxnSpPr>
            <a:cxnSpLocks/>
            <a:stCxn id="21" idx="2"/>
            <a:endCxn id="27" idx="0"/>
          </p:cNvCxnSpPr>
          <p:nvPr/>
        </p:nvCxnSpPr>
        <p:spPr>
          <a:xfrm>
            <a:off x="343787" y="2516366"/>
            <a:ext cx="394237" cy="900421"/>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9F423A57-F3AD-E1BC-02F1-D0637F0FB421}"/>
              </a:ext>
            </a:extLst>
          </p:cNvPr>
          <p:cNvSpPr txBox="1"/>
          <p:nvPr/>
        </p:nvSpPr>
        <p:spPr>
          <a:xfrm>
            <a:off x="110634" y="3416787"/>
            <a:ext cx="1254779" cy="1323439"/>
          </a:xfrm>
          <a:prstGeom prst="rect">
            <a:avLst/>
          </a:prstGeom>
          <a:noFill/>
        </p:spPr>
        <p:txBody>
          <a:bodyPr wrap="square" rtlCol="0">
            <a:spAutoFit/>
          </a:bodyPr>
          <a:lstStyle/>
          <a:p>
            <a:r>
              <a:rPr lang="en-US" sz="1600" dirty="0"/>
              <a:t>Originating center's local product </a:t>
            </a:r>
            <a:r>
              <a:rPr lang="en-US" sz="1600" dirty="0" err="1"/>
              <a:t>identifie</a:t>
            </a:r>
            <a:endParaRPr lang="en-US" dirty="0"/>
          </a:p>
        </p:txBody>
      </p:sp>
      <p:cxnSp>
        <p:nvCxnSpPr>
          <p:cNvPr id="28" name="Straight Connector 27">
            <a:extLst>
              <a:ext uri="{FF2B5EF4-FFF2-40B4-BE49-F238E27FC236}">
                <a16:creationId xmlns:a16="http://schemas.microsoft.com/office/drawing/2014/main" id="{31265D4E-6895-5540-B37A-3B3845409C58}"/>
              </a:ext>
            </a:extLst>
          </p:cNvPr>
          <p:cNvCxnSpPr>
            <a:cxnSpLocks/>
            <a:stCxn id="20" idx="2"/>
            <a:endCxn id="29" idx="0"/>
          </p:cNvCxnSpPr>
          <p:nvPr/>
        </p:nvCxnSpPr>
        <p:spPr>
          <a:xfrm>
            <a:off x="1528526" y="2517566"/>
            <a:ext cx="268050" cy="2398313"/>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FAFC5F2F-7329-B280-78E1-08FC9B49EBC5}"/>
              </a:ext>
            </a:extLst>
          </p:cNvPr>
          <p:cNvSpPr txBox="1"/>
          <p:nvPr/>
        </p:nvSpPr>
        <p:spPr>
          <a:xfrm>
            <a:off x="738024" y="4915879"/>
            <a:ext cx="2117104" cy="1077218"/>
          </a:xfrm>
          <a:prstGeom prst="rect">
            <a:avLst/>
          </a:prstGeom>
          <a:noFill/>
        </p:spPr>
        <p:txBody>
          <a:bodyPr wrap="square" rtlCol="0">
            <a:spAutoFit/>
          </a:bodyPr>
          <a:lstStyle/>
          <a:p>
            <a:pPr algn="ctr"/>
            <a:r>
              <a:rPr lang="en-US" sz="1600" dirty="0"/>
              <a:t>3 Digit Code</a:t>
            </a:r>
          </a:p>
          <a:p>
            <a:pPr algn="ctr"/>
            <a:r>
              <a:rPr lang="en-US" sz="1600" dirty="0"/>
              <a:t>Most UxS Data will be</a:t>
            </a:r>
          </a:p>
          <a:p>
            <a:pPr algn="ctr"/>
            <a:r>
              <a:rPr lang="en-US" sz="1600" dirty="0"/>
              <a:t>110: Oceanographic Products</a:t>
            </a:r>
          </a:p>
        </p:txBody>
      </p:sp>
      <p:cxnSp>
        <p:nvCxnSpPr>
          <p:cNvPr id="49" name="Straight Connector 48">
            <a:extLst>
              <a:ext uri="{FF2B5EF4-FFF2-40B4-BE49-F238E27FC236}">
                <a16:creationId xmlns:a16="http://schemas.microsoft.com/office/drawing/2014/main" id="{949EE9C5-4AF7-304D-7041-07CA989A9E10}"/>
              </a:ext>
            </a:extLst>
          </p:cNvPr>
          <p:cNvCxnSpPr>
            <a:cxnSpLocks/>
            <a:stCxn id="22" idx="2"/>
            <a:endCxn id="6" idx="0"/>
          </p:cNvCxnSpPr>
          <p:nvPr/>
        </p:nvCxnSpPr>
        <p:spPr>
          <a:xfrm>
            <a:off x="2682616" y="2513794"/>
            <a:ext cx="131947" cy="400843"/>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5030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1B6B9E6-D1E3-49CA-9EE3-0244AB7CEF4A}"/>
              </a:ext>
            </a:extLst>
          </p:cNvPr>
          <p:cNvSpPr>
            <a:spLocks noGrp="1"/>
          </p:cNvSpPr>
          <p:nvPr>
            <p:ph type="title"/>
          </p:nvPr>
        </p:nvSpPr>
        <p:spPr>
          <a:xfrm>
            <a:off x="838200" y="81661"/>
            <a:ext cx="10515600" cy="1325563"/>
          </a:xfrm>
        </p:spPr>
        <p:txBody>
          <a:bodyPr/>
          <a:lstStyle/>
          <a:p>
            <a:r>
              <a:rPr lang="en-US" dirty="0"/>
              <a:t>Metadata Acquisition</a:t>
            </a:r>
          </a:p>
        </p:txBody>
      </p:sp>
      <p:sp>
        <p:nvSpPr>
          <p:cNvPr id="7" name="Right Arrow 12">
            <a:extLst>
              <a:ext uri="{FF2B5EF4-FFF2-40B4-BE49-F238E27FC236}">
                <a16:creationId xmlns:a16="http://schemas.microsoft.com/office/drawing/2014/main" id="{31EB79D9-F613-4244-9D08-58C50A9322E0}"/>
              </a:ext>
            </a:extLst>
          </p:cNvPr>
          <p:cNvSpPr/>
          <p:nvPr/>
        </p:nvSpPr>
        <p:spPr>
          <a:xfrm>
            <a:off x="1288974" y="1882225"/>
            <a:ext cx="3701668" cy="3228559"/>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FB9486F-85BD-4263-975B-BFC71FB81EF4}"/>
              </a:ext>
            </a:extLst>
          </p:cNvPr>
          <p:cNvSpPr txBox="1"/>
          <p:nvPr/>
        </p:nvSpPr>
        <p:spPr>
          <a:xfrm>
            <a:off x="147155" y="1962731"/>
            <a:ext cx="3016216" cy="1446550"/>
          </a:xfrm>
          <a:prstGeom prst="rect">
            <a:avLst/>
          </a:prstGeom>
          <a:solidFill>
            <a:schemeClr val="bg1"/>
          </a:solidFill>
          <a:ln>
            <a:solidFill>
              <a:schemeClr val="accent1"/>
            </a:solidFill>
          </a:ln>
        </p:spPr>
        <p:txBody>
          <a:bodyPr wrap="square" rtlCol="0">
            <a:spAutoFit/>
          </a:bodyPr>
          <a:lstStyle/>
          <a:p>
            <a:r>
              <a:rPr lang="en-US" sz="1100" dirty="0"/>
              <a:t>   Vehicle Serial </a:t>
            </a:r>
            <a:r>
              <a:rPr lang="en-US" sz="1100" dirty="0" err="1"/>
              <a:t>NumberSN</a:t>
            </a:r>
            <a:r>
              <a:rPr lang="en-US" sz="1100" dirty="0"/>
              <a:t> 001 ë¾	</a:t>
            </a:r>
          </a:p>
          <a:p>
            <a:r>
              <a:rPr lang="en-US" sz="1100" dirty="0"/>
              <a:t>"   Vehicle Owner and IDWHOI (OSL) </a:t>
            </a:r>
            <a:r>
              <a:rPr lang="en-US" sz="1100" dirty="0" err="1"/>
              <a:t>ëW</a:t>
            </a:r>
          </a:p>
          <a:p>
            <a:r>
              <a:rPr lang="en-US" sz="1100" dirty="0"/>
              <a:t>E   Vehicle rev(WHOI 600 (W)) be3fab709 RELEASE Jun 13 2022; 18:07:55 </a:t>
            </a:r>
            <a:r>
              <a:rPr lang="en-US" sz="1100" dirty="0" err="1"/>
              <a:t>ëé</a:t>
            </a:r>
            <a:r>
              <a:rPr lang="en-US" sz="1100" dirty="0"/>
              <a:t>	</a:t>
            </a:r>
          </a:p>
          <a:p>
            <a:r>
              <a:rPr lang="en-US" sz="1100" dirty="0"/>
              <a:t>   Vehicle sub </a:t>
            </a:r>
            <a:r>
              <a:rPr lang="en-US" sz="1100" dirty="0" err="1"/>
              <a:t>revisionBathy</a:t>
            </a:r>
            <a:r>
              <a:rPr lang="en-US" sz="1100" dirty="0"/>
              <a:t> ë</a:t>
            </a:r>
          </a:p>
          <a:p>
            <a:r>
              <a:rPr lang="en-US" sz="1100" dirty="0"/>
              <a:t>A   Vehicle configurationA6C1C3D5ECFOGXIRKDM3NBNPNTPCPIPSTPUMVPWB </a:t>
            </a:r>
            <a:r>
              <a:rPr lang="en-US" sz="1100" dirty="0" err="1"/>
              <a:t>ëf</a:t>
            </a:r>
          </a:p>
        </p:txBody>
      </p:sp>
      <p:pic>
        <p:nvPicPr>
          <p:cNvPr id="9" name="Picture 8">
            <a:extLst>
              <a:ext uri="{FF2B5EF4-FFF2-40B4-BE49-F238E27FC236}">
                <a16:creationId xmlns:a16="http://schemas.microsoft.com/office/drawing/2014/main" id="{CA80B7F0-A8F6-43C3-98F0-AA18301089B8}"/>
              </a:ext>
            </a:extLst>
          </p:cNvPr>
          <p:cNvPicPr>
            <a:picLocks noChangeAspect="1"/>
          </p:cNvPicPr>
          <p:nvPr/>
        </p:nvPicPr>
        <p:blipFill>
          <a:blip r:embed="rId2"/>
          <a:stretch>
            <a:fillRect/>
          </a:stretch>
        </p:blipFill>
        <p:spPr>
          <a:xfrm>
            <a:off x="4923271" y="1850716"/>
            <a:ext cx="1661596" cy="1526680"/>
          </a:xfrm>
          <a:prstGeom prst="rect">
            <a:avLst/>
          </a:prstGeom>
        </p:spPr>
      </p:pic>
      <p:pic>
        <p:nvPicPr>
          <p:cNvPr id="10" name="Picture 9">
            <a:extLst>
              <a:ext uri="{FF2B5EF4-FFF2-40B4-BE49-F238E27FC236}">
                <a16:creationId xmlns:a16="http://schemas.microsoft.com/office/drawing/2014/main" id="{708BFC6E-8DB1-41FE-A80C-2ABD130F0EF7}"/>
              </a:ext>
            </a:extLst>
          </p:cNvPr>
          <p:cNvPicPr>
            <a:picLocks noChangeAspect="1"/>
          </p:cNvPicPr>
          <p:nvPr/>
        </p:nvPicPr>
        <p:blipFill rotWithShape="1">
          <a:blip r:embed="rId3"/>
          <a:srcRect r="17706"/>
          <a:stretch/>
        </p:blipFill>
        <p:spPr>
          <a:xfrm>
            <a:off x="4115820" y="3535691"/>
            <a:ext cx="3276498" cy="714375"/>
          </a:xfrm>
          <a:prstGeom prst="rect">
            <a:avLst/>
          </a:prstGeom>
        </p:spPr>
      </p:pic>
      <p:pic>
        <p:nvPicPr>
          <p:cNvPr id="11" name="Picture 10">
            <a:extLst>
              <a:ext uri="{FF2B5EF4-FFF2-40B4-BE49-F238E27FC236}">
                <a16:creationId xmlns:a16="http://schemas.microsoft.com/office/drawing/2014/main" id="{947A2CEC-F841-4342-9E37-483D0EFBCB83}"/>
              </a:ext>
            </a:extLst>
          </p:cNvPr>
          <p:cNvPicPr>
            <a:picLocks noChangeAspect="1"/>
          </p:cNvPicPr>
          <p:nvPr/>
        </p:nvPicPr>
        <p:blipFill>
          <a:blip r:embed="rId4"/>
          <a:stretch>
            <a:fillRect/>
          </a:stretch>
        </p:blipFill>
        <p:spPr>
          <a:xfrm>
            <a:off x="4122705" y="4372945"/>
            <a:ext cx="1494218" cy="1494218"/>
          </a:xfrm>
          <a:prstGeom prst="rect">
            <a:avLst/>
          </a:prstGeom>
        </p:spPr>
      </p:pic>
      <p:pic>
        <p:nvPicPr>
          <p:cNvPr id="12" name="Picture 11">
            <a:extLst>
              <a:ext uri="{FF2B5EF4-FFF2-40B4-BE49-F238E27FC236}">
                <a16:creationId xmlns:a16="http://schemas.microsoft.com/office/drawing/2014/main" id="{D8126E6E-A5AE-4447-B360-584B1F700FD8}"/>
              </a:ext>
            </a:extLst>
          </p:cNvPr>
          <p:cNvPicPr>
            <a:picLocks noChangeAspect="1"/>
          </p:cNvPicPr>
          <p:nvPr/>
        </p:nvPicPr>
        <p:blipFill>
          <a:blip r:embed="rId5"/>
          <a:stretch>
            <a:fillRect/>
          </a:stretch>
        </p:blipFill>
        <p:spPr>
          <a:xfrm>
            <a:off x="5649257" y="4430116"/>
            <a:ext cx="2262410" cy="1151944"/>
          </a:xfrm>
          <a:prstGeom prst="rect">
            <a:avLst/>
          </a:prstGeom>
          <a:effectLst>
            <a:glow rad="482600">
              <a:schemeClr val="bg1"/>
            </a:glow>
          </a:effectLst>
        </p:spPr>
      </p:pic>
      <p:sp>
        <p:nvSpPr>
          <p:cNvPr id="13" name="TextBox 12">
            <a:extLst>
              <a:ext uri="{FF2B5EF4-FFF2-40B4-BE49-F238E27FC236}">
                <a16:creationId xmlns:a16="http://schemas.microsoft.com/office/drawing/2014/main" id="{9238D241-78DE-4B9A-82AE-1B480730C3B2}"/>
              </a:ext>
            </a:extLst>
          </p:cNvPr>
          <p:cNvSpPr txBox="1"/>
          <p:nvPr/>
        </p:nvSpPr>
        <p:spPr>
          <a:xfrm>
            <a:off x="3917329" y="1295613"/>
            <a:ext cx="3832973" cy="400110"/>
          </a:xfrm>
          <a:prstGeom prst="rect">
            <a:avLst/>
          </a:prstGeom>
          <a:noFill/>
        </p:spPr>
        <p:txBody>
          <a:bodyPr wrap="square" rtlCol="0">
            <a:spAutoFit/>
          </a:bodyPr>
          <a:lstStyle/>
          <a:p>
            <a:pPr algn="ctr"/>
            <a:r>
              <a:rPr lang="en-US" sz="2000" b="1" dirty="0">
                <a:solidFill>
                  <a:schemeClr val="accent6">
                    <a:lumMod val="50000"/>
                  </a:schemeClr>
                </a:solidFill>
                <a:latin typeface="Franklin Gothic Demi Cond" panose="020B0706030402020204" pitchFamily="34" charset="0"/>
              </a:rPr>
              <a:t>Industry and Government Standards</a:t>
            </a:r>
          </a:p>
        </p:txBody>
      </p:sp>
      <p:sp>
        <p:nvSpPr>
          <p:cNvPr id="14" name="TextBox 13">
            <a:extLst>
              <a:ext uri="{FF2B5EF4-FFF2-40B4-BE49-F238E27FC236}">
                <a16:creationId xmlns:a16="http://schemas.microsoft.com/office/drawing/2014/main" id="{1C94E380-0332-4BE2-9BE6-06E3939C9239}"/>
              </a:ext>
            </a:extLst>
          </p:cNvPr>
          <p:cNvSpPr txBox="1"/>
          <p:nvPr/>
        </p:nvSpPr>
        <p:spPr>
          <a:xfrm>
            <a:off x="7622771" y="1961804"/>
            <a:ext cx="3283527" cy="1645920"/>
          </a:xfrm>
          <a:prstGeom prst="rect">
            <a:avLst/>
          </a:prstGeom>
          <a:noFill/>
        </p:spPr>
        <p:txBody>
          <a:bodyPr wrap="square" rtlCol="0">
            <a:spAutoFit/>
          </a:bodyPr>
          <a:lstStyle/>
          <a:p>
            <a:endParaRPr lang="en-US" dirty="0"/>
          </a:p>
        </p:txBody>
      </p:sp>
      <p:pic>
        <p:nvPicPr>
          <p:cNvPr id="15" name="Picture 14">
            <a:extLst>
              <a:ext uri="{FF2B5EF4-FFF2-40B4-BE49-F238E27FC236}">
                <a16:creationId xmlns:a16="http://schemas.microsoft.com/office/drawing/2014/main" id="{3A00B250-322F-4493-BFF4-D17D046BBF27}"/>
              </a:ext>
            </a:extLst>
          </p:cNvPr>
          <p:cNvPicPr>
            <a:picLocks noChangeAspect="1"/>
          </p:cNvPicPr>
          <p:nvPr/>
        </p:nvPicPr>
        <p:blipFill>
          <a:blip r:embed="rId6"/>
          <a:stretch>
            <a:fillRect/>
          </a:stretch>
        </p:blipFill>
        <p:spPr>
          <a:xfrm>
            <a:off x="8555857" y="1846890"/>
            <a:ext cx="3488988" cy="1562391"/>
          </a:xfrm>
          <a:prstGeom prst="rect">
            <a:avLst/>
          </a:prstGeom>
          <a:ln>
            <a:solidFill>
              <a:schemeClr val="accent1">
                <a:lumMod val="75000"/>
              </a:schemeClr>
            </a:solidFill>
          </a:ln>
        </p:spPr>
      </p:pic>
      <p:sp>
        <p:nvSpPr>
          <p:cNvPr id="16" name="TextBox 15">
            <a:extLst>
              <a:ext uri="{FF2B5EF4-FFF2-40B4-BE49-F238E27FC236}">
                <a16:creationId xmlns:a16="http://schemas.microsoft.com/office/drawing/2014/main" id="{BBAB4BA3-6337-4656-9C25-62B238959332}"/>
              </a:ext>
            </a:extLst>
          </p:cNvPr>
          <p:cNvSpPr txBox="1"/>
          <p:nvPr/>
        </p:nvSpPr>
        <p:spPr>
          <a:xfrm>
            <a:off x="8555857" y="3552953"/>
            <a:ext cx="3488989" cy="2308324"/>
          </a:xfrm>
          <a:prstGeom prst="rect">
            <a:avLst/>
          </a:prstGeom>
          <a:solidFill>
            <a:schemeClr val="bg1"/>
          </a:solidFill>
          <a:ln>
            <a:solidFill>
              <a:schemeClr val="accent1">
                <a:lumMod val="75000"/>
              </a:schemeClr>
            </a:solidFill>
          </a:ln>
        </p:spPr>
        <p:txBody>
          <a:bodyPr wrap="square" rtlCol="0">
            <a:spAutoFit/>
          </a:bodyPr>
          <a:lstStyle/>
          <a:p>
            <a:pPr algn="ctr"/>
            <a:r>
              <a:rPr lang="en-US" b="1" dirty="0"/>
              <a:t>Includes:</a:t>
            </a:r>
          </a:p>
          <a:p>
            <a:pPr marL="285750" indent="-285750" algn="ctr">
              <a:buFont typeface="Wingdings" panose="05000000000000000000" pitchFamily="2" charset="2"/>
              <a:buChar char="v"/>
            </a:pPr>
            <a:r>
              <a:rPr lang="en-US" dirty="0"/>
              <a:t>Separate XML Files for Acquisition &amp; Curation</a:t>
            </a:r>
          </a:p>
          <a:p>
            <a:pPr marL="285750" indent="-285750" algn="ctr">
              <a:buFont typeface="Wingdings" panose="05000000000000000000" pitchFamily="2" charset="2"/>
              <a:buChar char="v"/>
            </a:pPr>
            <a:r>
              <a:rPr lang="en-US" dirty="0"/>
              <a:t>Engineering data</a:t>
            </a:r>
          </a:p>
          <a:p>
            <a:pPr marL="285750" indent="-285750" algn="ctr">
              <a:buFont typeface="Wingdings" panose="05000000000000000000" pitchFamily="2" charset="2"/>
              <a:buChar char="v"/>
            </a:pPr>
            <a:r>
              <a:rPr lang="en-US" dirty="0"/>
              <a:t>Keyword tagging</a:t>
            </a:r>
          </a:p>
          <a:p>
            <a:pPr marL="285750" indent="-285750" algn="ctr">
              <a:buFont typeface="Wingdings" panose="05000000000000000000" pitchFamily="2" charset="2"/>
              <a:buChar char="v"/>
            </a:pPr>
            <a:r>
              <a:rPr lang="en-US" dirty="0"/>
              <a:t>Mission Information</a:t>
            </a:r>
          </a:p>
          <a:p>
            <a:pPr marL="285750" indent="-285750" algn="ctr">
              <a:buFont typeface="Wingdings" panose="05000000000000000000" pitchFamily="2" charset="2"/>
              <a:buChar char="v"/>
            </a:pPr>
            <a:r>
              <a:rPr lang="en-US" dirty="0"/>
              <a:t>Data Quality and Lineage</a:t>
            </a:r>
          </a:p>
          <a:p>
            <a:pPr marL="285750" indent="-285750" algn="ctr">
              <a:buFont typeface="Wingdings" panose="05000000000000000000" pitchFamily="2" charset="2"/>
              <a:buChar char="v"/>
            </a:pPr>
            <a:endParaRPr lang="en-US" b="1" dirty="0"/>
          </a:p>
        </p:txBody>
      </p:sp>
      <p:sp>
        <p:nvSpPr>
          <p:cNvPr id="17" name="TextBox 16">
            <a:extLst>
              <a:ext uri="{FF2B5EF4-FFF2-40B4-BE49-F238E27FC236}">
                <a16:creationId xmlns:a16="http://schemas.microsoft.com/office/drawing/2014/main" id="{34BD0718-7615-4933-8495-E3498E6F428D}"/>
              </a:ext>
            </a:extLst>
          </p:cNvPr>
          <p:cNvSpPr txBox="1"/>
          <p:nvPr/>
        </p:nvSpPr>
        <p:spPr>
          <a:xfrm>
            <a:off x="223941" y="1299702"/>
            <a:ext cx="3128791" cy="400110"/>
          </a:xfrm>
          <a:prstGeom prst="rect">
            <a:avLst/>
          </a:prstGeom>
          <a:noFill/>
        </p:spPr>
        <p:txBody>
          <a:bodyPr wrap="square" rtlCol="0">
            <a:spAutoFit/>
          </a:bodyPr>
          <a:lstStyle/>
          <a:p>
            <a:r>
              <a:rPr lang="en-US" sz="2000" b="1" dirty="0">
                <a:solidFill>
                  <a:schemeClr val="accent6">
                    <a:lumMod val="50000"/>
                  </a:schemeClr>
                </a:solidFill>
                <a:latin typeface="Franklin Gothic Demi Cond" panose="020B0706030402020204" pitchFamily="34" charset="0"/>
              </a:rPr>
              <a:t>Platform and Sensor Log Files</a:t>
            </a:r>
          </a:p>
        </p:txBody>
      </p:sp>
      <p:sp>
        <p:nvSpPr>
          <p:cNvPr id="18" name="TextBox 17">
            <a:extLst>
              <a:ext uri="{FF2B5EF4-FFF2-40B4-BE49-F238E27FC236}">
                <a16:creationId xmlns:a16="http://schemas.microsoft.com/office/drawing/2014/main" id="{FFF36FBB-71F8-41F0-90D4-2CC4286758D2}"/>
              </a:ext>
            </a:extLst>
          </p:cNvPr>
          <p:cNvSpPr txBox="1"/>
          <p:nvPr/>
        </p:nvSpPr>
        <p:spPr>
          <a:xfrm>
            <a:off x="8383865" y="1291995"/>
            <a:ext cx="3832973" cy="400110"/>
          </a:xfrm>
          <a:prstGeom prst="rect">
            <a:avLst/>
          </a:prstGeom>
          <a:noFill/>
        </p:spPr>
        <p:txBody>
          <a:bodyPr wrap="square" rtlCol="0">
            <a:spAutoFit/>
          </a:bodyPr>
          <a:lstStyle/>
          <a:p>
            <a:pPr algn="ctr"/>
            <a:r>
              <a:rPr lang="en-US" sz="2000" b="1" dirty="0">
                <a:solidFill>
                  <a:schemeClr val="accent6">
                    <a:lumMod val="50000"/>
                  </a:schemeClr>
                </a:solidFill>
                <a:latin typeface="Franklin Gothic Demi Cond" panose="020B0706030402020204" pitchFamily="34" charset="0"/>
              </a:rPr>
              <a:t>Machine Readable XML files</a:t>
            </a:r>
          </a:p>
        </p:txBody>
      </p:sp>
      <p:sp>
        <p:nvSpPr>
          <p:cNvPr id="2" name="TextBox 1">
            <a:extLst>
              <a:ext uri="{FF2B5EF4-FFF2-40B4-BE49-F238E27FC236}">
                <a16:creationId xmlns:a16="http://schemas.microsoft.com/office/drawing/2014/main" id="{6B037EA9-1657-6593-C3CD-6DC09E96F110}"/>
              </a:ext>
            </a:extLst>
          </p:cNvPr>
          <p:cNvSpPr txBox="1"/>
          <p:nvPr/>
        </p:nvSpPr>
        <p:spPr>
          <a:xfrm>
            <a:off x="45433" y="5560565"/>
            <a:ext cx="3219658" cy="400110"/>
          </a:xfrm>
          <a:prstGeom prst="rect">
            <a:avLst/>
          </a:prstGeom>
          <a:noFill/>
        </p:spPr>
        <p:txBody>
          <a:bodyPr wrap="square" rtlCol="0">
            <a:spAutoFit/>
          </a:bodyPr>
          <a:lstStyle/>
          <a:p>
            <a:pPr algn="ctr"/>
            <a:r>
              <a:rPr lang="en-US" sz="2000" b="1" dirty="0">
                <a:solidFill>
                  <a:schemeClr val="accent6">
                    <a:lumMod val="50000"/>
                  </a:schemeClr>
                </a:solidFill>
                <a:latin typeface="Franklin Gothic Demi Cond" panose="020B0706030402020204" pitchFamily="34" charset="0"/>
              </a:rPr>
              <a:t>Soft Metadata</a:t>
            </a:r>
          </a:p>
        </p:txBody>
      </p:sp>
      <p:sp>
        <p:nvSpPr>
          <p:cNvPr id="3" name="TextBox 2">
            <a:extLst>
              <a:ext uri="{FF2B5EF4-FFF2-40B4-BE49-F238E27FC236}">
                <a16:creationId xmlns:a16="http://schemas.microsoft.com/office/drawing/2014/main" id="{603D7E76-1C88-D26F-D988-56B2D7968440}"/>
              </a:ext>
            </a:extLst>
          </p:cNvPr>
          <p:cNvSpPr txBox="1"/>
          <p:nvPr/>
        </p:nvSpPr>
        <p:spPr>
          <a:xfrm>
            <a:off x="147154" y="4134678"/>
            <a:ext cx="3016217" cy="1384995"/>
          </a:xfrm>
          <a:prstGeom prst="rect">
            <a:avLst/>
          </a:prstGeom>
          <a:solidFill>
            <a:schemeClr val="tx2"/>
          </a:solidFill>
          <a:ln>
            <a:solidFill>
              <a:schemeClr val="accent1"/>
            </a:solidFill>
          </a:ln>
        </p:spPr>
        <p:txBody>
          <a:bodyPr wrap="square" rtlCol="0">
            <a:spAutoFit/>
          </a:bodyPr>
          <a:lstStyle/>
          <a:p>
            <a:pPr marL="285750" indent="-285750">
              <a:buFont typeface="Arial" panose="020B0604020202020204" pitchFamily="34" charset="0"/>
              <a:buChar char="•"/>
            </a:pPr>
            <a:r>
              <a:rPr lang="en-US" dirty="0"/>
              <a:t>Mission Organization / Group</a:t>
            </a:r>
          </a:p>
          <a:p>
            <a:pPr marL="285750" indent="-285750">
              <a:buFont typeface="Arial" panose="020B0604020202020204" pitchFamily="34" charset="0"/>
              <a:buChar char="•"/>
            </a:pPr>
            <a:r>
              <a:rPr lang="en-US" dirty="0"/>
              <a:t>Mission Goal / Target</a:t>
            </a:r>
          </a:p>
          <a:p>
            <a:pPr marL="285750" indent="-285750">
              <a:buFont typeface="Arial" panose="020B0604020202020204" pitchFamily="34" charset="0"/>
              <a:buChar char="•"/>
            </a:pPr>
            <a:r>
              <a:rPr lang="en-US" dirty="0"/>
              <a:t>Sponsor Information</a:t>
            </a:r>
          </a:p>
          <a:p>
            <a:pPr marL="285750" indent="-285750">
              <a:buFont typeface="Arial" panose="020B0604020202020204" pitchFamily="34" charset="0"/>
              <a:buChar char="•"/>
            </a:pPr>
            <a:r>
              <a:rPr lang="en-US" dirty="0"/>
              <a:t>Data Handling Constraints/Security Information</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7161208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B5C60C8-6D5F-F707-D37D-B43CAF295CF6}"/>
              </a:ext>
            </a:extLst>
          </p:cNvPr>
          <p:cNvSpPr>
            <a:spLocks noGrp="1"/>
          </p:cNvSpPr>
          <p:nvPr>
            <p:ph type="title"/>
          </p:nvPr>
        </p:nvSpPr>
        <p:spPr>
          <a:xfrm>
            <a:off x="838200" y="300584"/>
            <a:ext cx="10515600" cy="734522"/>
          </a:xfrm>
        </p:spPr>
        <p:txBody>
          <a:bodyPr/>
          <a:lstStyle/>
          <a:p>
            <a:r>
              <a:rPr lang="en-US" dirty="0"/>
              <a:t>Data Lineage Guidelines </a:t>
            </a:r>
          </a:p>
        </p:txBody>
      </p:sp>
      <p:sp>
        <p:nvSpPr>
          <p:cNvPr id="4" name="TextBox 3">
            <a:extLst>
              <a:ext uri="{FF2B5EF4-FFF2-40B4-BE49-F238E27FC236}">
                <a16:creationId xmlns:a16="http://schemas.microsoft.com/office/drawing/2014/main" id="{3BF64A0A-58A4-E0E8-3DA0-ED296A80775E}"/>
              </a:ext>
            </a:extLst>
          </p:cNvPr>
          <p:cNvSpPr txBox="1"/>
          <p:nvPr/>
        </p:nvSpPr>
        <p:spPr>
          <a:xfrm>
            <a:off x="0" y="902085"/>
            <a:ext cx="8983662" cy="5355312"/>
          </a:xfrm>
          <a:prstGeom prst="rect">
            <a:avLst/>
          </a:prstGeom>
          <a:noFill/>
        </p:spPr>
        <p:txBody>
          <a:bodyPr wrap="square" rtlCol="0">
            <a:spAutoFit/>
          </a:bodyPr>
          <a:lstStyle/>
          <a:p>
            <a:pPr marL="285750" indent="-285750">
              <a:buFont typeface="Arial" panose="020B0604020202020204" pitchFamily="34" charset="0"/>
              <a:buChar char="•"/>
            </a:pPr>
            <a:r>
              <a:rPr lang="en-US" sz="1800" b="1" dirty="0"/>
              <a:t>Level 0: </a:t>
            </a:r>
            <a:r>
              <a:rPr lang="en-US" sz="1800" dirty="0"/>
              <a:t>full resolution data as it comes off the platform with minimal processing applied to remove artifacts but lacks information regarding geo-referencing or time calibration</a:t>
            </a:r>
          </a:p>
          <a:p>
            <a:pPr marL="285750" indent="-285750">
              <a:buFont typeface="Arial" panose="020B0604020202020204" pitchFamily="34" charset="0"/>
              <a:buChar char="•"/>
            </a:pPr>
            <a:endParaRPr lang="en-US" sz="1800" b="1" dirty="0"/>
          </a:p>
          <a:p>
            <a:pPr marL="285750" indent="-285750">
              <a:buFont typeface="Arial" panose="020B0604020202020204" pitchFamily="34" charset="0"/>
              <a:buChar char="•"/>
            </a:pPr>
            <a:r>
              <a:rPr lang="en-US" sz="1800" b="1" dirty="0"/>
              <a:t>Level 1</a:t>
            </a:r>
          </a:p>
          <a:p>
            <a:pPr marL="742950" lvl="1" indent="-285750">
              <a:buFont typeface="Arial" panose="020B0604020202020204" pitchFamily="34" charset="0"/>
              <a:buChar char="•"/>
            </a:pPr>
            <a:r>
              <a:rPr lang="en-US" sz="1800" b="1" dirty="0"/>
              <a:t>Level 1A: </a:t>
            </a:r>
            <a:r>
              <a:rPr lang="en-US" sz="1800" dirty="0"/>
              <a:t>full resolution data with time calibration, and geo-referencing parameters added</a:t>
            </a:r>
          </a:p>
          <a:p>
            <a:pPr marL="742950" lvl="1" indent="-285750">
              <a:buFont typeface="Arial" panose="020B0604020202020204" pitchFamily="34" charset="0"/>
              <a:buChar char="•"/>
            </a:pPr>
            <a:r>
              <a:rPr lang="en-US" sz="1800" b="1" dirty="0"/>
              <a:t>Level 1B: </a:t>
            </a:r>
            <a:r>
              <a:rPr lang="en-US" sz="1800" dirty="0"/>
              <a:t>full resolution data processed to Level 1A with the addition of data precision and accuracy information added</a:t>
            </a:r>
          </a:p>
          <a:p>
            <a:pPr marL="742950" lvl="1"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Level 2: </a:t>
            </a:r>
            <a:r>
              <a:rPr lang="en-US" sz="1800" dirty="0"/>
              <a:t>derived geophysical variables from full resolution data such as bathymetric products, point features of contacts, and other information at the same resolution of the raw data</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Level 3: </a:t>
            </a:r>
            <a:r>
              <a:rPr lang="en-US" sz="1800" dirty="0"/>
              <a:t>geophysical variable Level 2 data that has been merged or combined with other datasets to create a dataset on a uniform space time grid </a:t>
            </a:r>
          </a:p>
          <a:p>
            <a:pPr marL="285750" indent="-285750">
              <a:buFont typeface="Arial" panose="020B0604020202020204" pitchFamily="34" charset="0"/>
              <a:buChar char="•"/>
            </a:pPr>
            <a:endParaRPr lang="en-US" sz="1800" b="1" dirty="0"/>
          </a:p>
          <a:p>
            <a:pPr marL="285750" indent="-285750">
              <a:buFont typeface="Arial" panose="020B0604020202020204" pitchFamily="34" charset="0"/>
              <a:buChar char="•"/>
            </a:pPr>
            <a:r>
              <a:rPr lang="en-US" sz="1800" b="1" dirty="0"/>
              <a:t>Level 4: </a:t>
            </a:r>
            <a:r>
              <a:rPr lang="en-US" sz="1800" dirty="0"/>
              <a:t>Derived outputs from models, or other products resulting from the analysis of lower level data</a:t>
            </a:r>
            <a:endParaRPr lang="en-US" sz="1800" b="1" dirty="0"/>
          </a:p>
        </p:txBody>
      </p:sp>
      <p:sp>
        <p:nvSpPr>
          <p:cNvPr id="5" name="Right Brace 4">
            <a:extLst>
              <a:ext uri="{FF2B5EF4-FFF2-40B4-BE49-F238E27FC236}">
                <a16:creationId xmlns:a16="http://schemas.microsoft.com/office/drawing/2014/main" id="{9743A175-CF7F-89A9-EBB9-226C8E2B8FE1}"/>
              </a:ext>
            </a:extLst>
          </p:cNvPr>
          <p:cNvSpPr/>
          <p:nvPr/>
        </p:nvSpPr>
        <p:spPr>
          <a:xfrm>
            <a:off x="8555107" y="902085"/>
            <a:ext cx="944218" cy="805114"/>
          </a:xfrm>
          <a:prstGeom prst="rightBrace">
            <a:avLst/>
          </a:prstGeom>
          <a:ln w="28575">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4E17CC50-DFA5-BA3C-E6C3-9EDDC6254254}"/>
              </a:ext>
            </a:extLst>
          </p:cNvPr>
          <p:cNvSpPr txBox="1"/>
          <p:nvPr/>
        </p:nvSpPr>
        <p:spPr>
          <a:xfrm>
            <a:off x="9504941" y="832544"/>
            <a:ext cx="2620614" cy="1077218"/>
          </a:xfrm>
          <a:prstGeom prst="rect">
            <a:avLst/>
          </a:prstGeom>
          <a:noFill/>
        </p:spPr>
        <p:txBody>
          <a:bodyPr wrap="square" rtlCol="0">
            <a:spAutoFit/>
          </a:bodyPr>
          <a:lstStyle/>
          <a:p>
            <a:r>
              <a:rPr lang="en-US" sz="1600" dirty="0"/>
              <a:t>Original data should be maintained in native format for reanalysis and archival purposes</a:t>
            </a:r>
          </a:p>
        </p:txBody>
      </p:sp>
      <p:sp>
        <p:nvSpPr>
          <p:cNvPr id="7" name="Right Brace 6">
            <a:extLst>
              <a:ext uri="{FF2B5EF4-FFF2-40B4-BE49-F238E27FC236}">
                <a16:creationId xmlns:a16="http://schemas.microsoft.com/office/drawing/2014/main" id="{B81207A7-724A-66EA-C4CB-A354139B2A71}"/>
              </a:ext>
            </a:extLst>
          </p:cNvPr>
          <p:cNvSpPr/>
          <p:nvPr/>
        </p:nvSpPr>
        <p:spPr>
          <a:xfrm>
            <a:off x="8483048" y="2131324"/>
            <a:ext cx="944218" cy="3110748"/>
          </a:xfrm>
          <a:prstGeom prst="rightBrace">
            <a:avLst/>
          </a:prstGeom>
          <a:ln w="28575">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85B75281-4E39-CA3F-9363-A73211531E95}"/>
              </a:ext>
            </a:extLst>
          </p:cNvPr>
          <p:cNvSpPr txBox="1"/>
          <p:nvPr/>
        </p:nvSpPr>
        <p:spPr>
          <a:xfrm>
            <a:off x="9596224" y="3148089"/>
            <a:ext cx="2620614" cy="1077218"/>
          </a:xfrm>
          <a:prstGeom prst="rect">
            <a:avLst/>
          </a:prstGeom>
          <a:noFill/>
        </p:spPr>
        <p:txBody>
          <a:bodyPr wrap="square" rtlCol="0">
            <a:spAutoFit/>
          </a:bodyPr>
          <a:lstStyle/>
          <a:p>
            <a:r>
              <a:rPr lang="en-US" sz="1600" dirty="0"/>
              <a:t>Intermediate data and derived products should be maintained at the discretion of owning organization</a:t>
            </a:r>
          </a:p>
        </p:txBody>
      </p:sp>
      <p:sp>
        <p:nvSpPr>
          <p:cNvPr id="10" name="Right Brace 9">
            <a:extLst>
              <a:ext uri="{FF2B5EF4-FFF2-40B4-BE49-F238E27FC236}">
                <a16:creationId xmlns:a16="http://schemas.microsoft.com/office/drawing/2014/main" id="{E1E693FC-31CE-F2F2-5BC1-0ED32FC59BA3}"/>
              </a:ext>
            </a:extLst>
          </p:cNvPr>
          <p:cNvSpPr/>
          <p:nvPr/>
        </p:nvSpPr>
        <p:spPr>
          <a:xfrm>
            <a:off x="8483048" y="5334571"/>
            <a:ext cx="944218" cy="805114"/>
          </a:xfrm>
          <a:prstGeom prst="rightBrace">
            <a:avLst/>
          </a:prstGeom>
          <a:ln w="28575">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a:extLst>
              <a:ext uri="{FF2B5EF4-FFF2-40B4-BE49-F238E27FC236}">
                <a16:creationId xmlns:a16="http://schemas.microsoft.com/office/drawing/2014/main" id="{41F33398-BDBD-4A8B-709C-230AEC25F284}"/>
              </a:ext>
            </a:extLst>
          </p:cNvPr>
          <p:cNvSpPr txBox="1"/>
          <p:nvPr/>
        </p:nvSpPr>
        <p:spPr>
          <a:xfrm>
            <a:off x="9504941" y="5165050"/>
            <a:ext cx="2620614" cy="1077218"/>
          </a:xfrm>
          <a:prstGeom prst="rect">
            <a:avLst/>
          </a:prstGeom>
          <a:noFill/>
        </p:spPr>
        <p:txBody>
          <a:bodyPr wrap="square" rtlCol="0">
            <a:spAutoFit/>
          </a:bodyPr>
          <a:lstStyle/>
          <a:p>
            <a:r>
              <a:rPr lang="en-US" sz="1600" dirty="0"/>
              <a:t>High level data outputs should be used for IPOE, BMA, and Common Tactical Picture</a:t>
            </a:r>
          </a:p>
        </p:txBody>
      </p:sp>
    </p:spTree>
    <p:extLst>
      <p:ext uri="{BB962C8B-B14F-4D97-AF65-F5344CB8AC3E}">
        <p14:creationId xmlns:p14="http://schemas.microsoft.com/office/powerpoint/2010/main" val="39400896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10F5ECE-62E0-4A40-A417-57557D62BF48}"/>
              </a:ext>
            </a:extLst>
          </p:cNvPr>
          <p:cNvSpPr>
            <a:spLocks noGrp="1"/>
          </p:cNvSpPr>
          <p:nvPr>
            <p:ph type="title"/>
          </p:nvPr>
        </p:nvSpPr>
        <p:spPr>
          <a:xfrm>
            <a:off x="838200" y="99949"/>
            <a:ext cx="10515600" cy="1325563"/>
          </a:xfrm>
        </p:spPr>
        <p:txBody>
          <a:bodyPr/>
          <a:lstStyle/>
          <a:p>
            <a:r>
              <a:rPr lang="en-US" dirty="0"/>
              <a:t>Metadata Curation</a:t>
            </a:r>
          </a:p>
        </p:txBody>
      </p:sp>
      <p:sp>
        <p:nvSpPr>
          <p:cNvPr id="11" name="TextBox 10">
            <a:extLst>
              <a:ext uri="{FF2B5EF4-FFF2-40B4-BE49-F238E27FC236}">
                <a16:creationId xmlns:a16="http://schemas.microsoft.com/office/drawing/2014/main" id="{CBB844E1-8816-4DDE-8E18-7D9BD49B9FFF}"/>
              </a:ext>
            </a:extLst>
          </p:cNvPr>
          <p:cNvSpPr txBox="1"/>
          <p:nvPr/>
        </p:nvSpPr>
        <p:spPr>
          <a:xfrm>
            <a:off x="837701" y="1099647"/>
            <a:ext cx="3128791" cy="400110"/>
          </a:xfrm>
          <a:prstGeom prst="rect">
            <a:avLst/>
          </a:prstGeom>
          <a:noFill/>
        </p:spPr>
        <p:txBody>
          <a:bodyPr wrap="square" rtlCol="0">
            <a:spAutoFit/>
          </a:bodyPr>
          <a:lstStyle/>
          <a:p>
            <a:r>
              <a:rPr lang="en-US" sz="2000" b="1" dirty="0">
                <a:solidFill>
                  <a:schemeClr val="accent6">
                    <a:lumMod val="50000"/>
                  </a:schemeClr>
                </a:solidFill>
                <a:latin typeface="Franklin Gothic Demi Cond" panose="020B0706030402020204" pitchFamily="34" charset="0"/>
              </a:rPr>
              <a:t>Data Discovery</a:t>
            </a:r>
          </a:p>
        </p:txBody>
      </p:sp>
      <p:sp>
        <p:nvSpPr>
          <p:cNvPr id="12" name="TextBox 11">
            <a:extLst>
              <a:ext uri="{FF2B5EF4-FFF2-40B4-BE49-F238E27FC236}">
                <a16:creationId xmlns:a16="http://schemas.microsoft.com/office/drawing/2014/main" id="{2B6515B0-42B4-4AFF-8B56-6A330D47BF1C}"/>
              </a:ext>
            </a:extLst>
          </p:cNvPr>
          <p:cNvSpPr txBox="1"/>
          <p:nvPr/>
        </p:nvSpPr>
        <p:spPr>
          <a:xfrm>
            <a:off x="4294754" y="1097853"/>
            <a:ext cx="3128791" cy="400110"/>
          </a:xfrm>
          <a:prstGeom prst="rect">
            <a:avLst/>
          </a:prstGeom>
          <a:noFill/>
        </p:spPr>
        <p:txBody>
          <a:bodyPr wrap="square" rtlCol="0">
            <a:spAutoFit/>
          </a:bodyPr>
          <a:lstStyle/>
          <a:p>
            <a:r>
              <a:rPr lang="en-US" sz="2000" b="1" dirty="0">
                <a:solidFill>
                  <a:schemeClr val="accent6">
                    <a:lumMod val="50000"/>
                  </a:schemeClr>
                </a:solidFill>
                <a:latin typeface="Franklin Gothic Demi Cond" panose="020B0706030402020204" pitchFamily="34" charset="0"/>
              </a:rPr>
              <a:t>Data Accessibility</a:t>
            </a:r>
          </a:p>
        </p:txBody>
      </p:sp>
      <p:sp>
        <p:nvSpPr>
          <p:cNvPr id="13" name="TextBox 12">
            <a:extLst>
              <a:ext uri="{FF2B5EF4-FFF2-40B4-BE49-F238E27FC236}">
                <a16:creationId xmlns:a16="http://schemas.microsoft.com/office/drawing/2014/main" id="{6FD5D247-275E-43BC-A2DD-2E0AF9CEA6F0}"/>
              </a:ext>
            </a:extLst>
          </p:cNvPr>
          <p:cNvSpPr txBox="1"/>
          <p:nvPr/>
        </p:nvSpPr>
        <p:spPr>
          <a:xfrm>
            <a:off x="8225009" y="1099647"/>
            <a:ext cx="3128791" cy="400110"/>
          </a:xfrm>
          <a:prstGeom prst="rect">
            <a:avLst/>
          </a:prstGeom>
          <a:noFill/>
        </p:spPr>
        <p:txBody>
          <a:bodyPr wrap="square" rtlCol="0">
            <a:spAutoFit/>
          </a:bodyPr>
          <a:lstStyle/>
          <a:p>
            <a:r>
              <a:rPr lang="en-US" sz="2000" b="1" dirty="0">
                <a:solidFill>
                  <a:schemeClr val="accent6">
                    <a:lumMod val="50000"/>
                  </a:schemeClr>
                </a:solidFill>
                <a:latin typeface="Franklin Gothic Demi Cond" panose="020B0706030402020204" pitchFamily="34" charset="0"/>
              </a:rPr>
              <a:t>Data Interoperability</a:t>
            </a:r>
          </a:p>
        </p:txBody>
      </p:sp>
      <p:pic>
        <p:nvPicPr>
          <p:cNvPr id="15" name="Picture 14">
            <a:extLst>
              <a:ext uri="{FF2B5EF4-FFF2-40B4-BE49-F238E27FC236}">
                <a16:creationId xmlns:a16="http://schemas.microsoft.com/office/drawing/2014/main" id="{2FE387C5-F168-4053-832F-0F5490F4F096}"/>
              </a:ext>
            </a:extLst>
          </p:cNvPr>
          <p:cNvPicPr>
            <a:picLocks noChangeAspect="1"/>
          </p:cNvPicPr>
          <p:nvPr/>
        </p:nvPicPr>
        <p:blipFill>
          <a:blip r:embed="rId2"/>
          <a:stretch>
            <a:fillRect/>
          </a:stretch>
        </p:blipFill>
        <p:spPr>
          <a:xfrm>
            <a:off x="837701" y="1838881"/>
            <a:ext cx="7184461" cy="3601799"/>
          </a:xfrm>
          <a:prstGeom prst="rect">
            <a:avLst/>
          </a:prstGeom>
        </p:spPr>
      </p:pic>
      <p:pic>
        <p:nvPicPr>
          <p:cNvPr id="16" name="Picture 15">
            <a:extLst>
              <a:ext uri="{FF2B5EF4-FFF2-40B4-BE49-F238E27FC236}">
                <a16:creationId xmlns:a16="http://schemas.microsoft.com/office/drawing/2014/main" id="{AB17F3FC-8BE4-4730-84A1-89CDDA2FEC7C}"/>
              </a:ext>
            </a:extLst>
          </p:cNvPr>
          <p:cNvPicPr>
            <a:picLocks noChangeAspect="1"/>
          </p:cNvPicPr>
          <p:nvPr/>
        </p:nvPicPr>
        <p:blipFill>
          <a:blip r:embed="rId3"/>
          <a:stretch>
            <a:fillRect/>
          </a:stretch>
        </p:blipFill>
        <p:spPr>
          <a:xfrm>
            <a:off x="8994891" y="1497963"/>
            <a:ext cx="2093620" cy="4828032"/>
          </a:xfrm>
          <a:prstGeom prst="rect">
            <a:avLst/>
          </a:prstGeom>
        </p:spPr>
      </p:pic>
    </p:spTree>
    <p:extLst>
      <p:ext uri="{BB962C8B-B14F-4D97-AF65-F5344CB8AC3E}">
        <p14:creationId xmlns:p14="http://schemas.microsoft.com/office/powerpoint/2010/main" val="39223205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791252" y="2390886"/>
            <a:ext cx="978411" cy="876931"/>
            <a:chOff x="2905186" y="1628702"/>
            <a:chExt cx="978411" cy="876931"/>
          </a:xfrm>
        </p:grpSpPr>
        <p:sp>
          <p:nvSpPr>
            <p:cNvPr id="5" name="Right Arrow 4"/>
            <p:cNvSpPr/>
            <p:nvPr/>
          </p:nvSpPr>
          <p:spPr>
            <a:xfrm>
              <a:off x="3081592" y="1628702"/>
              <a:ext cx="625131" cy="313458"/>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 name="TextBox 5"/>
            <p:cNvSpPr txBox="1"/>
            <p:nvPr/>
          </p:nvSpPr>
          <p:spPr>
            <a:xfrm>
              <a:off x="2905186" y="1920858"/>
              <a:ext cx="978411" cy="584775"/>
            </a:xfrm>
            <a:prstGeom prst="rect">
              <a:avLst/>
            </a:prstGeom>
            <a:noFill/>
          </p:spPr>
          <p:txBody>
            <a:bodyPr wrap="square" rtlCol="0">
              <a:spAutoFit/>
            </a:bodyPr>
            <a:lstStyle/>
            <a:p>
              <a:pPr algn="ctr" defTabSz="914400" eaLnBrk="1" fontAlgn="auto" hangingPunct="1">
                <a:spcBef>
                  <a:spcPts val="0"/>
                </a:spcBef>
                <a:spcAft>
                  <a:spcPts val="0"/>
                </a:spcAft>
                <a:defRPr/>
              </a:pPr>
              <a:r>
                <a:rPr lang="en-US" sz="1600" dirty="0">
                  <a:solidFill>
                    <a:prstClr val="black"/>
                  </a:solidFill>
                  <a:latin typeface="Franklin Gothic Medium" panose="020B0603020102020204" pitchFamily="34" charset="0"/>
                </a:rPr>
                <a:t>Data Upload</a:t>
              </a:r>
            </a:p>
          </p:txBody>
        </p:sp>
      </p:grpSp>
      <p:sp>
        <p:nvSpPr>
          <p:cNvPr id="7" name="TextBox 6"/>
          <p:cNvSpPr txBox="1"/>
          <p:nvPr/>
        </p:nvSpPr>
        <p:spPr>
          <a:xfrm>
            <a:off x="4085363" y="2384321"/>
            <a:ext cx="1239544" cy="461665"/>
          </a:xfrm>
          <a:prstGeom prst="rect">
            <a:avLst/>
          </a:prstGeom>
          <a:solidFill>
            <a:sysClr val="window" lastClr="FFFFFF"/>
          </a:solidFill>
          <a:ln>
            <a:solidFill>
              <a:sysClr val="windowText" lastClr="000000"/>
            </a:solidFill>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Calibri" panose="020F0502020204030204"/>
              </a:rPr>
              <a:t>Data Scan and Pre-processing</a:t>
            </a:r>
          </a:p>
        </p:txBody>
      </p:sp>
      <p:grpSp>
        <p:nvGrpSpPr>
          <p:cNvPr id="8" name="Group 7"/>
          <p:cNvGrpSpPr/>
          <p:nvPr/>
        </p:nvGrpSpPr>
        <p:grpSpPr>
          <a:xfrm>
            <a:off x="1947646" y="2352606"/>
            <a:ext cx="1546946" cy="869067"/>
            <a:chOff x="5930767" y="1339064"/>
            <a:chExt cx="1546946" cy="869067"/>
          </a:xfrm>
        </p:grpSpPr>
        <p:pic>
          <p:nvPicPr>
            <p:cNvPr id="9" name="Picture 8"/>
            <p:cNvPicPr>
              <a:picLocks noChangeAspect="1"/>
            </p:cNvPicPr>
            <p:nvPr/>
          </p:nvPicPr>
          <p:blipFill>
            <a:blip r:embed="rId2" cstate="print">
              <a:extLst>
                <a:ext uri="{BEBA8EAE-BF5A-486C-A8C5-ECC9F3942E4B}">
                  <a14:imgProps xmlns:a14="http://schemas.microsoft.com/office/drawing/2010/main">
                    <a14:imgLayer r:embed="rId3">
                      <a14:imgEffect>
                        <a14:backgroundRemoval t="0" b="99099" l="9692" r="89868"/>
                      </a14:imgEffect>
                    </a14:imgLayer>
                  </a14:imgProps>
                </a:ext>
                <a:ext uri="{28A0092B-C50C-407E-A947-70E740481C1C}">
                  <a14:useLocalDpi xmlns:a14="http://schemas.microsoft.com/office/drawing/2010/main" val="0"/>
                </a:ext>
              </a:extLst>
            </a:blip>
            <a:stretch>
              <a:fillRect/>
            </a:stretch>
          </p:blipFill>
          <p:spPr>
            <a:xfrm>
              <a:off x="5930767" y="1339064"/>
              <a:ext cx="888641" cy="869067"/>
            </a:xfrm>
            <a:prstGeom prst="rect">
              <a:avLst/>
            </a:prstGeom>
          </p:spPr>
        </p:pic>
        <p:sp>
          <p:nvSpPr>
            <p:cNvPr id="10" name="TextBox 9"/>
            <p:cNvSpPr txBox="1"/>
            <p:nvPr/>
          </p:nvSpPr>
          <p:spPr>
            <a:xfrm>
              <a:off x="5965848" y="1744165"/>
              <a:ext cx="876662" cy="276999"/>
            </a:xfrm>
            <a:prstGeom prst="rect">
              <a:avLst/>
            </a:prstGeom>
            <a:solidFill>
              <a:sysClr val="window" lastClr="FFFFFF"/>
            </a:solidFill>
            <a:ln>
              <a:solidFill>
                <a:sysClr val="windowText" lastClr="000000"/>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Calibri" panose="020F0502020204030204"/>
                </a:rPr>
                <a:t>Drop Zone</a:t>
              </a:r>
            </a:p>
          </p:txBody>
        </p:sp>
        <p:sp>
          <p:nvSpPr>
            <p:cNvPr id="11" name="TextBox 10"/>
            <p:cNvSpPr txBox="1"/>
            <p:nvPr/>
          </p:nvSpPr>
          <p:spPr>
            <a:xfrm>
              <a:off x="6778894" y="1681419"/>
              <a:ext cx="698819" cy="33855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Franklin Gothic Medium" panose="020B0603020102020204" pitchFamily="34" charset="0"/>
                </a:rPr>
                <a:t>(.zip)</a:t>
              </a:r>
            </a:p>
          </p:txBody>
        </p:sp>
      </p:grpSp>
      <p:grpSp>
        <p:nvGrpSpPr>
          <p:cNvPr id="12" name="Group 11"/>
          <p:cNvGrpSpPr/>
          <p:nvPr/>
        </p:nvGrpSpPr>
        <p:grpSpPr>
          <a:xfrm>
            <a:off x="6362742" y="1956904"/>
            <a:ext cx="5102927" cy="1878603"/>
            <a:chOff x="159334" y="3282003"/>
            <a:chExt cx="5102927" cy="1878603"/>
          </a:xfrm>
        </p:grpSpPr>
        <p:sp>
          <p:nvSpPr>
            <p:cNvPr id="13" name="Rounded Rectangle 12"/>
            <p:cNvSpPr/>
            <p:nvPr/>
          </p:nvSpPr>
          <p:spPr>
            <a:xfrm>
              <a:off x="159334" y="3282082"/>
              <a:ext cx="5102927" cy="1878524"/>
            </a:xfrm>
            <a:prstGeom prst="roundRect">
              <a:avLst/>
            </a:prstGeom>
            <a:solidFill>
              <a:srgbClr val="70AD47">
                <a:lumMod val="40000"/>
                <a:lumOff val="60000"/>
              </a:srgbClr>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4" name="TextBox 13"/>
            <p:cNvSpPr txBox="1"/>
            <p:nvPr/>
          </p:nvSpPr>
          <p:spPr>
            <a:xfrm>
              <a:off x="233749" y="3282003"/>
              <a:ext cx="4939515" cy="338554"/>
            </a:xfrm>
            <a:prstGeom prst="rect">
              <a:avLst/>
            </a:prstGeom>
            <a:noFill/>
          </p:spPr>
          <p:txBody>
            <a:bodyPr wrap="square" rtlCol="0">
              <a:spAutoFit/>
            </a:bodyPr>
            <a:lstStyle/>
            <a:p>
              <a:pPr lvl="0" algn="ctr">
                <a:defRPr/>
              </a:pPr>
              <a:r>
                <a:rPr lang="en-US" sz="1600" dirty="0">
                  <a:solidFill>
                    <a:prstClr val="black"/>
                  </a:solidFill>
                  <a:latin typeface="Franklin Gothic Medium" panose="020B0603020102020204" pitchFamily="34" charset="0"/>
                </a:rPr>
                <a:t>Automated </a:t>
              </a:r>
              <a:r>
                <a:rPr lang="en-US" sz="1600" dirty="0" err="1">
                  <a:solidFill>
                    <a:prstClr val="black"/>
                  </a:solidFill>
                  <a:latin typeface="Franklin Gothic Medium" panose="020B0603020102020204" pitchFamily="34" charset="0"/>
                </a:rPr>
                <a:t>UxS</a:t>
              </a:r>
              <a:r>
                <a:rPr lang="en-US" sz="1600" dirty="0">
                  <a:solidFill>
                    <a:prstClr val="black"/>
                  </a:solidFill>
                  <a:latin typeface="Franklin Gothic Medium" panose="020B0603020102020204" pitchFamily="34" charset="0"/>
                </a:rPr>
                <a:t> Data </a:t>
              </a:r>
              <a:r>
                <a:rPr kumimoji="0" lang="en-US" sz="1600" b="0" i="0" u="none" strike="noStrike" kern="1200" cap="none" spc="0" normalizeH="0" baseline="0" noProof="0" dirty="0">
                  <a:ln>
                    <a:noFill/>
                  </a:ln>
                  <a:solidFill>
                    <a:prstClr val="black"/>
                  </a:solidFill>
                  <a:effectLst/>
                  <a:uLnTx/>
                  <a:uFillTx/>
                  <a:latin typeface="Franklin Gothic Medium" panose="020B0603020102020204" pitchFamily="34" charset="0"/>
                </a:rPr>
                <a:t>Processing Capabilities</a:t>
              </a:r>
            </a:p>
          </p:txBody>
        </p:sp>
        <p:grpSp>
          <p:nvGrpSpPr>
            <p:cNvPr id="15" name="Group 14"/>
            <p:cNvGrpSpPr/>
            <p:nvPr/>
          </p:nvGrpSpPr>
          <p:grpSpPr>
            <a:xfrm>
              <a:off x="318959" y="3656999"/>
              <a:ext cx="1142245" cy="1320783"/>
              <a:chOff x="4595100" y="3282571"/>
              <a:chExt cx="1142245" cy="1320783"/>
            </a:xfrm>
          </p:grpSpPr>
          <p:sp>
            <p:nvSpPr>
              <p:cNvPr id="25" name="Freeform 24"/>
              <p:cNvSpPr/>
              <p:nvPr/>
            </p:nvSpPr>
            <p:spPr>
              <a:xfrm>
                <a:off x="4595100" y="3282571"/>
                <a:ext cx="1142245" cy="316800"/>
              </a:xfrm>
              <a:custGeom>
                <a:avLst/>
                <a:gdLst>
                  <a:gd name="connsiteX0" fmla="*/ 0 w 1142245"/>
                  <a:gd name="connsiteY0" fmla="*/ 0 h 316800"/>
                  <a:gd name="connsiteX1" fmla="*/ 1142245 w 1142245"/>
                  <a:gd name="connsiteY1" fmla="*/ 0 h 316800"/>
                  <a:gd name="connsiteX2" fmla="*/ 1142245 w 1142245"/>
                  <a:gd name="connsiteY2" fmla="*/ 316800 h 316800"/>
                  <a:gd name="connsiteX3" fmla="*/ 0 w 1142245"/>
                  <a:gd name="connsiteY3" fmla="*/ 316800 h 316800"/>
                  <a:gd name="connsiteX4" fmla="*/ 0 w 1142245"/>
                  <a:gd name="connsiteY4" fmla="*/ 0 h 316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2245" h="316800">
                    <a:moveTo>
                      <a:pt x="0" y="0"/>
                    </a:moveTo>
                    <a:lnTo>
                      <a:pt x="1142245" y="0"/>
                    </a:lnTo>
                    <a:lnTo>
                      <a:pt x="1142245" y="316800"/>
                    </a:lnTo>
                    <a:lnTo>
                      <a:pt x="0" y="316800"/>
                    </a:lnTo>
                    <a:lnTo>
                      <a:pt x="0" y="0"/>
                    </a:lnTo>
                    <a:close/>
                  </a:path>
                </a:pathLst>
              </a:custGeom>
              <a:gradFill rotWithShape="1">
                <a:gsLst>
                  <a:gs pos="0">
                    <a:srgbClr val="5B9BD5">
                      <a:hueOff val="0"/>
                      <a:satOff val="0"/>
                      <a:lumOff val="0"/>
                      <a:alphaOff val="0"/>
                      <a:satMod val="103000"/>
                      <a:lumMod val="102000"/>
                      <a:tint val="94000"/>
                    </a:srgbClr>
                  </a:gs>
                  <a:gs pos="50000">
                    <a:srgbClr val="5B9BD5">
                      <a:hueOff val="0"/>
                      <a:satOff val="0"/>
                      <a:lumOff val="0"/>
                      <a:alphaOff val="0"/>
                      <a:satMod val="110000"/>
                      <a:lumMod val="100000"/>
                      <a:shade val="100000"/>
                    </a:srgbClr>
                  </a:gs>
                  <a:gs pos="100000">
                    <a:srgbClr val="5B9BD5">
                      <a:hueOff val="0"/>
                      <a:satOff val="0"/>
                      <a:lumOff val="0"/>
                      <a:alphaOff val="0"/>
                      <a:lumMod val="99000"/>
                      <a:satMod val="120000"/>
                      <a:shade val="78000"/>
                    </a:srgbClr>
                  </a:gs>
                </a:gsLst>
                <a:lin ang="5400000" scaled="0"/>
              </a:gradFill>
              <a:ln>
                <a:noFill/>
              </a:ln>
              <a:effectLst/>
              <a:scene3d>
                <a:camera prst="orthographicFront"/>
                <a:lightRig rig="threePt" dir="t">
                  <a:rot lat="0" lon="0" rev="7500000"/>
                </a:lightRig>
              </a:scene3d>
              <a:sp3d prstMaterial="plastic">
                <a:bevelT w="127000" h="25400" prst="relaxedInset"/>
              </a:sp3d>
            </p:spPr>
            <p:txBody>
              <a:bodyPr spcFirstLastPara="0" vert="horz" wrap="square" lIns="78232" tIns="44704" rIns="78232" bIns="44704" numCol="1" spcCol="1270" anchor="ctr" anchorCtr="0">
                <a:noAutofit/>
              </a:bodyPr>
              <a:lstStyle/>
              <a:p>
                <a:pPr marL="0" marR="0" lvl="0" indent="0" algn="ctr" defTabSz="488950" eaLnBrk="1" fontAlgn="auto" latinLnBrk="0" hangingPunct="1">
                  <a:lnSpc>
                    <a:spcPct val="90000"/>
                  </a:lnSpc>
                  <a:spcBef>
                    <a:spcPts val="0"/>
                  </a:spcBef>
                  <a:spcAft>
                    <a:spcPct val="35000"/>
                  </a:spcAft>
                  <a:buClrTx/>
                  <a:buSzTx/>
                  <a:buFontTx/>
                  <a:buNone/>
                  <a:tabLst/>
                  <a:defRPr/>
                </a:pPr>
                <a:r>
                  <a:rPr kumimoji="0" lang="en-US" sz="1100" b="1" i="0" u="none" strike="noStrike" kern="0" cap="none" spc="0" normalizeH="0" baseline="0" noProof="0" dirty="0">
                    <a:ln>
                      <a:noFill/>
                    </a:ln>
                    <a:solidFill>
                      <a:prstClr val="white"/>
                    </a:solidFill>
                    <a:effectLst/>
                    <a:uLnTx/>
                    <a:uFillTx/>
                    <a:latin typeface="Calibri" panose="020F0502020204030204"/>
                    <a:ea typeface="+mn-ea"/>
                    <a:cs typeface="+mn-cs"/>
                  </a:rPr>
                  <a:t>Metadata</a:t>
                </a:r>
              </a:p>
            </p:txBody>
          </p:sp>
          <p:sp>
            <p:nvSpPr>
              <p:cNvPr id="26" name="Freeform 25"/>
              <p:cNvSpPr/>
              <p:nvPr/>
            </p:nvSpPr>
            <p:spPr>
              <a:xfrm>
                <a:off x="4595100" y="3599371"/>
                <a:ext cx="1142245" cy="1003983"/>
              </a:xfrm>
              <a:custGeom>
                <a:avLst/>
                <a:gdLst>
                  <a:gd name="connsiteX0" fmla="*/ 0 w 1142245"/>
                  <a:gd name="connsiteY0" fmla="*/ 0 h 1003983"/>
                  <a:gd name="connsiteX1" fmla="*/ 1142245 w 1142245"/>
                  <a:gd name="connsiteY1" fmla="*/ 0 h 1003983"/>
                  <a:gd name="connsiteX2" fmla="*/ 1142245 w 1142245"/>
                  <a:gd name="connsiteY2" fmla="*/ 1003983 h 1003983"/>
                  <a:gd name="connsiteX3" fmla="*/ 0 w 1142245"/>
                  <a:gd name="connsiteY3" fmla="*/ 1003983 h 1003983"/>
                  <a:gd name="connsiteX4" fmla="*/ 0 w 1142245"/>
                  <a:gd name="connsiteY4" fmla="*/ 0 h 10039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2245" h="1003983">
                    <a:moveTo>
                      <a:pt x="0" y="0"/>
                    </a:moveTo>
                    <a:lnTo>
                      <a:pt x="1142245" y="0"/>
                    </a:lnTo>
                    <a:lnTo>
                      <a:pt x="1142245" y="1003983"/>
                    </a:lnTo>
                    <a:lnTo>
                      <a:pt x="0" y="1003983"/>
                    </a:lnTo>
                    <a:lnTo>
                      <a:pt x="0" y="0"/>
                    </a:lnTo>
                    <a:close/>
                  </a:path>
                </a:pathLst>
              </a:custGeom>
              <a:solidFill>
                <a:srgbClr val="5B9BD5">
                  <a:alpha val="90000"/>
                  <a:tint val="40000"/>
                  <a:hueOff val="0"/>
                  <a:satOff val="0"/>
                  <a:lumOff val="0"/>
                  <a:alphaOff val="0"/>
                </a:srgbClr>
              </a:solidFill>
              <a:ln w="6350" cap="flat" cmpd="sng" algn="ctr">
                <a:solidFill>
                  <a:srgbClr val="5B9BD5">
                    <a:alpha val="90000"/>
                    <a:tint val="40000"/>
                    <a:hueOff val="0"/>
                    <a:satOff val="0"/>
                    <a:lumOff val="0"/>
                    <a:alphaOff val="0"/>
                  </a:srgbClr>
                </a:solidFill>
                <a:prstDash val="solid"/>
                <a:miter lim="800000"/>
              </a:ln>
              <a:effectLst/>
              <a:scene3d>
                <a:camera prst="orthographicFront"/>
                <a:lightRig rig="threePt" dir="t">
                  <a:rot lat="0" lon="0" rev="7500000"/>
                </a:lightRig>
              </a:scene3d>
              <a:sp3d extrusionH="190500" prstMaterial="dkEdge">
                <a:bevelT w="120650" h="38100" prst="relaxedInset"/>
                <a:bevelB w="120650" h="57150" prst="relaxedInset"/>
                <a:contourClr>
                  <a:sysClr val="window" lastClr="FFFFFF"/>
                </a:contourClr>
              </a:sp3d>
            </p:spPr>
            <p:txBody>
              <a:bodyPr spcFirstLastPara="0" vert="horz" wrap="square" lIns="58674" tIns="58674" rIns="78232" bIns="88011" numCol="1" spcCol="1270" anchor="t" anchorCtr="0">
                <a:noAutofit/>
              </a:bodyPr>
              <a:lstStyle/>
              <a:p>
                <a:pPr marL="57150" marR="0" lvl="1" indent="-57150" defTabSz="488950" eaLnBrk="1" fontAlgn="auto" latinLnBrk="0" hangingPunct="1">
                  <a:lnSpc>
                    <a:spcPct val="90000"/>
                  </a:lnSpc>
                  <a:spcBef>
                    <a:spcPts val="0"/>
                  </a:spcBef>
                  <a:spcAft>
                    <a:spcPct val="15000"/>
                  </a:spcAft>
                  <a:buClrTx/>
                  <a:buSzTx/>
                  <a:buFontTx/>
                  <a:buChar char="••"/>
                  <a:tabLst/>
                  <a:defRPr/>
                </a:pPr>
                <a:r>
                  <a:rPr kumimoji="0" lang="en-US" sz="1100" b="0" i="0" u="none" strike="noStrike" kern="0" cap="none" spc="0" normalizeH="0" baseline="0" noProof="0" dirty="0">
                    <a:ln>
                      <a:noFill/>
                    </a:ln>
                    <a:solidFill>
                      <a:prstClr val="black">
                        <a:hueOff val="0"/>
                        <a:satOff val="0"/>
                        <a:lumOff val="0"/>
                        <a:alphaOff val="0"/>
                      </a:prstClr>
                    </a:solidFill>
                    <a:effectLst/>
                    <a:uLnTx/>
                    <a:uFillTx/>
                    <a:latin typeface="Calibri" panose="020F0502020204030204"/>
                    <a:ea typeface="+mn-ea"/>
                    <a:cs typeface="+mn-cs"/>
                  </a:rPr>
                  <a:t>Standard Schema Format</a:t>
                </a:r>
              </a:p>
              <a:p>
                <a:pPr marL="57150" marR="0" lvl="1" indent="-57150" defTabSz="488950" eaLnBrk="1" fontAlgn="auto" latinLnBrk="0" hangingPunct="1">
                  <a:lnSpc>
                    <a:spcPct val="90000"/>
                  </a:lnSpc>
                  <a:spcBef>
                    <a:spcPts val="0"/>
                  </a:spcBef>
                  <a:spcAft>
                    <a:spcPct val="15000"/>
                  </a:spcAft>
                  <a:buClrTx/>
                  <a:buSzTx/>
                  <a:buFontTx/>
                  <a:buChar char="••"/>
                  <a:tabLst/>
                  <a:defRPr/>
                </a:pPr>
                <a:r>
                  <a:rPr kumimoji="0" lang="en-US" sz="1100" b="0" i="0" u="none" strike="noStrike" kern="0" cap="none" spc="0" normalizeH="0" baseline="0" noProof="0" dirty="0">
                    <a:ln>
                      <a:noFill/>
                    </a:ln>
                    <a:solidFill>
                      <a:prstClr val="black">
                        <a:hueOff val="0"/>
                        <a:satOff val="0"/>
                        <a:lumOff val="0"/>
                        <a:alphaOff val="0"/>
                      </a:prstClr>
                    </a:solidFill>
                    <a:effectLst/>
                    <a:uLnTx/>
                    <a:uFillTx/>
                    <a:latin typeface="Calibri" panose="020F0502020204030204"/>
                    <a:ea typeface="+mn-ea"/>
                    <a:cs typeface="+mn-cs"/>
                  </a:rPr>
                  <a:t>Generate Standard XML</a:t>
                </a:r>
              </a:p>
            </p:txBody>
          </p:sp>
        </p:grpSp>
        <p:grpSp>
          <p:nvGrpSpPr>
            <p:cNvPr id="16" name="Group 15"/>
            <p:cNvGrpSpPr/>
            <p:nvPr/>
          </p:nvGrpSpPr>
          <p:grpSpPr>
            <a:xfrm>
              <a:off x="1538535" y="3651738"/>
              <a:ext cx="1142245" cy="1320783"/>
              <a:chOff x="3292940" y="3282571"/>
              <a:chExt cx="1142245" cy="1320783"/>
            </a:xfrm>
          </p:grpSpPr>
          <p:sp>
            <p:nvSpPr>
              <p:cNvPr id="23" name="Freeform 22"/>
              <p:cNvSpPr/>
              <p:nvPr/>
            </p:nvSpPr>
            <p:spPr>
              <a:xfrm>
                <a:off x="3292940" y="3282571"/>
                <a:ext cx="1142245" cy="316800"/>
              </a:xfrm>
              <a:custGeom>
                <a:avLst/>
                <a:gdLst>
                  <a:gd name="connsiteX0" fmla="*/ 0 w 1142245"/>
                  <a:gd name="connsiteY0" fmla="*/ 0 h 316800"/>
                  <a:gd name="connsiteX1" fmla="*/ 1142245 w 1142245"/>
                  <a:gd name="connsiteY1" fmla="*/ 0 h 316800"/>
                  <a:gd name="connsiteX2" fmla="*/ 1142245 w 1142245"/>
                  <a:gd name="connsiteY2" fmla="*/ 316800 h 316800"/>
                  <a:gd name="connsiteX3" fmla="*/ 0 w 1142245"/>
                  <a:gd name="connsiteY3" fmla="*/ 316800 h 316800"/>
                  <a:gd name="connsiteX4" fmla="*/ 0 w 1142245"/>
                  <a:gd name="connsiteY4" fmla="*/ 0 h 316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2245" h="316800">
                    <a:moveTo>
                      <a:pt x="0" y="0"/>
                    </a:moveTo>
                    <a:lnTo>
                      <a:pt x="1142245" y="0"/>
                    </a:lnTo>
                    <a:lnTo>
                      <a:pt x="1142245" y="316800"/>
                    </a:lnTo>
                    <a:lnTo>
                      <a:pt x="0" y="316800"/>
                    </a:lnTo>
                    <a:lnTo>
                      <a:pt x="0" y="0"/>
                    </a:lnTo>
                    <a:close/>
                  </a:path>
                </a:pathLst>
              </a:custGeom>
              <a:gradFill rotWithShape="1">
                <a:gsLst>
                  <a:gs pos="0">
                    <a:srgbClr val="5B9BD5">
                      <a:hueOff val="0"/>
                      <a:satOff val="0"/>
                      <a:lumOff val="0"/>
                      <a:alphaOff val="0"/>
                      <a:satMod val="103000"/>
                      <a:lumMod val="102000"/>
                      <a:tint val="94000"/>
                    </a:srgbClr>
                  </a:gs>
                  <a:gs pos="50000">
                    <a:srgbClr val="5B9BD5">
                      <a:hueOff val="0"/>
                      <a:satOff val="0"/>
                      <a:lumOff val="0"/>
                      <a:alphaOff val="0"/>
                      <a:satMod val="110000"/>
                      <a:lumMod val="100000"/>
                      <a:shade val="100000"/>
                    </a:srgbClr>
                  </a:gs>
                  <a:gs pos="100000">
                    <a:srgbClr val="5B9BD5">
                      <a:hueOff val="0"/>
                      <a:satOff val="0"/>
                      <a:lumOff val="0"/>
                      <a:alphaOff val="0"/>
                      <a:lumMod val="99000"/>
                      <a:satMod val="120000"/>
                      <a:shade val="78000"/>
                    </a:srgbClr>
                  </a:gs>
                </a:gsLst>
                <a:lin ang="5400000" scaled="0"/>
              </a:gradFill>
              <a:ln>
                <a:noFill/>
              </a:ln>
              <a:effectLst/>
              <a:scene3d>
                <a:camera prst="orthographicFront"/>
                <a:lightRig rig="threePt" dir="t">
                  <a:rot lat="0" lon="0" rev="7500000"/>
                </a:lightRig>
              </a:scene3d>
              <a:sp3d prstMaterial="plastic">
                <a:bevelT w="127000" h="25400" prst="relaxedInset"/>
              </a:sp3d>
            </p:spPr>
            <p:txBody>
              <a:bodyPr spcFirstLastPara="0" vert="horz" wrap="square" lIns="78232" tIns="44704" rIns="78232" bIns="44704" numCol="1" spcCol="1270" anchor="ctr" anchorCtr="0">
                <a:noAutofit/>
              </a:bodyPr>
              <a:lstStyle/>
              <a:p>
                <a:pPr marL="0" marR="0" lvl="0" indent="0" algn="ctr" defTabSz="488950" eaLnBrk="1" fontAlgn="auto" latinLnBrk="0" hangingPunct="1">
                  <a:lnSpc>
                    <a:spcPct val="90000"/>
                  </a:lnSpc>
                  <a:spcBef>
                    <a:spcPts val="0"/>
                  </a:spcBef>
                  <a:spcAft>
                    <a:spcPct val="35000"/>
                  </a:spcAft>
                  <a:buClrTx/>
                  <a:buSzTx/>
                  <a:buFontTx/>
                  <a:buNone/>
                  <a:tabLst/>
                  <a:defRPr/>
                </a:pPr>
                <a:r>
                  <a:rPr kumimoji="0" lang="en-US" sz="1100" b="1" i="0" u="none" strike="noStrike" kern="0" cap="none" spc="0" normalizeH="0" baseline="0" noProof="0" dirty="0">
                    <a:ln>
                      <a:noFill/>
                    </a:ln>
                    <a:solidFill>
                      <a:prstClr val="white"/>
                    </a:solidFill>
                    <a:effectLst/>
                    <a:uLnTx/>
                    <a:uFillTx/>
                    <a:latin typeface="Calibri" panose="020F0502020204030204"/>
                    <a:ea typeface="+mn-ea"/>
                    <a:cs typeface="+mn-cs"/>
                  </a:rPr>
                  <a:t>Visualization</a:t>
                </a:r>
              </a:p>
            </p:txBody>
          </p:sp>
          <p:sp>
            <p:nvSpPr>
              <p:cNvPr id="24" name="Freeform 23"/>
              <p:cNvSpPr/>
              <p:nvPr/>
            </p:nvSpPr>
            <p:spPr>
              <a:xfrm>
                <a:off x="3292940" y="3599371"/>
                <a:ext cx="1142245" cy="1003983"/>
              </a:xfrm>
              <a:custGeom>
                <a:avLst/>
                <a:gdLst>
                  <a:gd name="connsiteX0" fmla="*/ 0 w 1142245"/>
                  <a:gd name="connsiteY0" fmla="*/ 0 h 1003983"/>
                  <a:gd name="connsiteX1" fmla="*/ 1142245 w 1142245"/>
                  <a:gd name="connsiteY1" fmla="*/ 0 h 1003983"/>
                  <a:gd name="connsiteX2" fmla="*/ 1142245 w 1142245"/>
                  <a:gd name="connsiteY2" fmla="*/ 1003983 h 1003983"/>
                  <a:gd name="connsiteX3" fmla="*/ 0 w 1142245"/>
                  <a:gd name="connsiteY3" fmla="*/ 1003983 h 1003983"/>
                  <a:gd name="connsiteX4" fmla="*/ 0 w 1142245"/>
                  <a:gd name="connsiteY4" fmla="*/ 0 h 10039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2245" h="1003983">
                    <a:moveTo>
                      <a:pt x="0" y="0"/>
                    </a:moveTo>
                    <a:lnTo>
                      <a:pt x="1142245" y="0"/>
                    </a:lnTo>
                    <a:lnTo>
                      <a:pt x="1142245" y="1003983"/>
                    </a:lnTo>
                    <a:lnTo>
                      <a:pt x="0" y="1003983"/>
                    </a:lnTo>
                    <a:lnTo>
                      <a:pt x="0" y="0"/>
                    </a:lnTo>
                    <a:close/>
                  </a:path>
                </a:pathLst>
              </a:custGeom>
              <a:solidFill>
                <a:srgbClr val="5B9BD5">
                  <a:alpha val="90000"/>
                  <a:tint val="40000"/>
                  <a:hueOff val="0"/>
                  <a:satOff val="0"/>
                  <a:lumOff val="0"/>
                  <a:alphaOff val="0"/>
                </a:srgbClr>
              </a:solidFill>
              <a:ln w="6350" cap="flat" cmpd="sng" algn="ctr">
                <a:solidFill>
                  <a:srgbClr val="5B9BD5">
                    <a:alpha val="90000"/>
                    <a:tint val="40000"/>
                    <a:hueOff val="0"/>
                    <a:satOff val="0"/>
                    <a:lumOff val="0"/>
                    <a:alphaOff val="0"/>
                  </a:srgbClr>
                </a:solidFill>
                <a:prstDash val="solid"/>
                <a:miter lim="800000"/>
              </a:ln>
              <a:effectLst/>
              <a:scene3d>
                <a:camera prst="orthographicFront"/>
                <a:lightRig rig="threePt" dir="t">
                  <a:rot lat="0" lon="0" rev="7500000"/>
                </a:lightRig>
              </a:scene3d>
              <a:sp3d extrusionH="190500" prstMaterial="dkEdge">
                <a:bevelT w="120650" h="38100" prst="relaxedInset"/>
                <a:bevelB w="120650" h="57150" prst="relaxedInset"/>
                <a:contourClr>
                  <a:sysClr val="window" lastClr="FFFFFF"/>
                </a:contourClr>
              </a:sp3d>
            </p:spPr>
            <p:txBody>
              <a:bodyPr spcFirstLastPara="0" vert="horz" wrap="square" lIns="58674" tIns="58674" rIns="78232" bIns="88011" numCol="1" spcCol="1270" anchor="t" anchorCtr="0">
                <a:noAutofit/>
              </a:bodyPr>
              <a:lstStyle/>
              <a:p>
                <a:pPr marL="57150" marR="0" lvl="1" indent="-57150" defTabSz="488950" eaLnBrk="1" fontAlgn="auto" latinLnBrk="0" hangingPunct="1">
                  <a:lnSpc>
                    <a:spcPct val="90000"/>
                  </a:lnSpc>
                  <a:spcBef>
                    <a:spcPts val="0"/>
                  </a:spcBef>
                  <a:spcAft>
                    <a:spcPct val="15000"/>
                  </a:spcAft>
                  <a:buClrTx/>
                  <a:buSzTx/>
                  <a:buFontTx/>
                  <a:buChar char="••"/>
                  <a:tabLst/>
                  <a:defRPr/>
                </a:pPr>
                <a:r>
                  <a:rPr kumimoji="0" lang="en-US" sz="1100" b="0" i="0" u="none" strike="noStrike" kern="0" cap="none" spc="0" normalizeH="0" baseline="0" noProof="0" dirty="0">
                    <a:ln>
                      <a:noFill/>
                    </a:ln>
                    <a:solidFill>
                      <a:prstClr val="black">
                        <a:hueOff val="0"/>
                        <a:satOff val="0"/>
                        <a:lumOff val="0"/>
                        <a:alphaOff val="0"/>
                      </a:prstClr>
                    </a:solidFill>
                    <a:effectLst/>
                    <a:uLnTx/>
                    <a:uFillTx/>
                    <a:latin typeface="Calibri" panose="020F0502020204030204"/>
                    <a:ea typeface="+mn-ea"/>
                    <a:cs typeface="+mn-cs"/>
                  </a:rPr>
                  <a:t>Navigation Tracks</a:t>
                </a:r>
              </a:p>
              <a:p>
                <a:pPr marL="57150" marR="0" lvl="1" indent="-57150" defTabSz="488950" eaLnBrk="1" fontAlgn="auto" latinLnBrk="0" hangingPunct="1">
                  <a:lnSpc>
                    <a:spcPct val="90000"/>
                  </a:lnSpc>
                  <a:spcBef>
                    <a:spcPts val="0"/>
                  </a:spcBef>
                  <a:spcAft>
                    <a:spcPct val="15000"/>
                  </a:spcAft>
                  <a:buClrTx/>
                  <a:buSzTx/>
                  <a:buFontTx/>
                  <a:buChar char="••"/>
                  <a:tabLst/>
                  <a:defRPr/>
                </a:pPr>
                <a:r>
                  <a:rPr kumimoji="0" lang="en-US" sz="1100" b="0" i="0" u="none" strike="noStrike" kern="0" cap="none" spc="0" normalizeH="0" baseline="0" noProof="0" dirty="0">
                    <a:ln>
                      <a:noFill/>
                    </a:ln>
                    <a:solidFill>
                      <a:prstClr val="black">
                        <a:hueOff val="0"/>
                        <a:satOff val="0"/>
                        <a:lumOff val="0"/>
                        <a:alphaOff val="0"/>
                      </a:prstClr>
                    </a:solidFill>
                    <a:effectLst/>
                    <a:uLnTx/>
                    <a:uFillTx/>
                    <a:latin typeface="Calibri" panose="020F0502020204030204"/>
                    <a:ea typeface="+mn-ea"/>
                    <a:cs typeface="+mn-cs"/>
                  </a:rPr>
                  <a:t>Coverage Polygons</a:t>
                </a:r>
              </a:p>
              <a:p>
                <a:pPr marL="57150" marR="0" lvl="1" indent="-57150" defTabSz="488950" eaLnBrk="1" fontAlgn="auto" latinLnBrk="0" hangingPunct="1">
                  <a:lnSpc>
                    <a:spcPct val="90000"/>
                  </a:lnSpc>
                  <a:spcBef>
                    <a:spcPts val="0"/>
                  </a:spcBef>
                  <a:spcAft>
                    <a:spcPct val="15000"/>
                  </a:spcAft>
                  <a:buClrTx/>
                  <a:buSzTx/>
                  <a:buFontTx/>
                  <a:buChar char="••"/>
                  <a:tabLst/>
                  <a:defRPr/>
                </a:pPr>
                <a:r>
                  <a:rPr kumimoji="0" lang="en-US" sz="1100" b="0" i="0" u="none" strike="noStrike" kern="0" cap="none" spc="0" normalizeH="0" baseline="0" noProof="0" dirty="0">
                    <a:ln>
                      <a:noFill/>
                    </a:ln>
                    <a:solidFill>
                      <a:prstClr val="black">
                        <a:hueOff val="0"/>
                        <a:satOff val="0"/>
                        <a:lumOff val="0"/>
                        <a:alphaOff val="0"/>
                      </a:prstClr>
                    </a:solidFill>
                    <a:effectLst/>
                    <a:uLnTx/>
                    <a:uFillTx/>
                    <a:latin typeface="Calibri" panose="020F0502020204030204"/>
                    <a:ea typeface="+mn-ea"/>
                    <a:cs typeface="+mn-cs"/>
                  </a:rPr>
                  <a:t>Sonar Mosaics</a:t>
                </a:r>
              </a:p>
            </p:txBody>
          </p:sp>
        </p:grpSp>
        <p:grpSp>
          <p:nvGrpSpPr>
            <p:cNvPr id="17" name="Group 16"/>
            <p:cNvGrpSpPr/>
            <p:nvPr/>
          </p:nvGrpSpPr>
          <p:grpSpPr>
            <a:xfrm>
              <a:off x="2790610" y="3654788"/>
              <a:ext cx="1142245" cy="1320783"/>
              <a:chOff x="5897260" y="3282571"/>
              <a:chExt cx="1142245" cy="1320783"/>
            </a:xfrm>
          </p:grpSpPr>
          <p:sp>
            <p:nvSpPr>
              <p:cNvPr id="21" name="Freeform 20"/>
              <p:cNvSpPr/>
              <p:nvPr/>
            </p:nvSpPr>
            <p:spPr>
              <a:xfrm>
                <a:off x="5897260" y="3282571"/>
                <a:ext cx="1142245" cy="316800"/>
              </a:xfrm>
              <a:custGeom>
                <a:avLst/>
                <a:gdLst>
                  <a:gd name="connsiteX0" fmla="*/ 0 w 1142245"/>
                  <a:gd name="connsiteY0" fmla="*/ 0 h 316800"/>
                  <a:gd name="connsiteX1" fmla="*/ 1142245 w 1142245"/>
                  <a:gd name="connsiteY1" fmla="*/ 0 h 316800"/>
                  <a:gd name="connsiteX2" fmla="*/ 1142245 w 1142245"/>
                  <a:gd name="connsiteY2" fmla="*/ 316800 h 316800"/>
                  <a:gd name="connsiteX3" fmla="*/ 0 w 1142245"/>
                  <a:gd name="connsiteY3" fmla="*/ 316800 h 316800"/>
                  <a:gd name="connsiteX4" fmla="*/ 0 w 1142245"/>
                  <a:gd name="connsiteY4" fmla="*/ 0 h 316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2245" h="316800">
                    <a:moveTo>
                      <a:pt x="0" y="0"/>
                    </a:moveTo>
                    <a:lnTo>
                      <a:pt x="1142245" y="0"/>
                    </a:lnTo>
                    <a:lnTo>
                      <a:pt x="1142245" y="316800"/>
                    </a:lnTo>
                    <a:lnTo>
                      <a:pt x="0" y="316800"/>
                    </a:lnTo>
                    <a:lnTo>
                      <a:pt x="0" y="0"/>
                    </a:lnTo>
                    <a:close/>
                  </a:path>
                </a:pathLst>
              </a:custGeom>
              <a:gradFill rotWithShape="1">
                <a:gsLst>
                  <a:gs pos="0">
                    <a:srgbClr val="5B9BD5">
                      <a:hueOff val="0"/>
                      <a:satOff val="0"/>
                      <a:lumOff val="0"/>
                      <a:alphaOff val="0"/>
                      <a:satMod val="103000"/>
                      <a:lumMod val="102000"/>
                      <a:tint val="94000"/>
                    </a:srgbClr>
                  </a:gs>
                  <a:gs pos="50000">
                    <a:srgbClr val="5B9BD5">
                      <a:hueOff val="0"/>
                      <a:satOff val="0"/>
                      <a:lumOff val="0"/>
                      <a:alphaOff val="0"/>
                      <a:satMod val="110000"/>
                      <a:lumMod val="100000"/>
                      <a:shade val="100000"/>
                    </a:srgbClr>
                  </a:gs>
                  <a:gs pos="100000">
                    <a:srgbClr val="5B9BD5">
                      <a:hueOff val="0"/>
                      <a:satOff val="0"/>
                      <a:lumOff val="0"/>
                      <a:alphaOff val="0"/>
                      <a:lumMod val="99000"/>
                      <a:satMod val="120000"/>
                      <a:shade val="78000"/>
                    </a:srgbClr>
                  </a:gs>
                </a:gsLst>
                <a:lin ang="5400000" scaled="0"/>
              </a:gradFill>
              <a:ln>
                <a:noFill/>
              </a:ln>
              <a:effectLst/>
              <a:scene3d>
                <a:camera prst="orthographicFront"/>
                <a:lightRig rig="threePt" dir="t">
                  <a:rot lat="0" lon="0" rev="7500000"/>
                </a:lightRig>
              </a:scene3d>
              <a:sp3d prstMaterial="plastic">
                <a:bevelT w="127000" h="25400" prst="relaxedInset"/>
              </a:sp3d>
            </p:spPr>
            <p:txBody>
              <a:bodyPr spcFirstLastPara="0" vert="horz" wrap="square" lIns="78232" tIns="44704" rIns="78232" bIns="44704" numCol="1" spcCol="1270" anchor="ctr" anchorCtr="0">
                <a:noAutofit/>
              </a:bodyPr>
              <a:lstStyle/>
              <a:p>
                <a:pPr marL="0" marR="0" lvl="0" indent="0" algn="ctr" defTabSz="488950" eaLnBrk="1" fontAlgn="auto" latinLnBrk="0" hangingPunct="1">
                  <a:lnSpc>
                    <a:spcPct val="90000"/>
                  </a:lnSpc>
                  <a:spcBef>
                    <a:spcPts val="0"/>
                  </a:spcBef>
                  <a:spcAft>
                    <a:spcPct val="35000"/>
                  </a:spcAft>
                  <a:buClrTx/>
                  <a:buSzTx/>
                  <a:buFontTx/>
                  <a:buNone/>
                  <a:tabLst/>
                  <a:defRPr/>
                </a:pPr>
                <a:r>
                  <a:rPr kumimoji="0" lang="en-US" sz="1100" b="1" i="0" u="none" strike="noStrike" kern="0" cap="none" spc="0" normalizeH="0" baseline="0" noProof="0" dirty="0">
                    <a:ln>
                      <a:noFill/>
                    </a:ln>
                    <a:solidFill>
                      <a:prstClr val="white"/>
                    </a:solidFill>
                    <a:effectLst/>
                    <a:uLnTx/>
                    <a:uFillTx/>
                    <a:latin typeface="Calibri" panose="020F0502020204030204"/>
                    <a:ea typeface="+mn-ea"/>
                    <a:cs typeface="+mn-cs"/>
                  </a:rPr>
                  <a:t>Format</a:t>
                </a:r>
              </a:p>
            </p:txBody>
          </p:sp>
          <p:sp>
            <p:nvSpPr>
              <p:cNvPr id="22" name="Freeform 21"/>
              <p:cNvSpPr/>
              <p:nvPr/>
            </p:nvSpPr>
            <p:spPr>
              <a:xfrm>
                <a:off x="5897260" y="3599371"/>
                <a:ext cx="1142245" cy="1003983"/>
              </a:xfrm>
              <a:custGeom>
                <a:avLst/>
                <a:gdLst>
                  <a:gd name="connsiteX0" fmla="*/ 0 w 1142245"/>
                  <a:gd name="connsiteY0" fmla="*/ 0 h 1003983"/>
                  <a:gd name="connsiteX1" fmla="*/ 1142245 w 1142245"/>
                  <a:gd name="connsiteY1" fmla="*/ 0 h 1003983"/>
                  <a:gd name="connsiteX2" fmla="*/ 1142245 w 1142245"/>
                  <a:gd name="connsiteY2" fmla="*/ 1003983 h 1003983"/>
                  <a:gd name="connsiteX3" fmla="*/ 0 w 1142245"/>
                  <a:gd name="connsiteY3" fmla="*/ 1003983 h 1003983"/>
                  <a:gd name="connsiteX4" fmla="*/ 0 w 1142245"/>
                  <a:gd name="connsiteY4" fmla="*/ 0 h 10039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2245" h="1003983">
                    <a:moveTo>
                      <a:pt x="0" y="0"/>
                    </a:moveTo>
                    <a:lnTo>
                      <a:pt x="1142245" y="0"/>
                    </a:lnTo>
                    <a:lnTo>
                      <a:pt x="1142245" y="1003983"/>
                    </a:lnTo>
                    <a:lnTo>
                      <a:pt x="0" y="1003983"/>
                    </a:lnTo>
                    <a:lnTo>
                      <a:pt x="0" y="0"/>
                    </a:lnTo>
                    <a:close/>
                  </a:path>
                </a:pathLst>
              </a:custGeom>
              <a:solidFill>
                <a:srgbClr val="5B9BD5">
                  <a:alpha val="90000"/>
                  <a:tint val="40000"/>
                  <a:hueOff val="0"/>
                  <a:satOff val="0"/>
                  <a:lumOff val="0"/>
                  <a:alphaOff val="0"/>
                </a:srgbClr>
              </a:solidFill>
              <a:ln w="6350" cap="flat" cmpd="sng" algn="ctr">
                <a:solidFill>
                  <a:srgbClr val="5B9BD5">
                    <a:alpha val="90000"/>
                    <a:tint val="40000"/>
                    <a:hueOff val="0"/>
                    <a:satOff val="0"/>
                    <a:lumOff val="0"/>
                    <a:alphaOff val="0"/>
                  </a:srgbClr>
                </a:solidFill>
                <a:prstDash val="solid"/>
                <a:miter lim="800000"/>
              </a:ln>
              <a:effectLst/>
              <a:scene3d>
                <a:camera prst="orthographicFront"/>
                <a:lightRig rig="threePt" dir="t">
                  <a:rot lat="0" lon="0" rev="7500000"/>
                </a:lightRig>
              </a:scene3d>
              <a:sp3d extrusionH="190500" prstMaterial="dkEdge">
                <a:bevelT w="120650" h="38100" prst="relaxedInset"/>
                <a:bevelB w="120650" h="57150" prst="relaxedInset"/>
                <a:contourClr>
                  <a:sysClr val="window" lastClr="FFFFFF"/>
                </a:contourClr>
              </a:sp3d>
            </p:spPr>
            <p:txBody>
              <a:bodyPr spcFirstLastPara="0" vert="horz" wrap="square" lIns="58674" tIns="58674" rIns="78232" bIns="88011" numCol="1" spcCol="1270" anchor="t" anchorCtr="0">
                <a:noAutofit/>
              </a:bodyPr>
              <a:lstStyle/>
              <a:p>
                <a:pPr marL="57150" marR="0" lvl="1" indent="-57150" defTabSz="488950" eaLnBrk="1" fontAlgn="auto" latinLnBrk="0" hangingPunct="1">
                  <a:lnSpc>
                    <a:spcPct val="90000"/>
                  </a:lnSpc>
                  <a:spcBef>
                    <a:spcPts val="0"/>
                  </a:spcBef>
                  <a:spcAft>
                    <a:spcPct val="15000"/>
                  </a:spcAft>
                  <a:buClrTx/>
                  <a:buSzTx/>
                  <a:buFontTx/>
                  <a:buChar char="••"/>
                  <a:tabLst/>
                  <a:defRPr/>
                </a:pPr>
                <a:r>
                  <a:rPr kumimoji="0" lang="en-US" sz="1100" b="0" i="0" u="none" strike="noStrike" kern="0" cap="none" spc="0" normalizeH="0" baseline="0" noProof="0" dirty="0">
                    <a:ln>
                      <a:noFill/>
                    </a:ln>
                    <a:solidFill>
                      <a:prstClr val="black">
                        <a:hueOff val="0"/>
                        <a:satOff val="0"/>
                        <a:lumOff val="0"/>
                        <a:alphaOff val="0"/>
                      </a:prstClr>
                    </a:solidFill>
                    <a:effectLst/>
                    <a:uLnTx/>
                    <a:uFillTx/>
                    <a:latin typeface="Calibri" panose="020F0502020204030204"/>
                    <a:ea typeface="+mn-ea"/>
                    <a:cs typeface="+mn-cs"/>
                  </a:rPr>
                  <a:t>Standard File Format</a:t>
                </a:r>
              </a:p>
              <a:p>
                <a:pPr marL="57150" marR="0" lvl="1" indent="-57150" defTabSz="488950" eaLnBrk="1" fontAlgn="auto" latinLnBrk="0" hangingPunct="1">
                  <a:lnSpc>
                    <a:spcPct val="90000"/>
                  </a:lnSpc>
                  <a:spcBef>
                    <a:spcPts val="0"/>
                  </a:spcBef>
                  <a:spcAft>
                    <a:spcPct val="15000"/>
                  </a:spcAft>
                  <a:buClrTx/>
                  <a:buSzTx/>
                  <a:buFontTx/>
                  <a:buChar char="••"/>
                  <a:tabLst/>
                  <a:defRPr/>
                </a:pPr>
                <a:r>
                  <a:rPr kumimoji="0" lang="en-US" sz="1100" b="0" i="0" u="none" strike="noStrike" kern="0" cap="none" spc="0" normalizeH="0" baseline="0" noProof="0" dirty="0">
                    <a:ln>
                      <a:noFill/>
                    </a:ln>
                    <a:solidFill>
                      <a:prstClr val="black">
                        <a:hueOff val="0"/>
                        <a:satOff val="0"/>
                        <a:lumOff val="0"/>
                        <a:alphaOff val="0"/>
                      </a:prstClr>
                    </a:solidFill>
                    <a:effectLst/>
                    <a:uLnTx/>
                    <a:uFillTx/>
                    <a:latin typeface="Calibri" panose="020F0502020204030204"/>
                    <a:ea typeface="+mn-ea"/>
                    <a:cs typeface="+mn-cs"/>
                  </a:rPr>
                  <a:t>QC</a:t>
                </a:r>
              </a:p>
              <a:p>
                <a:pPr marL="57150" marR="0" lvl="1" indent="-57150" defTabSz="488950" eaLnBrk="1" fontAlgn="auto" latinLnBrk="0" hangingPunct="1">
                  <a:lnSpc>
                    <a:spcPct val="90000"/>
                  </a:lnSpc>
                  <a:spcBef>
                    <a:spcPts val="0"/>
                  </a:spcBef>
                  <a:spcAft>
                    <a:spcPct val="15000"/>
                  </a:spcAft>
                  <a:buClrTx/>
                  <a:buSzTx/>
                  <a:buFontTx/>
                  <a:buChar char="••"/>
                  <a:tabLst/>
                  <a:defRPr/>
                </a:pPr>
                <a:r>
                  <a:rPr kumimoji="0" lang="en-US" sz="1100" b="0" i="0" u="none" strike="noStrike" kern="0" cap="none" spc="0" normalizeH="0" baseline="0" noProof="0" dirty="0">
                    <a:ln>
                      <a:noFill/>
                    </a:ln>
                    <a:solidFill>
                      <a:prstClr val="black">
                        <a:hueOff val="0"/>
                        <a:satOff val="0"/>
                        <a:lumOff val="0"/>
                        <a:alphaOff val="0"/>
                      </a:prstClr>
                    </a:solidFill>
                    <a:effectLst/>
                    <a:uLnTx/>
                    <a:uFillTx/>
                    <a:latin typeface="Calibri" panose="020F0502020204030204"/>
                    <a:ea typeface="+mn-ea"/>
                    <a:cs typeface="+mn-cs"/>
                  </a:rPr>
                  <a:t>Standard corrections</a:t>
                </a:r>
              </a:p>
            </p:txBody>
          </p:sp>
        </p:grpSp>
        <p:grpSp>
          <p:nvGrpSpPr>
            <p:cNvPr id="18" name="Group 17"/>
            <p:cNvGrpSpPr/>
            <p:nvPr/>
          </p:nvGrpSpPr>
          <p:grpSpPr>
            <a:xfrm>
              <a:off x="4031019" y="3656999"/>
              <a:ext cx="1142245" cy="1320783"/>
              <a:chOff x="7199420" y="3282571"/>
              <a:chExt cx="1142245" cy="1320783"/>
            </a:xfrm>
          </p:grpSpPr>
          <p:sp>
            <p:nvSpPr>
              <p:cNvPr id="19" name="Freeform 18"/>
              <p:cNvSpPr/>
              <p:nvPr/>
            </p:nvSpPr>
            <p:spPr>
              <a:xfrm>
                <a:off x="7199420" y="3282571"/>
                <a:ext cx="1142245" cy="316800"/>
              </a:xfrm>
              <a:custGeom>
                <a:avLst/>
                <a:gdLst>
                  <a:gd name="connsiteX0" fmla="*/ 0 w 1142245"/>
                  <a:gd name="connsiteY0" fmla="*/ 0 h 316800"/>
                  <a:gd name="connsiteX1" fmla="*/ 1142245 w 1142245"/>
                  <a:gd name="connsiteY1" fmla="*/ 0 h 316800"/>
                  <a:gd name="connsiteX2" fmla="*/ 1142245 w 1142245"/>
                  <a:gd name="connsiteY2" fmla="*/ 316800 h 316800"/>
                  <a:gd name="connsiteX3" fmla="*/ 0 w 1142245"/>
                  <a:gd name="connsiteY3" fmla="*/ 316800 h 316800"/>
                  <a:gd name="connsiteX4" fmla="*/ 0 w 1142245"/>
                  <a:gd name="connsiteY4" fmla="*/ 0 h 316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2245" h="316800">
                    <a:moveTo>
                      <a:pt x="0" y="0"/>
                    </a:moveTo>
                    <a:lnTo>
                      <a:pt x="1142245" y="0"/>
                    </a:lnTo>
                    <a:lnTo>
                      <a:pt x="1142245" y="316800"/>
                    </a:lnTo>
                    <a:lnTo>
                      <a:pt x="0" y="316800"/>
                    </a:lnTo>
                    <a:lnTo>
                      <a:pt x="0" y="0"/>
                    </a:lnTo>
                    <a:close/>
                  </a:path>
                </a:pathLst>
              </a:custGeom>
              <a:gradFill rotWithShape="1">
                <a:gsLst>
                  <a:gs pos="0">
                    <a:srgbClr val="5B9BD5">
                      <a:hueOff val="0"/>
                      <a:satOff val="0"/>
                      <a:lumOff val="0"/>
                      <a:alphaOff val="0"/>
                      <a:satMod val="103000"/>
                      <a:lumMod val="102000"/>
                      <a:tint val="94000"/>
                    </a:srgbClr>
                  </a:gs>
                  <a:gs pos="50000">
                    <a:srgbClr val="5B9BD5">
                      <a:hueOff val="0"/>
                      <a:satOff val="0"/>
                      <a:lumOff val="0"/>
                      <a:alphaOff val="0"/>
                      <a:satMod val="110000"/>
                      <a:lumMod val="100000"/>
                      <a:shade val="100000"/>
                    </a:srgbClr>
                  </a:gs>
                  <a:gs pos="100000">
                    <a:srgbClr val="5B9BD5">
                      <a:hueOff val="0"/>
                      <a:satOff val="0"/>
                      <a:lumOff val="0"/>
                      <a:alphaOff val="0"/>
                      <a:lumMod val="99000"/>
                      <a:satMod val="120000"/>
                      <a:shade val="78000"/>
                    </a:srgbClr>
                  </a:gs>
                </a:gsLst>
                <a:lin ang="5400000" scaled="0"/>
              </a:gradFill>
              <a:ln>
                <a:noFill/>
              </a:ln>
              <a:effectLst/>
              <a:scene3d>
                <a:camera prst="orthographicFront"/>
                <a:lightRig rig="threePt" dir="t">
                  <a:rot lat="0" lon="0" rev="7500000"/>
                </a:lightRig>
              </a:scene3d>
              <a:sp3d prstMaterial="plastic">
                <a:bevelT w="127000" h="25400" prst="relaxedInset"/>
              </a:sp3d>
            </p:spPr>
            <p:txBody>
              <a:bodyPr spcFirstLastPara="0" vert="horz" wrap="square" lIns="78232" tIns="44704" rIns="78232" bIns="44704" numCol="1" spcCol="1270" anchor="ctr" anchorCtr="0">
                <a:noAutofit/>
              </a:bodyPr>
              <a:lstStyle/>
              <a:p>
                <a:pPr marL="0" marR="0" lvl="0" indent="0" algn="ctr" defTabSz="488950" eaLnBrk="1" fontAlgn="auto" latinLnBrk="0" hangingPunct="1">
                  <a:lnSpc>
                    <a:spcPct val="90000"/>
                  </a:lnSpc>
                  <a:spcBef>
                    <a:spcPts val="0"/>
                  </a:spcBef>
                  <a:spcAft>
                    <a:spcPct val="35000"/>
                  </a:spcAft>
                  <a:buClrTx/>
                  <a:buSzTx/>
                  <a:buFontTx/>
                  <a:buNone/>
                  <a:tabLst/>
                  <a:defRPr/>
                </a:pPr>
                <a:r>
                  <a:rPr kumimoji="0" lang="en-US" sz="1100" b="1" i="0" u="none" strike="noStrike" kern="0" cap="none" spc="0" normalizeH="0" baseline="0" noProof="0" dirty="0">
                    <a:ln>
                      <a:noFill/>
                    </a:ln>
                    <a:solidFill>
                      <a:prstClr val="white"/>
                    </a:solidFill>
                    <a:effectLst/>
                    <a:uLnTx/>
                    <a:uFillTx/>
                    <a:latin typeface="Calibri" panose="020F0502020204030204"/>
                    <a:ea typeface="+mn-ea"/>
                    <a:cs typeface="+mn-cs"/>
                  </a:rPr>
                  <a:t>Store</a:t>
                </a:r>
              </a:p>
            </p:txBody>
          </p:sp>
          <p:sp>
            <p:nvSpPr>
              <p:cNvPr id="20" name="Freeform 19"/>
              <p:cNvSpPr/>
              <p:nvPr/>
            </p:nvSpPr>
            <p:spPr>
              <a:xfrm>
                <a:off x="7199420" y="3599371"/>
                <a:ext cx="1142245" cy="1003983"/>
              </a:xfrm>
              <a:custGeom>
                <a:avLst/>
                <a:gdLst>
                  <a:gd name="connsiteX0" fmla="*/ 0 w 1142245"/>
                  <a:gd name="connsiteY0" fmla="*/ 0 h 1003983"/>
                  <a:gd name="connsiteX1" fmla="*/ 1142245 w 1142245"/>
                  <a:gd name="connsiteY1" fmla="*/ 0 h 1003983"/>
                  <a:gd name="connsiteX2" fmla="*/ 1142245 w 1142245"/>
                  <a:gd name="connsiteY2" fmla="*/ 1003983 h 1003983"/>
                  <a:gd name="connsiteX3" fmla="*/ 0 w 1142245"/>
                  <a:gd name="connsiteY3" fmla="*/ 1003983 h 1003983"/>
                  <a:gd name="connsiteX4" fmla="*/ 0 w 1142245"/>
                  <a:gd name="connsiteY4" fmla="*/ 0 h 10039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2245" h="1003983">
                    <a:moveTo>
                      <a:pt x="0" y="0"/>
                    </a:moveTo>
                    <a:lnTo>
                      <a:pt x="1142245" y="0"/>
                    </a:lnTo>
                    <a:lnTo>
                      <a:pt x="1142245" y="1003983"/>
                    </a:lnTo>
                    <a:lnTo>
                      <a:pt x="0" y="1003983"/>
                    </a:lnTo>
                    <a:lnTo>
                      <a:pt x="0" y="0"/>
                    </a:lnTo>
                    <a:close/>
                  </a:path>
                </a:pathLst>
              </a:custGeom>
              <a:solidFill>
                <a:srgbClr val="5B9BD5">
                  <a:alpha val="90000"/>
                  <a:tint val="40000"/>
                  <a:hueOff val="0"/>
                  <a:satOff val="0"/>
                  <a:lumOff val="0"/>
                  <a:alphaOff val="0"/>
                </a:srgbClr>
              </a:solidFill>
              <a:ln w="6350" cap="flat" cmpd="sng" algn="ctr">
                <a:solidFill>
                  <a:srgbClr val="5B9BD5">
                    <a:alpha val="90000"/>
                    <a:tint val="40000"/>
                    <a:hueOff val="0"/>
                    <a:satOff val="0"/>
                    <a:lumOff val="0"/>
                    <a:alphaOff val="0"/>
                  </a:srgbClr>
                </a:solidFill>
                <a:prstDash val="solid"/>
                <a:miter lim="800000"/>
              </a:ln>
              <a:effectLst/>
              <a:scene3d>
                <a:camera prst="orthographicFront"/>
                <a:lightRig rig="threePt" dir="t">
                  <a:rot lat="0" lon="0" rev="7500000"/>
                </a:lightRig>
              </a:scene3d>
              <a:sp3d extrusionH="190500" prstMaterial="dkEdge">
                <a:bevelT w="120650" h="38100" prst="relaxedInset"/>
                <a:bevelB w="120650" h="57150" prst="relaxedInset"/>
                <a:contourClr>
                  <a:sysClr val="window" lastClr="FFFFFF"/>
                </a:contourClr>
              </a:sp3d>
            </p:spPr>
            <p:txBody>
              <a:bodyPr spcFirstLastPara="0" vert="horz" wrap="square" lIns="58674" tIns="58674" rIns="78232" bIns="88011" numCol="1" spcCol="1270" anchor="t" anchorCtr="0">
                <a:noAutofit/>
              </a:bodyPr>
              <a:lstStyle/>
              <a:p>
                <a:pPr marL="57150" marR="0" lvl="1" indent="-57150" defTabSz="488950" eaLnBrk="1" fontAlgn="auto" latinLnBrk="0" hangingPunct="1">
                  <a:lnSpc>
                    <a:spcPct val="90000"/>
                  </a:lnSpc>
                  <a:spcBef>
                    <a:spcPts val="0"/>
                  </a:spcBef>
                  <a:spcAft>
                    <a:spcPct val="15000"/>
                  </a:spcAft>
                  <a:buClrTx/>
                  <a:buSzTx/>
                  <a:buFontTx/>
                  <a:buChar char="••"/>
                  <a:tabLst/>
                  <a:defRPr/>
                </a:pPr>
                <a:r>
                  <a:rPr kumimoji="0" lang="en-US" sz="1100" b="0" i="0" u="none" strike="noStrike" kern="0" cap="none" spc="0" normalizeH="0" baseline="0" noProof="0" dirty="0">
                    <a:ln>
                      <a:noFill/>
                    </a:ln>
                    <a:solidFill>
                      <a:prstClr val="black">
                        <a:hueOff val="0"/>
                        <a:satOff val="0"/>
                        <a:lumOff val="0"/>
                        <a:alphaOff val="0"/>
                      </a:prstClr>
                    </a:solidFill>
                    <a:effectLst/>
                    <a:uLnTx/>
                    <a:uFillTx/>
                    <a:latin typeface="Calibri" panose="020F0502020204030204"/>
                    <a:ea typeface="+mn-ea"/>
                    <a:cs typeface="+mn-cs"/>
                  </a:rPr>
                  <a:t>Raw Data</a:t>
                </a:r>
              </a:p>
              <a:p>
                <a:pPr marL="57150" marR="0" lvl="1" indent="-57150" defTabSz="488950" eaLnBrk="1" fontAlgn="auto" latinLnBrk="0" hangingPunct="1">
                  <a:lnSpc>
                    <a:spcPct val="90000"/>
                  </a:lnSpc>
                  <a:spcBef>
                    <a:spcPts val="0"/>
                  </a:spcBef>
                  <a:spcAft>
                    <a:spcPct val="15000"/>
                  </a:spcAft>
                  <a:buClrTx/>
                  <a:buSzTx/>
                  <a:buFontTx/>
                  <a:buChar char="••"/>
                  <a:tabLst/>
                  <a:defRPr/>
                </a:pPr>
                <a:r>
                  <a:rPr kumimoji="0" lang="en-US" sz="1100" b="0" i="0" u="none" strike="noStrike" kern="0" cap="none" spc="0" normalizeH="0" baseline="0" noProof="0" dirty="0">
                    <a:ln>
                      <a:noFill/>
                    </a:ln>
                    <a:solidFill>
                      <a:prstClr val="black">
                        <a:hueOff val="0"/>
                        <a:satOff val="0"/>
                        <a:lumOff val="0"/>
                        <a:alphaOff val="0"/>
                      </a:prstClr>
                    </a:solidFill>
                    <a:effectLst/>
                    <a:uLnTx/>
                    <a:uFillTx/>
                    <a:latin typeface="Calibri" panose="020F0502020204030204"/>
                    <a:ea typeface="+mn-ea"/>
                    <a:cs typeface="+mn-cs"/>
                  </a:rPr>
                  <a:t>Web accessible file</a:t>
                </a:r>
              </a:p>
              <a:p>
                <a:pPr marL="57150" marR="0" lvl="1" indent="-57150" defTabSz="488950" eaLnBrk="1" fontAlgn="auto" latinLnBrk="0" hangingPunct="1">
                  <a:lnSpc>
                    <a:spcPct val="90000"/>
                  </a:lnSpc>
                  <a:spcBef>
                    <a:spcPts val="0"/>
                  </a:spcBef>
                  <a:spcAft>
                    <a:spcPct val="15000"/>
                  </a:spcAft>
                  <a:buClrTx/>
                  <a:buSzTx/>
                  <a:buFontTx/>
                  <a:buChar char="••"/>
                  <a:tabLst/>
                  <a:defRPr/>
                </a:pPr>
                <a:r>
                  <a:rPr kumimoji="0" lang="en-US" sz="1100" b="0" i="0" u="none" strike="noStrike" kern="0" cap="none" spc="0" normalizeH="0" baseline="0" noProof="0" dirty="0">
                    <a:ln>
                      <a:noFill/>
                    </a:ln>
                    <a:solidFill>
                      <a:prstClr val="black">
                        <a:hueOff val="0"/>
                        <a:satOff val="0"/>
                        <a:lumOff val="0"/>
                        <a:alphaOff val="0"/>
                      </a:prstClr>
                    </a:solidFill>
                    <a:effectLst/>
                    <a:uLnTx/>
                    <a:uFillTx/>
                    <a:latin typeface="Calibri" panose="020F0502020204030204"/>
                    <a:ea typeface="+mn-ea"/>
                    <a:cs typeface="+mn-cs"/>
                  </a:rPr>
                  <a:t>Links to file</a:t>
                </a:r>
              </a:p>
              <a:p>
                <a:pPr marL="57150" marR="0" lvl="1" indent="-57150" defTabSz="488950" eaLnBrk="1" fontAlgn="auto" latinLnBrk="0" hangingPunct="1">
                  <a:lnSpc>
                    <a:spcPct val="90000"/>
                  </a:lnSpc>
                  <a:spcBef>
                    <a:spcPts val="0"/>
                  </a:spcBef>
                  <a:spcAft>
                    <a:spcPct val="15000"/>
                  </a:spcAft>
                  <a:buClrTx/>
                  <a:buSzTx/>
                  <a:buFontTx/>
                  <a:buChar char="••"/>
                  <a:tabLst/>
                  <a:defRPr/>
                </a:pPr>
                <a:r>
                  <a:rPr kumimoji="0" lang="en-US" sz="1100" b="0" i="0" u="none" strike="noStrike" kern="0" cap="none" spc="0" normalizeH="0" baseline="0" noProof="0" dirty="0">
                    <a:ln>
                      <a:noFill/>
                    </a:ln>
                    <a:solidFill>
                      <a:prstClr val="black">
                        <a:hueOff val="0"/>
                        <a:satOff val="0"/>
                        <a:lumOff val="0"/>
                        <a:alphaOff val="0"/>
                      </a:prstClr>
                    </a:solidFill>
                    <a:effectLst/>
                    <a:uLnTx/>
                    <a:uFillTx/>
                    <a:latin typeface="Calibri" panose="020F0502020204030204"/>
                    <a:ea typeface="+mn-ea"/>
                    <a:cs typeface="+mn-cs"/>
                  </a:rPr>
                  <a:t>Discoverable</a:t>
                </a:r>
              </a:p>
              <a:p>
                <a:pPr marL="57150" marR="0" lvl="1" indent="-57150" defTabSz="488950" eaLnBrk="1" fontAlgn="auto" latinLnBrk="0" hangingPunct="1">
                  <a:lnSpc>
                    <a:spcPct val="90000"/>
                  </a:lnSpc>
                  <a:spcBef>
                    <a:spcPts val="0"/>
                  </a:spcBef>
                  <a:spcAft>
                    <a:spcPct val="15000"/>
                  </a:spcAft>
                  <a:buClrTx/>
                  <a:buSzTx/>
                  <a:buFontTx/>
                  <a:buChar char="••"/>
                  <a:tabLst/>
                  <a:defRPr/>
                </a:pPr>
                <a:endParaRPr kumimoji="0" lang="en-US" sz="1100" b="0" i="0" u="none" strike="noStrike" kern="0" cap="none" spc="0" normalizeH="0" baseline="0" noProof="0" dirty="0">
                  <a:ln>
                    <a:noFill/>
                  </a:ln>
                  <a:solidFill>
                    <a:prstClr val="black">
                      <a:hueOff val="0"/>
                      <a:satOff val="0"/>
                      <a:lumOff val="0"/>
                      <a:alphaOff val="0"/>
                    </a:prstClr>
                  </a:solidFill>
                  <a:effectLst/>
                  <a:uLnTx/>
                  <a:uFillTx/>
                  <a:latin typeface="Calibri" panose="020F0502020204030204"/>
                  <a:ea typeface="+mn-ea"/>
                  <a:cs typeface="+mn-cs"/>
                </a:endParaRPr>
              </a:p>
            </p:txBody>
          </p:sp>
        </p:grpSp>
      </p:grpSp>
      <p:sp>
        <p:nvSpPr>
          <p:cNvPr id="27" name="TextBox 26"/>
          <p:cNvSpPr txBox="1"/>
          <p:nvPr/>
        </p:nvSpPr>
        <p:spPr>
          <a:xfrm>
            <a:off x="6933711" y="4494635"/>
            <a:ext cx="2935588" cy="93871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u="sng" dirty="0" err="1">
                <a:solidFill>
                  <a:prstClr val="black"/>
                </a:solidFill>
                <a:latin typeface="Franklin Gothic Medium" panose="020B0603020102020204" pitchFamily="34" charset="0"/>
              </a:rPr>
              <a:t>UxS</a:t>
            </a:r>
            <a:r>
              <a:rPr lang="en-US" sz="1100" u="sng" dirty="0">
                <a:solidFill>
                  <a:prstClr val="black"/>
                </a:solidFill>
                <a:latin typeface="Franklin Gothic Medium" panose="020B0603020102020204" pitchFamily="34" charset="0"/>
              </a:rPr>
              <a:t> Data Output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err="1">
                <a:solidFill>
                  <a:prstClr val="black"/>
                </a:solidFill>
                <a:latin typeface="Franklin Gothic Medium" panose="020B0603020102020204" pitchFamily="34" charset="0"/>
              </a:rPr>
              <a:t>NetCDF</a:t>
            </a:r>
            <a:r>
              <a:rPr lang="en-US" sz="1100" dirty="0">
                <a:solidFill>
                  <a:prstClr val="black"/>
                </a:solidFill>
                <a:latin typeface="Franklin Gothic Medium" panose="020B0603020102020204" pitchFamily="34" charset="0"/>
              </a:rPr>
              <a:t> (.</a:t>
            </a:r>
            <a:r>
              <a:rPr lang="en-US" sz="1100" dirty="0" err="1">
                <a:solidFill>
                  <a:prstClr val="black"/>
                </a:solidFill>
                <a:latin typeface="Franklin Gothic Medium" panose="020B0603020102020204" pitchFamily="34" charset="0"/>
              </a:rPr>
              <a:t>nc</a:t>
            </a:r>
            <a:r>
              <a:rPr lang="en-US" sz="1100" dirty="0">
                <a:solidFill>
                  <a:prstClr val="black"/>
                </a:solidFill>
                <a:latin typeface="Franklin Gothic Medium" panose="020B0603020102020204" pitchFamily="34" charset="0"/>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Franklin Gothic Medium" panose="020B0603020102020204" pitchFamily="34" charset="0"/>
              </a:rPr>
              <a:t>UNISIPS (.u)</a:t>
            </a:r>
          </a:p>
          <a:p>
            <a:pPr algn="ctr">
              <a:defRPr/>
            </a:pPr>
            <a:r>
              <a:rPr lang="en-US" sz="1100" dirty="0">
                <a:solidFill>
                  <a:prstClr val="black"/>
                </a:solidFill>
                <a:latin typeface="Franklin Gothic Medium" panose="020B0603020102020204" pitchFamily="34" charset="0"/>
              </a:rPr>
              <a:t>Raw Sensor Data </a:t>
            </a:r>
          </a:p>
          <a:p>
            <a:pPr algn="ctr">
              <a:defRPr/>
            </a:pPr>
            <a:r>
              <a:rPr lang="en-US" sz="1100" dirty="0">
                <a:solidFill>
                  <a:prstClr val="black"/>
                </a:solidFill>
                <a:latin typeface="Franklin Gothic Medium" panose="020B0603020102020204" pitchFamily="34" charset="0"/>
              </a:rPr>
              <a:t>WMS, KML</a:t>
            </a:r>
          </a:p>
        </p:txBody>
      </p:sp>
      <p:grpSp>
        <p:nvGrpSpPr>
          <p:cNvPr id="28" name="Group 27">
            <a:extLst>
              <a:ext uri="{FF2B5EF4-FFF2-40B4-BE49-F238E27FC236}">
                <a16:creationId xmlns:a16="http://schemas.microsoft.com/office/drawing/2014/main" id="{8CD0E05C-6CCC-0209-6052-E630CB8CCA56}"/>
              </a:ext>
            </a:extLst>
          </p:cNvPr>
          <p:cNvGrpSpPr/>
          <p:nvPr/>
        </p:nvGrpSpPr>
        <p:grpSpPr>
          <a:xfrm>
            <a:off x="10209922" y="4224513"/>
            <a:ext cx="1725008" cy="1367972"/>
            <a:chOff x="3159190" y="2658882"/>
            <a:chExt cx="1708120" cy="1106574"/>
          </a:xfrm>
        </p:grpSpPr>
        <p:sp>
          <p:nvSpPr>
            <p:cNvPr id="29" name="Rounded Rectangle 28"/>
            <p:cNvSpPr/>
            <p:nvPr/>
          </p:nvSpPr>
          <p:spPr>
            <a:xfrm rot="5400000">
              <a:off x="3465865" y="2352207"/>
              <a:ext cx="1094770" cy="1708120"/>
            </a:xfrm>
            <a:prstGeom prst="roundRect">
              <a:avLst/>
            </a:prstGeom>
            <a:solidFill>
              <a:srgbClr val="5B9BD5"/>
            </a:solidFill>
            <a:ln w="12700" cap="flat" cmpd="sng" algn="ctr">
              <a:solidFill>
                <a:srgbClr val="5B9BD5">
                  <a:shade val="50000"/>
                </a:srgbClr>
              </a:solidFill>
              <a:prstDash val="solid"/>
              <a:miter lim="800000"/>
            </a:ln>
            <a:effectLst/>
          </p:spPr>
          <p:txBody>
            <a:bodyPr rtlCol="0" anchor="b"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50" b="0" i="0" u="none" strike="noStrike" kern="0" cap="none" spc="0" normalizeH="0" baseline="0" noProof="0" dirty="0">
                  <a:ln>
                    <a:noFill/>
                  </a:ln>
                  <a:solidFill>
                    <a:prstClr val="white"/>
                  </a:solidFill>
                  <a:effectLst/>
                  <a:uLnTx/>
                  <a:uFillTx/>
                  <a:latin typeface="Calibri" panose="020F0502020204030204"/>
                  <a:ea typeface="+mn-ea"/>
                  <a:cs typeface="+mn-cs"/>
                </a:rPr>
                <a:t>STORAGE</a:t>
              </a:r>
            </a:p>
          </p:txBody>
        </p:sp>
        <p:grpSp>
          <p:nvGrpSpPr>
            <p:cNvPr id="30" name="Group 29"/>
            <p:cNvGrpSpPr/>
            <p:nvPr/>
          </p:nvGrpSpPr>
          <p:grpSpPr>
            <a:xfrm>
              <a:off x="3472093" y="2834278"/>
              <a:ext cx="1277673" cy="931178"/>
              <a:chOff x="4563628" y="2480295"/>
              <a:chExt cx="1703563" cy="1241570"/>
            </a:xfrm>
          </p:grpSpPr>
          <p:pic>
            <p:nvPicPr>
              <p:cNvPr id="31" name="Picture 3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34600" y="2480295"/>
                <a:ext cx="864710" cy="864710"/>
              </a:xfrm>
              <a:prstGeom prst="rect">
                <a:avLst/>
              </a:prstGeom>
            </p:spPr>
          </p:pic>
          <p:pic>
            <p:nvPicPr>
              <p:cNvPr id="32" name="Picture 3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02481" y="2480295"/>
                <a:ext cx="864710" cy="864710"/>
              </a:xfrm>
              <a:prstGeom prst="rect">
                <a:avLst/>
              </a:prstGeom>
            </p:spPr>
          </p:pic>
          <p:sp>
            <p:nvSpPr>
              <p:cNvPr id="33" name="TextBox 32"/>
              <p:cNvSpPr txBox="1"/>
              <p:nvPr/>
            </p:nvSpPr>
            <p:spPr>
              <a:xfrm>
                <a:off x="4563628" y="3352534"/>
                <a:ext cx="910142" cy="36933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Calibri" panose="020F0502020204030204"/>
                  </a:rPr>
                  <a:t>Public</a:t>
                </a:r>
              </a:p>
            </p:txBody>
          </p:sp>
          <p:sp>
            <p:nvSpPr>
              <p:cNvPr id="34" name="TextBox 33"/>
              <p:cNvSpPr txBox="1"/>
              <p:nvPr/>
            </p:nvSpPr>
            <p:spPr>
              <a:xfrm>
                <a:off x="5428023" y="3346107"/>
                <a:ext cx="813628"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Calibri" panose="020F0502020204030204"/>
                  </a:rPr>
                  <a:t>USA</a:t>
                </a:r>
              </a:p>
            </p:txBody>
          </p:sp>
        </p:grpSp>
      </p:grpSp>
      <p:sp>
        <p:nvSpPr>
          <p:cNvPr id="35" name="Right Arrow 34"/>
          <p:cNvSpPr/>
          <p:nvPr/>
        </p:nvSpPr>
        <p:spPr>
          <a:xfrm rot="10800000">
            <a:off x="7084681" y="4702203"/>
            <a:ext cx="298205" cy="313458"/>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8" name="Right Arrow 37"/>
          <p:cNvSpPr/>
          <p:nvPr/>
        </p:nvSpPr>
        <p:spPr>
          <a:xfrm>
            <a:off x="9396788" y="4702204"/>
            <a:ext cx="312403" cy="313458"/>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9" name="Right Arrow 38"/>
          <p:cNvSpPr/>
          <p:nvPr/>
        </p:nvSpPr>
        <p:spPr>
          <a:xfrm rot="5400000">
            <a:off x="8214552" y="4038122"/>
            <a:ext cx="373904" cy="253899"/>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0" name="Right Arrow 39"/>
          <p:cNvSpPr/>
          <p:nvPr/>
        </p:nvSpPr>
        <p:spPr>
          <a:xfrm>
            <a:off x="5687623" y="2399095"/>
            <a:ext cx="312403" cy="313458"/>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1" name="Right Arrow 40"/>
          <p:cNvSpPr/>
          <p:nvPr/>
        </p:nvSpPr>
        <p:spPr>
          <a:xfrm>
            <a:off x="3491416" y="2395184"/>
            <a:ext cx="312403" cy="313458"/>
          </a:xfrm>
          <a:prstGeom prst="rightArrow">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pic>
        <p:nvPicPr>
          <p:cNvPr id="42" name="Picture 4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092377" y="4426129"/>
            <a:ext cx="1041090" cy="1041090"/>
          </a:xfrm>
          <a:prstGeom prst="rect">
            <a:avLst/>
          </a:prstGeom>
        </p:spPr>
      </p:pic>
      <p:pic>
        <p:nvPicPr>
          <p:cNvPr id="43" name="Picture 4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976" y="2241665"/>
            <a:ext cx="1041090" cy="1041090"/>
          </a:xfrm>
          <a:prstGeom prst="rect">
            <a:avLst/>
          </a:prstGeom>
        </p:spPr>
      </p:pic>
      <p:sp>
        <p:nvSpPr>
          <p:cNvPr id="44" name="Title 4">
            <a:extLst>
              <a:ext uri="{FF2B5EF4-FFF2-40B4-BE49-F238E27FC236}">
                <a16:creationId xmlns:a16="http://schemas.microsoft.com/office/drawing/2014/main" id="{51B6B9E6-D1E3-49CA-9EE3-0244AB7CEF4A}"/>
              </a:ext>
            </a:extLst>
          </p:cNvPr>
          <p:cNvSpPr>
            <a:spLocks noGrp="1"/>
          </p:cNvSpPr>
          <p:nvPr>
            <p:ph type="title"/>
          </p:nvPr>
        </p:nvSpPr>
        <p:spPr>
          <a:xfrm>
            <a:off x="0" y="776829"/>
            <a:ext cx="12192000" cy="1325563"/>
          </a:xfrm>
        </p:spPr>
        <p:txBody>
          <a:bodyPr/>
          <a:lstStyle/>
          <a:p>
            <a:r>
              <a:rPr lang="en-US" dirty="0"/>
              <a:t>Leveraging Standardized Data and Metadata</a:t>
            </a:r>
          </a:p>
        </p:txBody>
      </p:sp>
      <p:pic>
        <p:nvPicPr>
          <p:cNvPr id="47" name="Picture 46"/>
          <p:cNvPicPr>
            <a:picLocks noChangeAspect="1"/>
          </p:cNvPicPr>
          <p:nvPr/>
        </p:nvPicPr>
        <p:blipFill>
          <a:blip r:embed="rId6"/>
          <a:stretch>
            <a:fillRect/>
          </a:stretch>
        </p:blipFill>
        <p:spPr>
          <a:xfrm>
            <a:off x="4114997" y="4105167"/>
            <a:ext cx="2620099" cy="1606664"/>
          </a:xfrm>
          <a:prstGeom prst="rect">
            <a:avLst/>
          </a:prstGeom>
        </p:spPr>
      </p:pic>
      <p:sp>
        <p:nvSpPr>
          <p:cNvPr id="48" name="TextBox 47"/>
          <p:cNvSpPr txBox="1"/>
          <p:nvPr/>
        </p:nvSpPr>
        <p:spPr>
          <a:xfrm>
            <a:off x="3689167" y="5765510"/>
            <a:ext cx="3471758" cy="307777"/>
          </a:xfrm>
          <a:prstGeom prst="rect">
            <a:avLst/>
          </a:prstGeom>
          <a:noFill/>
        </p:spPr>
        <p:txBody>
          <a:bodyPr wrap="square" rtlCol="0">
            <a:spAutoFit/>
          </a:bodyPr>
          <a:lstStyle/>
          <a:p>
            <a:pPr algn="ctr"/>
            <a:r>
              <a:rPr lang="en-US" b="1" dirty="0"/>
              <a:t>Data as a Service (</a:t>
            </a:r>
            <a:r>
              <a:rPr lang="en-US" b="1" dirty="0" err="1"/>
              <a:t>DaaS</a:t>
            </a:r>
            <a:r>
              <a:rPr lang="en-US" b="1" dirty="0"/>
              <a:t>)</a:t>
            </a:r>
          </a:p>
        </p:txBody>
      </p:sp>
      <p:sp>
        <p:nvSpPr>
          <p:cNvPr id="49" name="TextBox 48"/>
          <p:cNvSpPr txBox="1"/>
          <p:nvPr/>
        </p:nvSpPr>
        <p:spPr>
          <a:xfrm>
            <a:off x="9845111" y="5712046"/>
            <a:ext cx="2452746" cy="523220"/>
          </a:xfrm>
          <a:prstGeom prst="rect">
            <a:avLst/>
          </a:prstGeom>
          <a:noFill/>
        </p:spPr>
        <p:txBody>
          <a:bodyPr wrap="square" rtlCol="0">
            <a:spAutoFit/>
          </a:bodyPr>
          <a:lstStyle/>
          <a:p>
            <a:pPr algn="ctr"/>
            <a:r>
              <a:rPr lang="en-US" b="1" dirty="0"/>
              <a:t>Searchable Keyword Enabled Archives</a:t>
            </a:r>
          </a:p>
        </p:txBody>
      </p:sp>
      <p:pic>
        <p:nvPicPr>
          <p:cNvPr id="3" name="Picture 2">
            <a:extLst>
              <a:ext uri="{FF2B5EF4-FFF2-40B4-BE49-F238E27FC236}">
                <a16:creationId xmlns:a16="http://schemas.microsoft.com/office/drawing/2014/main" id="{DAB305EF-B691-4A0B-A359-9A58B1E21EA3}"/>
              </a:ext>
            </a:extLst>
          </p:cNvPr>
          <p:cNvPicPr>
            <a:picLocks noChangeAspect="1"/>
          </p:cNvPicPr>
          <p:nvPr/>
        </p:nvPicPr>
        <p:blipFill>
          <a:blip r:embed="rId7"/>
          <a:stretch>
            <a:fillRect/>
          </a:stretch>
        </p:blipFill>
        <p:spPr>
          <a:xfrm>
            <a:off x="96383" y="3485487"/>
            <a:ext cx="3189078" cy="1983931"/>
          </a:xfrm>
          <a:prstGeom prst="rect">
            <a:avLst/>
          </a:prstGeom>
        </p:spPr>
      </p:pic>
      <p:sp>
        <p:nvSpPr>
          <p:cNvPr id="36" name="TextBox 35">
            <a:extLst>
              <a:ext uri="{FF2B5EF4-FFF2-40B4-BE49-F238E27FC236}">
                <a16:creationId xmlns:a16="http://schemas.microsoft.com/office/drawing/2014/main" id="{FA55D06E-ED44-41F9-9642-30F96D8E369B}"/>
              </a:ext>
            </a:extLst>
          </p:cNvPr>
          <p:cNvSpPr txBox="1"/>
          <p:nvPr/>
        </p:nvSpPr>
        <p:spPr>
          <a:xfrm>
            <a:off x="96383" y="5577894"/>
            <a:ext cx="3189078" cy="200055"/>
          </a:xfrm>
          <a:prstGeom prst="rect">
            <a:avLst/>
          </a:prstGeom>
          <a:noFill/>
        </p:spPr>
        <p:txBody>
          <a:bodyPr wrap="square" rtlCol="0">
            <a:spAutoFit/>
          </a:bodyPr>
          <a:lstStyle/>
          <a:p>
            <a:r>
              <a:rPr lang="en-US" sz="700" i="1" dirty="0"/>
              <a:t>Photo courtesy of Tim Batista, Erik Ebert and Chris Taylor of NOAA NOS</a:t>
            </a:r>
          </a:p>
        </p:txBody>
      </p:sp>
    </p:spTree>
    <p:extLst>
      <p:ext uri="{BB962C8B-B14F-4D97-AF65-F5344CB8AC3E}">
        <p14:creationId xmlns:p14="http://schemas.microsoft.com/office/powerpoint/2010/main" val="1093029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CDAD6809-A0EA-4F90-9411-CBD91BE2CB12}"/>
              </a:ext>
            </a:extLst>
          </p:cNvPr>
          <p:cNvGrpSpPr/>
          <p:nvPr/>
        </p:nvGrpSpPr>
        <p:grpSpPr>
          <a:xfrm>
            <a:off x="-4532984" y="717323"/>
            <a:ext cx="20004227" cy="5233452"/>
            <a:chOff x="-4532984" y="-8541"/>
            <a:chExt cx="20004227" cy="5233452"/>
          </a:xfrm>
        </p:grpSpPr>
        <p:sp>
          <p:nvSpPr>
            <p:cNvPr id="8" name="Chevron 15">
              <a:extLst>
                <a:ext uri="{FF2B5EF4-FFF2-40B4-BE49-F238E27FC236}">
                  <a16:creationId xmlns:a16="http://schemas.microsoft.com/office/drawing/2014/main" id="{E1DD8ADA-5161-4B93-9A76-1FB35B03B605}"/>
                </a:ext>
              </a:extLst>
            </p:cNvPr>
            <p:cNvSpPr/>
            <p:nvPr/>
          </p:nvSpPr>
          <p:spPr>
            <a:xfrm>
              <a:off x="7325864" y="-8541"/>
              <a:ext cx="8145379" cy="5210461"/>
            </a:xfrm>
            <a:prstGeom prst="chevron">
              <a:avLst/>
            </a:prstGeom>
            <a:blipFill dpi="0" rotWithShape="1">
              <a:blip r:embed="rId2">
                <a:extLst>
                  <a:ext uri="{28A0092B-C50C-407E-A947-70E740481C1C}">
                    <a14:useLocalDpi xmlns:a14="http://schemas.microsoft.com/office/drawing/2010/main" val="0"/>
                  </a:ext>
                </a:extLst>
              </a:blip>
              <a:srcRect/>
              <a:stretch>
                <a:fillRect l="-96074" t="-38693" r="39422" b="-17957"/>
              </a:stretch>
            </a:blipFill>
            <a:ln>
              <a:noFill/>
            </a:ln>
            <a:effectLst>
              <a:outerShdw blurRad="63500" sx="102000" sy="102000" algn="ctr" rotWithShape="0">
                <a:prstClr val="black">
                  <a:alpha val="40000"/>
                </a:prstClr>
              </a:outerShdw>
              <a:softEdge rad="0"/>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Chevron 14">
              <a:extLst>
                <a:ext uri="{FF2B5EF4-FFF2-40B4-BE49-F238E27FC236}">
                  <a16:creationId xmlns:a16="http://schemas.microsoft.com/office/drawing/2014/main" id="{45DB13A4-0A8B-4C36-9063-5E1EC87E6862}"/>
                </a:ext>
              </a:extLst>
            </p:cNvPr>
            <p:cNvSpPr/>
            <p:nvPr/>
          </p:nvSpPr>
          <p:spPr>
            <a:xfrm>
              <a:off x="-4532984" y="14450"/>
              <a:ext cx="8145379" cy="5210461"/>
            </a:xfrm>
            <a:prstGeom prst="chevron">
              <a:avLst/>
            </a:prstGeom>
            <a:blipFill dpi="0" rotWithShape="1">
              <a:blip r:embed="rId2">
                <a:extLst>
                  <a:ext uri="{28A0092B-C50C-407E-A947-70E740481C1C}">
                    <a14:useLocalDpi xmlns:a14="http://schemas.microsoft.com/office/drawing/2010/main" val="0"/>
                  </a:ext>
                </a:extLst>
              </a:blip>
              <a:srcRect/>
              <a:stretch>
                <a:fillRect l="49690" t="-39498" r="-105896" b="-16706"/>
              </a:stretch>
            </a:blipFill>
            <a:ln>
              <a:noFill/>
            </a:ln>
            <a:effectLst>
              <a:outerShdw blurRad="63500" sx="102000" sy="102000" algn="ctr" rotWithShape="0">
                <a:prstClr val="black">
                  <a:alpha val="40000"/>
                </a:prstClr>
              </a:outerShdw>
              <a:softEdge rad="0"/>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hevron 11">
              <a:extLst>
                <a:ext uri="{FF2B5EF4-FFF2-40B4-BE49-F238E27FC236}">
                  <a16:creationId xmlns:a16="http://schemas.microsoft.com/office/drawing/2014/main" id="{FB0A4799-019E-4F74-9AC6-1AED271F88ED}"/>
                </a:ext>
              </a:extLst>
            </p:cNvPr>
            <p:cNvSpPr/>
            <p:nvPr/>
          </p:nvSpPr>
          <p:spPr>
            <a:xfrm>
              <a:off x="1396440" y="0"/>
              <a:ext cx="8145379" cy="5210461"/>
            </a:xfrm>
            <a:prstGeom prst="chevron">
              <a:avLst/>
            </a:prstGeom>
            <a:blipFill dpi="0" rotWithShape="1">
              <a:blip r:embed="rId2">
                <a:extLst>
                  <a:ext uri="{28A0092B-C50C-407E-A947-70E740481C1C}">
                    <a14:useLocalDpi xmlns:a14="http://schemas.microsoft.com/office/drawing/2010/main" val="0"/>
                  </a:ext>
                </a:extLst>
              </a:blip>
              <a:srcRect/>
              <a:stretch>
                <a:fillRect l="-22757" t="-38070" r="-32841" b="-17524"/>
              </a:stretch>
            </a:blipFill>
            <a:ln>
              <a:noFill/>
            </a:ln>
            <a:effectLst>
              <a:outerShdw blurRad="63500" sx="102000" sy="102000" algn="ctr" rotWithShape="0">
                <a:prstClr val="black">
                  <a:alpha val="40000"/>
                </a:prstClr>
              </a:outerShdw>
              <a:softEdge rad="0"/>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15" name="TextBox 14">
            <a:extLst>
              <a:ext uri="{FF2B5EF4-FFF2-40B4-BE49-F238E27FC236}">
                <a16:creationId xmlns:a16="http://schemas.microsoft.com/office/drawing/2014/main" id="{79FC06FE-12A0-46B0-BE45-EC1ECA9355F2}"/>
              </a:ext>
            </a:extLst>
          </p:cNvPr>
          <p:cNvSpPr txBox="1"/>
          <p:nvPr/>
        </p:nvSpPr>
        <p:spPr>
          <a:xfrm>
            <a:off x="2922734" y="4647514"/>
            <a:ext cx="4572195" cy="769441"/>
          </a:xfrm>
          <a:prstGeom prst="rect">
            <a:avLst/>
          </a:prstGeom>
          <a:noFill/>
          <a:scene3d>
            <a:camera prst="orthographicFront"/>
            <a:lightRig rig="threePt" dir="t"/>
          </a:scene3d>
          <a:sp3d>
            <a:bevelT/>
          </a:sp3d>
        </p:spPr>
        <p:txBody>
          <a:bodyPr wrap="square" rtlCol="0">
            <a:spAutoFit/>
          </a:bodyPr>
          <a:lstStyle/>
          <a:p>
            <a:pPr algn="ctr"/>
            <a:r>
              <a:rPr lang="en-US" sz="4400" dirty="0">
                <a:ln w="12700">
                  <a:noFill/>
                  <a:prstDash val="solid"/>
                </a:ln>
                <a:solidFill>
                  <a:schemeClr val="accent5">
                    <a:lumMod val="40000"/>
                    <a:lumOff val="60000"/>
                  </a:schemeClr>
                </a:solidFill>
                <a:effectLst>
                  <a:glow rad="101600">
                    <a:srgbClr val="0070C0">
                      <a:alpha val="60000"/>
                    </a:srgbClr>
                  </a:glow>
                  <a:outerShdw blurRad="38100" dist="38100" dir="2700000" algn="tl">
                    <a:srgbClr val="000000">
                      <a:alpha val="43137"/>
                    </a:srgbClr>
                  </a:outerShdw>
                </a:effectLst>
                <a:latin typeface="Franklin Gothic Heavy" panose="020B0903020102020204" pitchFamily="34" charset="0"/>
                <a:ea typeface="Segoe UI Black" panose="020B0A02040204020203" pitchFamily="34" charset="0"/>
                <a:cs typeface="Segoe UI Black" panose="020B0A02040204020203" pitchFamily="34" charset="0"/>
              </a:rPr>
              <a:t>QUESTIONS?</a:t>
            </a:r>
          </a:p>
        </p:txBody>
      </p:sp>
      <p:sp>
        <p:nvSpPr>
          <p:cNvPr id="19" name="TextBox 18"/>
          <p:cNvSpPr txBox="1"/>
          <p:nvPr/>
        </p:nvSpPr>
        <p:spPr>
          <a:xfrm>
            <a:off x="7161891" y="5238148"/>
            <a:ext cx="5108826" cy="738664"/>
          </a:xfrm>
          <a:prstGeom prst="rect">
            <a:avLst/>
          </a:prstGeom>
          <a:noFill/>
          <a:ln>
            <a:noFill/>
          </a:ln>
        </p:spPr>
        <p:txBody>
          <a:bodyPr wrap="square" rtlCol="0">
            <a:spAutoFit/>
          </a:bodyPr>
          <a:lstStyle/>
          <a:p>
            <a:pPr algn="r"/>
            <a:r>
              <a:rPr lang="en-US" sz="1400" dirty="0">
                <a:solidFill>
                  <a:schemeClr val="bg1"/>
                </a:solidFill>
                <a:latin typeface="Franklin Gothic Medium" panose="020B0603020102020204" pitchFamily="34" charset="0"/>
                <a:ea typeface="Adobe Kaiti Std R" panose="02020400000000000000" pitchFamily="18" charset="-128"/>
              </a:rPr>
              <a:t>Naval Meteorology and Oceanography Command</a:t>
            </a:r>
          </a:p>
          <a:p>
            <a:pPr algn="r"/>
            <a:r>
              <a:rPr lang="en-US" sz="1400" dirty="0">
                <a:solidFill>
                  <a:schemeClr val="bg1"/>
                </a:solidFill>
                <a:latin typeface="Franklin Gothic Medium" panose="020B0603020102020204" pitchFamily="34" charset="0"/>
                <a:ea typeface="Adobe Kaiti Std R" panose="02020400000000000000" pitchFamily="18" charset="-128"/>
              </a:rPr>
              <a:t>1100 Balch Boulevard</a:t>
            </a:r>
          </a:p>
          <a:p>
            <a:pPr algn="r"/>
            <a:r>
              <a:rPr lang="en-US" sz="1400" dirty="0">
                <a:solidFill>
                  <a:schemeClr val="bg1"/>
                </a:solidFill>
                <a:latin typeface="Franklin Gothic Medium" panose="020B0603020102020204" pitchFamily="34" charset="0"/>
                <a:ea typeface="Adobe Kaiti Std R" panose="02020400000000000000" pitchFamily="18" charset="-128"/>
              </a:rPr>
              <a:t>Stennis Space Center, MS 39529-5005</a:t>
            </a:r>
          </a:p>
        </p:txBody>
      </p:sp>
      <p:grpSp>
        <p:nvGrpSpPr>
          <p:cNvPr id="20" name="Group 19"/>
          <p:cNvGrpSpPr/>
          <p:nvPr/>
        </p:nvGrpSpPr>
        <p:grpSpPr>
          <a:xfrm>
            <a:off x="9871798" y="810627"/>
            <a:ext cx="4394857" cy="1436892"/>
            <a:chOff x="8035176" y="5330015"/>
            <a:chExt cx="4394857" cy="1436892"/>
          </a:xfrm>
        </p:grpSpPr>
        <p:sp>
          <p:nvSpPr>
            <p:cNvPr id="21" name="TextBox 20"/>
            <p:cNvSpPr txBox="1"/>
            <p:nvPr/>
          </p:nvSpPr>
          <p:spPr>
            <a:xfrm>
              <a:off x="8330974" y="5330015"/>
              <a:ext cx="4099059" cy="338554"/>
            </a:xfrm>
            <a:prstGeom prst="rect">
              <a:avLst/>
            </a:prstGeom>
            <a:noFill/>
            <a:ln>
              <a:noFill/>
            </a:ln>
          </p:spPr>
          <p:txBody>
            <a:bodyPr wrap="square" rtlCol="0">
              <a:spAutoFit/>
            </a:bodyPr>
            <a:lstStyle/>
            <a:p>
              <a:pPr>
                <a:buClrTx/>
                <a:buFontTx/>
                <a:buNone/>
              </a:pPr>
              <a:r>
                <a:rPr lang="en-US" sz="1600" b="1" kern="1200" dirty="0">
                  <a:solidFill>
                    <a:srgbClr val="4472C4">
                      <a:lumMod val="40000"/>
                      <a:lumOff val="60000"/>
                    </a:srgbClr>
                  </a:solidFill>
                  <a:latin typeface="Franklin Gothic Medium" panose="020B0603020102020204" pitchFamily="34" charset="0"/>
                  <a:ea typeface="Adobe Kaiti Std R" panose="02020400000000000000" pitchFamily="18" charset="-128"/>
                  <a:cs typeface="+mn-cs"/>
                </a:rPr>
                <a:t>Naval Oceanography</a:t>
              </a:r>
            </a:p>
          </p:txBody>
        </p:sp>
        <p:pic>
          <p:nvPicPr>
            <p:cNvPr id="22" name="Picture 21" descr="Facebook"/>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044702" y="5361802"/>
              <a:ext cx="277632" cy="277632"/>
            </a:xfrm>
            <a:prstGeom prst="rect">
              <a:avLst/>
            </a:prstGeom>
          </p:spPr>
        </p:pic>
        <p:pic>
          <p:nvPicPr>
            <p:cNvPr id="23" name="Picture 22" descr="Actualización oficial de Twitter con importantes mejoras ..."/>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044702" y="5712790"/>
              <a:ext cx="274320" cy="274320"/>
            </a:xfrm>
            <a:prstGeom prst="rect">
              <a:avLst/>
            </a:prstGeom>
          </p:spPr>
        </p:pic>
        <p:pic>
          <p:nvPicPr>
            <p:cNvPr id="24" name="Picture 23" descr="File:Instagram logo 2016.svg - Wikimedia Commons"/>
            <p:cNvPicPr preferRelativeResize="0">
              <a:picLocks/>
            </p:cNvPicPr>
            <p:nvPr/>
          </p:nvPicPr>
          <p:blipFill>
            <a:blip r:embed="rId5" cstate="email">
              <a:extLst>
                <a:ext uri="{28A0092B-C50C-407E-A947-70E740481C1C}">
                  <a14:useLocalDpi xmlns:a14="http://schemas.microsoft.com/office/drawing/2010/main"/>
                </a:ext>
              </a:extLst>
            </a:blip>
            <a:stretch>
              <a:fillRect/>
            </a:stretch>
          </p:blipFill>
          <p:spPr>
            <a:xfrm>
              <a:off x="8035176" y="6434132"/>
              <a:ext cx="310425" cy="310425"/>
            </a:xfrm>
            <a:prstGeom prst="rect">
              <a:avLst/>
            </a:prstGeom>
          </p:spPr>
        </p:pic>
        <p:sp>
          <p:nvSpPr>
            <p:cNvPr id="25" name="TextBox 24"/>
            <p:cNvSpPr txBox="1"/>
            <p:nvPr/>
          </p:nvSpPr>
          <p:spPr>
            <a:xfrm>
              <a:off x="8317855" y="5679106"/>
              <a:ext cx="4099059" cy="338554"/>
            </a:xfrm>
            <a:prstGeom prst="rect">
              <a:avLst/>
            </a:prstGeom>
            <a:noFill/>
            <a:ln>
              <a:noFill/>
            </a:ln>
          </p:spPr>
          <p:txBody>
            <a:bodyPr wrap="square" rtlCol="0">
              <a:spAutoFit/>
            </a:bodyPr>
            <a:lstStyle/>
            <a:p>
              <a:pPr>
                <a:buClrTx/>
                <a:buFontTx/>
                <a:buNone/>
              </a:pPr>
              <a:r>
                <a:rPr lang="en-US" sz="1600" b="1" kern="1200" dirty="0">
                  <a:solidFill>
                    <a:srgbClr val="4472C4">
                      <a:lumMod val="40000"/>
                      <a:lumOff val="60000"/>
                    </a:srgbClr>
                  </a:solidFill>
                  <a:latin typeface="Franklin Gothic Medium" panose="020B0603020102020204" pitchFamily="34" charset="0"/>
                  <a:ea typeface="Adobe Kaiti Std R" panose="02020400000000000000" pitchFamily="18" charset="-128"/>
                  <a:cs typeface="+mn-cs"/>
                </a:rPr>
                <a:t>@NavyOceans</a:t>
              </a:r>
            </a:p>
          </p:txBody>
        </p:sp>
        <p:sp>
          <p:nvSpPr>
            <p:cNvPr id="26" name="TextBox 25"/>
            <p:cNvSpPr txBox="1"/>
            <p:nvPr/>
          </p:nvSpPr>
          <p:spPr>
            <a:xfrm>
              <a:off x="8317854" y="6428353"/>
              <a:ext cx="4099059" cy="338554"/>
            </a:xfrm>
            <a:prstGeom prst="rect">
              <a:avLst/>
            </a:prstGeom>
            <a:noFill/>
            <a:ln>
              <a:noFill/>
            </a:ln>
          </p:spPr>
          <p:txBody>
            <a:bodyPr wrap="square" rtlCol="0">
              <a:spAutoFit/>
            </a:bodyPr>
            <a:lstStyle/>
            <a:p>
              <a:pPr>
                <a:buClrTx/>
                <a:buFontTx/>
                <a:buNone/>
              </a:pPr>
              <a:r>
                <a:rPr lang="en-US" sz="1600" b="1" kern="1200" dirty="0">
                  <a:solidFill>
                    <a:srgbClr val="4472C4">
                      <a:lumMod val="40000"/>
                      <a:lumOff val="60000"/>
                    </a:srgbClr>
                  </a:solidFill>
                  <a:latin typeface="Franklin Gothic Medium" panose="020B0603020102020204" pitchFamily="34" charset="0"/>
                  <a:ea typeface="Adobe Kaiti Std R" panose="02020400000000000000" pitchFamily="18" charset="-128"/>
                  <a:cs typeface="+mn-cs"/>
                </a:rPr>
                <a:t>@NavalOceanography</a:t>
              </a:r>
            </a:p>
          </p:txBody>
        </p:sp>
      </p:grpSp>
      <p:sp>
        <p:nvSpPr>
          <p:cNvPr id="27" name="TextBox 26"/>
          <p:cNvSpPr txBox="1"/>
          <p:nvPr/>
        </p:nvSpPr>
        <p:spPr>
          <a:xfrm>
            <a:off x="10182223" y="1565653"/>
            <a:ext cx="4099059" cy="338554"/>
          </a:xfrm>
          <a:prstGeom prst="rect">
            <a:avLst/>
          </a:prstGeom>
          <a:noFill/>
          <a:ln>
            <a:noFill/>
          </a:ln>
        </p:spPr>
        <p:txBody>
          <a:bodyPr wrap="square" rtlCol="0">
            <a:spAutoFit/>
          </a:bodyPr>
          <a:lstStyle/>
          <a:p>
            <a:pPr>
              <a:buClrTx/>
              <a:buFontTx/>
              <a:buNone/>
            </a:pPr>
            <a:r>
              <a:rPr lang="en-US" sz="1600" b="1" kern="1200" dirty="0">
                <a:solidFill>
                  <a:srgbClr val="4472C4">
                    <a:lumMod val="40000"/>
                    <a:lumOff val="60000"/>
                  </a:srgbClr>
                </a:solidFill>
                <a:latin typeface="Franklin Gothic Medium" panose="020B0603020102020204" pitchFamily="34" charset="0"/>
                <a:ea typeface="Adobe Kaiti Std R" panose="02020400000000000000" pitchFamily="18" charset="-128"/>
                <a:cs typeface="+mn-cs"/>
              </a:rPr>
              <a:t>@CNMOC</a:t>
            </a:r>
          </a:p>
        </p:txBody>
      </p:sp>
      <p:pic>
        <p:nvPicPr>
          <p:cNvPr id="28" name="Picture 27"/>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9716304" y="1486132"/>
            <a:ext cx="621411" cy="441175"/>
          </a:xfrm>
          <a:prstGeom prst="rect">
            <a:avLst/>
          </a:prstGeom>
        </p:spPr>
      </p:pic>
    </p:spTree>
    <p:extLst>
      <p:ext uri="{BB962C8B-B14F-4D97-AF65-F5344CB8AC3E}">
        <p14:creationId xmlns:p14="http://schemas.microsoft.com/office/powerpoint/2010/main" val="2935089218"/>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Blue Green">
      <a:dk1>
        <a:srgbClr val="000000"/>
      </a:dk1>
      <a:lt1>
        <a:srgbClr val="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Alternate Interior ">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528</TotalTime>
  <Words>1309</Words>
  <Application>Microsoft Office PowerPoint</Application>
  <PresentationFormat>Widescreen</PresentationFormat>
  <Paragraphs>168</Paragraphs>
  <Slides>13</Slides>
  <Notes>5</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13</vt:i4>
      </vt:variant>
    </vt:vector>
  </HeadingPairs>
  <TitlesOfParts>
    <vt:vector size="24" baseType="lpstr">
      <vt:lpstr>Arial</vt:lpstr>
      <vt:lpstr>Calibri</vt:lpstr>
      <vt:lpstr>Courier New</vt:lpstr>
      <vt:lpstr>Franklin Gothic Demi Cond</vt:lpstr>
      <vt:lpstr>Franklin Gothic Heavy</vt:lpstr>
      <vt:lpstr>Franklin Gothic Medium</vt:lpstr>
      <vt:lpstr>NTR</vt:lpstr>
      <vt:lpstr>Wingdings</vt:lpstr>
      <vt:lpstr>Office Theme</vt:lpstr>
      <vt:lpstr>Office Theme</vt:lpstr>
      <vt:lpstr>Alternate Interior </vt:lpstr>
      <vt:lpstr>PowerPoint Presentation</vt:lpstr>
      <vt:lpstr>Commercial Engagement through Ocean Technology Act of 2018</vt:lpstr>
      <vt:lpstr>CENOTE Act of 2018 Joint NOAA/Navy Activities</vt:lpstr>
      <vt:lpstr>Complimentary Missions</vt:lpstr>
      <vt:lpstr>Proliferation of UxS: NCEI Ocean Climate Lab World Ocean Database</vt:lpstr>
      <vt:lpstr>The Current State of UxS Data</vt:lpstr>
      <vt:lpstr>Flexibility and Modularity are Key Implementation Guidance is Crucial</vt:lpstr>
      <vt:lpstr>Proposed File Naming Convention</vt:lpstr>
      <vt:lpstr>Metadata Acquisition</vt:lpstr>
      <vt:lpstr>Data Lineage Guidelines </vt:lpstr>
      <vt:lpstr>Metadata Curation</vt:lpstr>
      <vt:lpstr>Leveraging Standardized Data and Metadata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Katharine Weathers;Andrew M CTR CNMOC</dc:creator>
  <cp:lastModifiedBy>Evans, Andrew M CTR (USA)</cp:lastModifiedBy>
  <cp:revision>30</cp:revision>
  <dcterms:modified xsi:type="dcterms:W3CDTF">2023-09-13T16:03:34Z</dcterms:modified>
</cp:coreProperties>
</file>